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4" r:id="rId2"/>
    <p:sldId id="334" r:id="rId3"/>
    <p:sldId id="276" r:id="rId4"/>
    <p:sldId id="337" r:id="rId5"/>
    <p:sldId id="324" r:id="rId6"/>
    <p:sldId id="277" r:id="rId7"/>
    <p:sldId id="325" r:id="rId8"/>
    <p:sldId id="326" r:id="rId9"/>
    <p:sldId id="330" r:id="rId10"/>
    <p:sldId id="338" r:id="rId11"/>
    <p:sldId id="278" r:id="rId12"/>
    <p:sldId id="281" r:id="rId13"/>
    <p:sldId id="327" r:id="rId14"/>
    <p:sldId id="339" r:id="rId15"/>
    <p:sldId id="336" r:id="rId16"/>
    <p:sldId id="279" r:id="rId17"/>
    <p:sldId id="328" r:id="rId18"/>
    <p:sldId id="335" r:id="rId1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56"/>
    <p:restoredTop sz="94709"/>
  </p:normalViewPr>
  <p:slideViewPr>
    <p:cSldViewPr snapToGrid="0">
      <p:cViewPr varScale="1">
        <p:scale>
          <a:sx n="213" d="100"/>
          <a:sy n="213" d="100"/>
        </p:scale>
        <p:origin x="168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81" d="100"/>
          <a:sy n="181" d="100"/>
        </p:scale>
        <p:origin x="634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B88B0-02C0-9249-A501-F5BB6FD2743E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0AD7C-F7FF-D743-9C7F-927D07A9A7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389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1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2035-0E71-F372-B53B-40912DDB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7053C-393A-CF20-A53D-770ABD424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8C210-B172-4E86-2642-75A6C741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19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66AA-D169-7C0A-4BFE-DCE5B309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B5315-88C5-279C-C736-1CC7D666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B997-10C3-0B9E-0B2A-8F687EBC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5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36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319C-A04C-BF04-4F75-37CA00F3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AF3B0-A821-3122-FA16-24DF649FD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E093-A553-15A0-E608-0B46C364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92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6F56-038E-ABAB-47B2-23B0D486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59F7-09B8-BAB3-AA7E-FA8CBC670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03CDE-C7F7-A327-6BE4-5D454242B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42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2970-3B9A-2A36-E897-158C778C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6A0E7-11C5-B732-E413-3C059BD5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1D7F1-3CAF-E77C-1BAF-684789ED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46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AFE5-D5C2-BD6A-5600-3E912947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47C6E-266E-2843-89F3-B39D75600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EB7F-E303-762C-2829-3A051747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11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6011-76E9-10DC-32E0-7003B53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BE48E-78F7-9ABB-6E99-1138BAB7F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8911B-841A-37B2-88BC-C94D84EDC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25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0966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CF51-651E-0621-E537-C502AC317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AD968-4675-E598-5F75-1BCC19A8E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5732-1426-51CD-368D-78417307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601D-2ACA-FEBA-0BFF-9317A86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B26C-D02A-2863-0BA6-084BAE49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67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BBFE-47BE-3C25-A773-A3CBC1EA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A263-5488-7077-D24B-E4F54FA7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E6F9-9510-CFD3-D75B-FF041934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886FE-BAF3-2738-8EA2-C4E327F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EE05-E249-B9E6-7727-1DB8C6EC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356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906C-4CC3-8C0C-EA05-AB1968B0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08894-FE0E-94E4-29F8-33B097DD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D80E-2776-777E-C45C-E7E571B4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60989-66C9-35B8-614E-DC07017D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95FE-4547-57F0-7228-2AD898B6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788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AB8F-9B55-D3D0-22ED-2D59015C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1541-7D83-6B17-C935-BC81FD32E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2AE0-A2A0-F5F8-57AB-C6122F47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80D6C-77F4-87E4-1527-B5FF82F4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6F680-4FC6-020B-CC2A-B7CDC6C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5526E-4600-21E9-08AD-108561DA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98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1EEC-E097-EF53-2900-1706DBB0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2242F-6B18-CE7C-2755-D6F0CEBA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9CA16-4D3D-3A47-7E26-E1E18CB2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DF520-AA16-41E4-1CD6-611DBF4AB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9C53F-B0A5-B4F9-324F-031F2172B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02A22-4656-BEC9-8247-00D58C72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DA6EA-4EEF-7694-796D-E43C810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C53B-2BF0-8856-25F2-9C0E38A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93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CA7-1963-2AA7-A605-7854BA43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F8C7A-613B-7A78-C066-EE4082E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0E58-77A6-ECBA-75FE-E948F629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16527-DA58-C10F-5EC9-FF2E1694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376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1AB0F-0496-B46B-49E2-C17284DA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0F672-E0B9-9D23-3E5B-8407033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0B256-59D6-66C0-1262-AB30DCB9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809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CB02-F986-ED37-B571-87DD2E4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E446-D1CC-AF7C-191C-F8CBEE05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0B107-074D-BC97-CD44-8E22C2ED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36F17-497F-B0AC-5301-5E0BFE98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C5F53-133B-9BFA-78E5-DABECF71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5C658-107F-F23F-CBAF-59C2357E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599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413-3B04-8A65-869E-4006002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17B9F-1F44-A4E4-73F5-4AAEB4B57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C70A-558B-E43D-EB5A-7F4F22D2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DAE0-0386-D4FE-EBDE-D241CC1E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502D2-4349-3DA9-292B-DEAF4107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BEB99-10C3-175A-1DCB-C517D8CD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300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6430-356D-4E18-DCEC-D7C5A72B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B562-CD8E-7573-97A9-09DB1805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313F-9DB5-27B0-CABA-1D214E95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BE4B-32D7-5440-A962-63CD6056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2B98-F6D6-FBD7-6188-CA50F67C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171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E9491-A9F6-C27A-2117-F31D0C4F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141EC-4750-393D-519A-A15383798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2A02-DD9F-20D3-9C9B-5C87C636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538B-AB9D-5AAB-B67C-8847B833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C808-7006-6779-3CD2-826FEEBD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49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5F21B-070D-5136-BC24-6A0BCCC2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66EC8-5770-94D3-24CB-A0EBF515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6C53-3FA6-24B0-D68F-83E2674DC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B3E9-A992-174E-BDC5-AAC3B1511159}" type="datetimeFigureOut">
              <a:rPr lang="en-CN" smtClean="0"/>
              <a:t>2026/9/8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F2F42-0315-7016-AF39-881C4CFD6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5437-FAC8-D0C7-770C-8F7860DC5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3664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E4E5C0-319E-C041-8D20-722C462F4447}" type="slidenum">
              <a:rPr lang="en-CN" smtClean="0"/>
              <a:pPr/>
              <a:t>‹#›</a:t>
            </a:fld>
            <a:endParaRPr lang="en-CN" b="1" dirty="0"/>
          </a:p>
        </p:txBody>
      </p:sp>
    </p:spTree>
    <p:extLst>
      <p:ext uri="{BB962C8B-B14F-4D97-AF65-F5344CB8AC3E}">
        <p14:creationId xmlns:p14="http://schemas.microsoft.com/office/powerpoint/2010/main" val="340688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31520" y="2499359"/>
            <a:ext cx="10728960" cy="11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533"/>
              </a:spcAft>
            </a:pPr>
            <a:r>
              <a:rPr sz="3600" b="1" dirty="0">
                <a:solidFill>
                  <a:srgbClr val="FFFFFF"/>
                </a:solidFill>
                <a:latin typeface="Arial"/>
              </a:rPr>
              <a:t>Liver Cancer Prevention Through HCV Treatment Among PWIDs</a:t>
            </a:r>
            <a:r>
              <a:rPr lang="zh-CN" altLang="en-US" sz="36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3600" b="1" dirty="0">
                <a:solidFill>
                  <a:srgbClr val="FFFFFF"/>
                </a:solidFill>
                <a:latin typeface="Arial"/>
              </a:rPr>
              <a:t>in Singapore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77B23-E9B0-87FC-5B69-8A07D970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A75F5A-DEC2-006C-7444-236B1121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E95BE-4C08-C5BF-A96E-E20C57A4B8C3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HCV-related liver cancer background &amp; research gap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A0FC1-72DB-66F1-17D3-AABE471E7708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38BE27-4BFB-DD52-A4D3-CC670048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10CED-062F-09C8-591F-DAD1F28372D2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  <a:r>
              <a:rPr lang="en-US" sz="1133" b="1" dirty="0">
                <a:solidFill>
                  <a:srgbClr val="595959"/>
                </a:solidFill>
                <a:latin typeface="Arial"/>
              </a:rPr>
              <a:t>HCC: hepatocellular carcinoma; *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Pawltosky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Hernandez-Con et al. 2023; Goodyear et al. 2021;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47206-7B4F-CCA4-9A51-10D86532DD4A}"/>
              </a:ext>
            </a:extLst>
          </p:cNvPr>
          <p:cNvSpPr txBox="1"/>
          <p:nvPr/>
        </p:nvSpPr>
        <p:spPr>
          <a:xfrm>
            <a:off x="633985" y="1263025"/>
            <a:ext cx="5112132" cy="5225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 algn="ctr">
              <a:lnSpc>
                <a:spcPct val="105000"/>
              </a:lnSpc>
              <a:spcAft>
                <a:spcPts val="1067"/>
              </a:spcAft>
            </a:pPr>
            <a:r>
              <a:rPr lang="en-US" sz="186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Hepatitis C Virus (HCV) is a major preventable upstream cause of liver cancer.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HCV is curable using direct-acting antivirals (DAA) therapy.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 who injected drugs (PWIDs) face high infection risks, but treatment uptake remains low.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1600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Incarceration provides repeated opportunities for testing and curative treatment.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1600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Existing modelling studies have evaluated HCV transmission, disease progression, treatment scale-up, and prison- and community-based interventions among PWIDs.</a:t>
            </a:r>
            <a:endParaRPr lang="en-US" sz="1600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AB67C-5DA2-D097-D46E-03B19968F5C0}"/>
              </a:ext>
            </a:extLst>
          </p:cNvPr>
          <p:cNvSpPr txBox="1"/>
          <p:nvPr/>
        </p:nvSpPr>
        <p:spPr>
          <a:xfrm>
            <a:off x="6600495" y="1263025"/>
            <a:ext cx="5112132" cy="3832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 algn="ctr">
              <a:lnSpc>
                <a:spcPct val="105000"/>
              </a:lnSpc>
              <a:spcAft>
                <a:spcPts val="1067"/>
              </a:spcAft>
            </a:pPr>
            <a:r>
              <a:rPr lang="en-US" sz="186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gap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International prison models may not transfer directly to Singapore-specific incarceration and HCV dynamics.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Previous Singapore models did not explicitly capture age-specific incarceration and prison–community transitions among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optimal combination of treatment target, setting, intensity, and clinical pathway for long-term HCC prevention remains unclear.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EA702-8908-F923-5050-F3E34B243677}"/>
              </a:ext>
            </a:extLst>
          </p:cNvPr>
          <p:cNvCxnSpPr>
            <a:cxnSpLocks/>
          </p:cNvCxnSpPr>
          <p:nvPr/>
        </p:nvCxnSpPr>
        <p:spPr>
          <a:xfrm>
            <a:off x="6096000" y="924911"/>
            <a:ext cx="0" cy="54878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5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402081"/>
            <a:ext cx="10850880" cy="451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d</a:t>
            </a:r>
            <a:r>
              <a:rPr sz="2400" dirty="0">
                <a:solidFill>
                  <a:srgbClr val="1A1A1A"/>
                </a:solidFill>
                <a:latin typeface="Arial"/>
              </a:rPr>
              <a:t>evelop a dynamic compartmental model capturing incarceration cycles, HCV transmission, and liver disease progression among PWIDs in Singapore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s</a:t>
            </a:r>
            <a:r>
              <a:rPr sz="2400" dirty="0">
                <a:solidFill>
                  <a:srgbClr val="1A1A1A"/>
                </a:solidFill>
                <a:latin typeface="Arial"/>
              </a:rPr>
              <a:t>imulate treatment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coverage</a:t>
            </a:r>
            <a:r>
              <a:rPr sz="2400" dirty="0">
                <a:solidFill>
                  <a:srgbClr val="1A1A1A"/>
                </a:solidFill>
                <a:latin typeface="Arial"/>
              </a:rPr>
              <a:t> and disease progression under alternative DAA scale-up strategies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  <a:endParaRPr sz="2400" dirty="0">
              <a:solidFill>
                <a:srgbClr val="1A1A1A"/>
              </a:solidFill>
              <a:latin typeface="Arial"/>
            </a:endParaRPr>
          </a:p>
          <a:p>
            <a:pPr marL="548626" indent="-243834">
              <a:lnSpc>
                <a:spcPct val="105000"/>
              </a:lnSpc>
              <a:spcAft>
                <a:spcPts val="1067"/>
              </a:spcAft>
              <a:buChar char="–"/>
            </a:pPr>
            <a:r>
              <a:rPr sz="2133" dirty="0">
                <a:solidFill>
                  <a:srgbClr val="1A1A1A"/>
                </a:solidFill>
                <a:latin typeface="Arial"/>
              </a:rPr>
              <a:t>Prioriti</a:t>
            </a:r>
            <a:r>
              <a:rPr lang="en-US" sz="2133" dirty="0">
                <a:solidFill>
                  <a:srgbClr val="1A1A1A"/>
                </a:solidFill>
                <a:latin typeface="Arial"/>
              </a:rPr>
              <a:t>z</a:t>
            </a:r>
            <a:r>
              <a:rPr sz="2133" dirty="0">
                <a:solidFill>
                  <a:srgbClr val="1A1A1A"/>
                </a:solidFill>
                <a:latin typeface="Arial"/>
              </a:rPr>
              <a:t>ing individuals by incarceration status, disease eligibility, and age group</a:t>
            </a:r>
            <a:r>
              <a:rPr lang="en-US" sz="2133" dirty="0">
                <a:solidFill>
                  <a:srgbClr val="1A1A1A"/>
                </a:solidFill>
                <a:latin typeface="Arial"/>
              </a:rPr>
              <a:t>.</a:t>
            </a:r>
            <a:endParaRPr sz="2133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e</a:t>
            </a:r>
            <a:r>
              <a:rPr sz="2400" dirty="0">
                <a:solidFill>
                  <a:srgbClr val="1A1A1A"/>
                </a:solidFill>
                <a:latin typeface="Arial"/>
              </a:rPr>
              <a:t>stimate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relative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reductions in HCV incidence and advanced liver disease burden (especially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HCC</a:t>
            </a:r>
            <a:r>
              <a:rPr sz="2400" dirty="0">
                <a:solidFill>
                  <a:srgbClr val="1A1A1A"/>
                </a:solidFill>
                <a:latin typeface="Arial"/>
              </a:rPr>
              <a:t>)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attributable to prioritized DAA treatment strategies,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relative to status quo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AB1B0-CF43-91BF-6723-C9294842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F0417-FE5E-E5D1-59A7-06A321312AD0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drugs; DAA: direct acting antiviral; HCC: hepatocellular carcinoma;</a:t>
            </a: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E500-80EF-4698-EE88-F52DF07B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79DE7-909C-FB8F-0233-E4D8CB7CA108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Assumptions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C1B4A4-A932-8781-5245-F02ED01F24B4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1B1C1-377E-0A3B-1B68-00FD7D886580}"/>
              </a:ext>
            </a:extLst>
          </p:cNvPr>
          <p:cNvSpPr txBox="1"/>
          <p:nvPr/>
        </p:nvSpPr>
        <p:spPr>
          <a:xfrm>
            <a:off x="670560" y="1402081"/>
            <a:ext cx="10850880" cy="45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Transmission and immunity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Acute infection and spontaneous clearance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Genotype distribution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Treatment regimen</a:t>
            </a:r>
          </a:p>
          <a:p>
            <a:pPr marL="761992" lvl="1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Ribavirin eligibility and co-administration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Disease progression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Mortality</a:t>
            </a:r>
          </a:p>
          <a:p>
            <a:pPr marL="761992" lvl="1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Adjustment from ever-PWID standardized mortality ratio (SMR)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4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1711F-3200-D7C6-9DEB-293CF787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D664D-9F44-735B-76B9-C354172AF9B7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drugs; DAA: direct acting antiviral; HCC: hepatocellular carcinoma;</a:t>
            </a: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418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A5F7-0B0F-6DE0-0EC9-9A30409F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6E560-9A57-8948-969F-08FBA0D6BC0B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Compartmental model schematic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4C597-1D10-DF52-53A3-6C3239045CDB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8DE2FC64-ADD5-85FC-9640-54B1AB3E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9E466-D7ED-662D-D52A-3B45B07C68E3}"/>
              </a:ext>
            </a:extLst>
          </p:cNvPr>
          <p:cNvSpPr txBox="1"/>
          <p:nvPr/>
        </p:nvSpPr>
        <p:spPr>
          <a:xfrm>
            <a:off x="609600" y="4915282"/>
            <a:ext cx="10850880" cy="1609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Deterministic, discrete-time transmission model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with a daily time step.</a:t>
            </a:r>
            <a:endParaRPr lang="en-US" sz="1867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Six age groups (&lt;20 to 60+), with age progression explicitly modelled.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Age-specific mortality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adjusted by risk ratios for PWIDs</a:t>
            </a:r>
            <a:r>
              <a:rPr lang="en-US" sz="1867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relative to the general population.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Temporal parameters omit for simplicity.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2FDF1-701A-EA55-53AC-0FC92CE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516A-E86E-2E57-8AEE-AB041992777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Mathers et al. 2013;</a:t>
            </a:r>
          </a:p>
        </p:txBody>
      </p:sp>
    </p:spTree>
    <p:extLst>
      <p:ext uri="{BB962C8B-B14F-4D97-AF65-F5344CB8AC3E}">
        <p14:creationId xmlns:p14="http://schemas.microsoft.com/office/powerpoint/2010/main" val="276848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Incarceration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CCEBAB6D-0209-CB98-A1AD-A8704C90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00852-2199-200D-4AB7-09F9F3D9AF95}"/>
              </a:ext>
            </a:extLst>
          </p:cNvPr>
          <p:cNvSpPr txBox="1"/>
          <p:nvPr/>
        </p:nvSpPr>
        <p:spPr>
          <a:xfrm>
            <a:off x="609600" y="4915282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All individuals enter the model as uninfected, non-cirrhotic, and never-incarcerated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Only individuals in D and F are assumed susceptible to HCV infection through needle sharing.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After release, individuals either resume injection (F), or permanently cease (X), determined by an age-invariant recidivism probability estimated from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Singapore Changi prison HCV screening data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D443C-F227-07DD-3CB0-787B14294799}"/>
              </a:ext>
            </a:extLst>
          </p:cNvPr>
          <p:cNvSpPr/>
          <p:nvPr/>
        </p:nvSpPr>
        <p:spPr>
          <a:xfrm>
            <a:off x="2034192" y="1139952"/>
            <a:ext cx="4671408" cy="2221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C16843-A108-5645-4B10-4E7A3F51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A6EA4-6715-9070-76E5-4468218097B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C0F7-3E5E-9628-DC39-6AFCB248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ig4.png">
            <a:extLst>
              <a:ext uri="{FF2B5EF4-FFF2-40B4-BE49-F238E27FC236}">
                <a16:creationId xmlns:a16="http://schemas.microsoft.com/office/drawing/2014/main" id="{E74AA227-F1D8-7CDC-8A08-F1C9A4DC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12B99-4FB3-D6F7-E3EB-1E65190D077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 transmission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FFC39-E603-7CA3-E2ED-D0F6488C5F1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B0D7-C437-D5D2-E685-64BCCE4F1257}"/>
              </a:ext>
            </a:extLst>
          </p:cNvPr>
          <p:cNvSpPr txBox="1"/>
          <p:nvPr/>
        </p:nvSpPr>
        <p:spPr>
          <a:xfrm>
            <a:off x="609600" y="4915281"/>
            <a:ext cx="10972800" cy="1510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solidFill>
                  <a:srgbClr val="1A1A1A"/>
                </a:solidFill>
                <a:latin typeface="Arial"/>
              </a:rPr>
              <a:t>For newly infected individuals in acute stage (A), they will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Either clear infection spontaneously within six months (back to U), or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 to chronic infection (C), followed by sequential progression through later stages of liver disease.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39C6D-27CD-A7C5-B4E4-1529CEFAAC88}"/>
              </a:ext>
            </a:extLst>
          </p:cNvPr>
          <p:cNvSpPr/>
          <p:nvPr/>
        </p:nvSpPr>
        <p:spPr>
          <a:xfrm>
            <a:off x="6737482" y="1139952"/>
            <a:ext cx="3287297" cy="228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C1F4FA-D00C-17F2-6C7D-9A2D6317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B99-94EE-5B6C-3282-05932041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8BB17F-4FF0-220D-1D82-78F7ED7E1E6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Liver disease progression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FF380-0737-FFE5-ED8B-64F790662FD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FB5766CB-8332-ACFC-ECF9-7CAF6000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C182E5-C9DC-9D3C-29C9-8E1DF956A260}"/>
              </a:ext>
            </a:extLst>
          </p:cNvPr>
          <p:cNvSpPr/>
          <p:nvPr/>
        </p:nvSpPr>
        <p:spPr>
          <a:xfrm>
            <a:off x="2115630" y="3512841"/>
            <a:ext cx="8142796" cy="1335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F09BA-4C82-6DE1-7587-5A56325E8E4B}"/>
              </a:ext>
            </a:extLst>
          </p:cNvPr>
          <p:cNvSpPr txBox="1"/>
          <p:nvPr/>
        </p:nvSpPr>
        <p:spPr>
          <a:xfrm>
            <a:off x="609600" y="4915281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Direct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progression from compensated cirrhosis to HCC is allowed.*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Progression rates are literature-based and adjusted for Singapore’ high genotype 3 prevalence (~78%).*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HCV-related liver transplantation is excluded due to its rarity in Singapore.*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0DC4D9-B713-2521-D3FA-3794A664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41C97-FC51-39DF-ADBE-4CCEF85C00DE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dirty="0">
                <a:solidFill>
                  <a:srgbClr val="595959"/>
                </a:solidFill>
                <a:latin typeface="Arial"/>
              </a:rPr>
              <a:t>*Zhao et al. 2019;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</p:txBody>
      </p:sp>
    </p:spTree>
    <p:extLst>
      <p:ext uri="{BB962C8B-B14F-4D97-AF65-F5344CB8AC3E}">
        <p14:creationId xmlns:p14="http://schemas.microsoft.com/office/powerpoint/2010/main" val="25804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4AA7-C56E-42BA-82B4-CDF8E2AF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AE40C-B155-847B-7F91-30FF6A2D86E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Some fixed parameters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E850B-27D6-88DA-594F-EE39954DDDB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needle-sharing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Background mortality rate for age group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u="none" strike="noStrike" cap="none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oMath>
                          </a14:m>
                          <a:endParaRPr lang="en-US"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Age-varying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ever-PWIDs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needle-sharing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92308" r="-95622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Age-varying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ever-PWIDs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2FFC0B-C813-AC8B-11E2-57EF5012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8DCEA-C243-EA68-7B8E-D36DBB652B59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Direct-acting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16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B4DA-BE3B-4501-408D-E31C19D1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C3CB6-BD50-E3C2-A385-151661403C53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Preliminary results: Model estimate at 2017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CFD7D-9D82-844E-5035-211F3726F9F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F19596F9-37FB-28DE-F113-A175C6A48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459067"/>
              </p:ext>
            </p:extLst>
          </p:nvPr>
        </p:nvGraphicFramePr>
        <p:xfrm>
          <a:off x="682750" y="1212205"/>
          <a:ext cx="10753994" cy="341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5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292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Stratum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population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(95%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HCV cases (95% 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Never-incarcerated PWID (D)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3,734 (3,436-4,069)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975 (869-1,090)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Incarcerated ex-PWID (J)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6,618 (6,101-7,290)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(2,118-2,617)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Formerly-incarcerated PWID (F)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2,954 (2,715-3,264)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1,366 (1,247-1,506)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Formerly-incarcerated ex-PWID (X)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26,243 (23,717-29,624)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6,342 (5,741-7,100)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PWID (D + 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6,688 (6,151-7,333)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(2,116-2,596)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122847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(D + J + F + 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39,561 (36,140-44,078)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11,065 (10,006-12,285)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623340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73100D-9D2A-5BC0-2E1A-DE237421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0D744-37AE-4A68-DF37-07EA74BB0634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Direct-acting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graphicFrame>
        <p:nvGraphicFramePr>
          <p:cNvPr id="6" name="Google Shape;334;p46">
            <a:extLst>
              <a:ext uri="{FF2B5EF4-FFF2-40B4-BE49-F238E27FC236}">
                <a16:creationId xmlns:a16="http://schemas.microsoft.com/office/drawing/2014/main" id="{15CF3E1A-F39A-8DE2-6BD5-DF32D17D6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455313"/>
              </p:ext>
            </p:extLst>
          </p:nvPr>
        </p:nvGraphicFramePr>
        <p:xfrm>
          <a:off x="682750" y="4665803"/>
          <a:ext cx="10753994" cy="191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4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7826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  <a:gridCol w="2273686">
                  <a:extLst>
                    <a:ext uri="{9D8B030D-6E8A-4147-A177-3AD203B41FA5}">
                      <a16:colId xmlns:a16="http://schemas.microsoft.com/office/drawing/2014/main" val="1312522873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Teo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NSUM estimated IVDU 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11,000 (6,500–17,000)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Quaye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NSUM PWID 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3,470 (1,540–7,830)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Chaillon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calibrated to 2017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= Current + Former PWID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~11,000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28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Preliminary results: Recidivism and release survival curve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33983" y="4988489"/>
            <a:ext cx="9748267" cy="1326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Estimated from a</a:t>
            </a:r>
            <a:r>
              <a:rPr sz="1867" dirty="0">
                <a:solidFill>
                  <a:srgbClr val="1A1A1A"/>
                </a:solidFill>
                <a:latin typeface="Arial"/>
              </a:rPr>
              <a:t>rrest and release records spanning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Jan 2007 </a:t>
            </a:r>
            <a:r>
              <a:rPr sz="1867" dirty="0">
                <a:solidFill>
                  <a:srgbClr val="1A1A1A"/>
                </a:solidFill>
                <a:latin typeface="Arial"/>
              </a:rPr>
              <a:t>–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Dec</a:t>
            </a:r>
            <a:r>
              <a:rPr sz="1867" dirty="0">
                <a:solidFill>
                  <a:srgbClr val="1A1A1A"/>
                </a:solidFill>
                <a:latin typeface="Arial"/>
              </a:rPr>
              <a:t> 2017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 Singapore prison data.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Recidivism risk after release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peaks at ages 40-49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, while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PWIDs under 20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had the longest community intervals before re-arrest.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9635A8-07C0-0BFE-00CB-CA89FDD4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EC729-9C00-BC05-4E0A-6C37F828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94" y="1153610"/>
            <a:ext cx="8287011" cy="37982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Preliminary results: Model calibration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42CF6-3AAA-99E9-39B0-518CD8E4F25E}"/>
              </a:ext>
            </a:extLst>
          </p:cNvPr>
          <p:cNvSpPr txBox="1"/>
          <p:nvPr/>
        </p:nvSpPr>
        <p:spPr>
          <a:xfrm>
            <a:off x="6096000" y="3094189"/>
            <a:ext cx="4910269" cy="118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Transmission parameters are currently being calibrated so that model-predicted HCV prevalence among PWIDs in prison aligns with observed values.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E3C242-CEDB-C249-E2FA-77B77C07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3FC52-EADF-4C2C-52C3-8F7E5F3A7FDF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B103F-EC10-BB54-AA85-264E48475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" y="1139951"/>
            <a:ext cx="5273040" cy="5800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90F-234A-CECF-F0AD-3706BC42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664DF-B77F-E519-111D-5E54E016AD1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C0A86-8BD7-7124-CAB1-5B353D47FDA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D832D-4B1C-CDF4-F8AD-093C28B0D6B8}"/>
              </a:ext>
            </a:extLst>
          </p:cNvPr>
          <p:cNvSpPr txBox="1"/>
          <p:nvPr/>
        </p:nvSpPr>
        <p:spPr>
          <a:xfrm>
            <a:off x="633984" y="3526933"/>
            <a:ext cx="10850880" cy="279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lasts 12 weeks, with no immunity assumed</a:t>
            </a:r>
            <a:r>
              <a:rPr lang="zh-CN" alt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recovery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Successful treatment leads to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virological response after 12 weeks (SVR12)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After achieving SVR12: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progression is assumed to stop in non-cirrhotic PWIDs and slows in cirrhotic PWIDs until reinfection.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Survival improves for DC and HCC stages.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SVR12 rates vary by disease stage and treatment regimen based on clinical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78223-DD87-1033-EAAB-FDBECF8A32E7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 DC: decompensated cirrhosis; HCC: hepatocellular carcinoma;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An et al. 2022;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Pawlotsky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Morgan et al. 2013;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9231BE-56BE-E0F7-5424-38507523CE92}"/>
              </a:ext>
            </a:extLst>
          </p:cNvPr>
          <p:cNvGrpSpPr/>
          <p:nvPr/>
        </p:nvGrpSpPr>
        <p:grpSpPr>
          <a:xfrm>
            <a:off x="4354990" y="870192"/>
            <a:ext cx="3408869" cy="2460877"/>
            <a:chOff x="5671079" y="854964"/>
            <a:chExt cx="2556652" cy="18456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9CAA0B-9494-7F9C-D31B-F25D4935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6431" y="906460"/>
              <a:ext cx="2501300" cy="176972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00E89A-A602-8D40-DE34-E93DD9CF433B}"/>
                </a:ext>
              </a:extLst>
            </p:cNvPr>
            <p:cNvSpPr/>
            <p:nvPr/>
          </p:nvSpPr>
          <p:spPr>
            <a:xfrm>
              <a:off x="5671079" y="854964"/>
              <a:ext cx="2556652" cy="184565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400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A17F5BE-5212-2038-CB2A-6F7DD8CB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58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B8F5-1740-6B9F-E46F-81C07504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E53FCA-3338-48A9-21C7-46118F98FF53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Preliminary results: Infections under different scenarios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7EC3B-FDCD-0655-C5FA-0A03C7B583A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5FB7CD-6405-A142-02D7-714396AD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DF9FD-7EB9-31BF-C771-8CFF3474A90B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F46B14-D061-F246-902B-D66C5DA6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09" y="1156292"/>
            <a:ext cx="8143982" cy="542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50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A2F22-3024-F9E8-636B-1CFF0307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D8BC5-A855-77F8-C972-929F22A34578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Preliminary results: DC &amp; HCC cases under different scenarios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9DDE9-42F9-D036-2DF3-E674EE7DD36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26D352-2199-BB40-C0D4-234A906B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B5D23-870A-9CA0-CE26-2B7C695CC9CD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6B108-5F80-8B3A-5401-E7BCBF48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05" y="1139069"/>
            <a:ext cx="8976189" cy="546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1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Treatment </a:t>
            </a:r>
            <a:r>
              <a:rPr lang="en-US" sz="2800" b="1" dirty="0">
                <a:solidFill>
                  <a:srgbClr val="05455E"/>
                </a:solidFill>
                <a:latin typeface="Arial"/>
              </a:rPr>
              <a:t>scenarios</a:t>
            </a:r>
            <a:r>
              <a:rPr lang="zh-CN" altLang="en-US" sz="2800" b="1" dirty="0">
                <a:solidFill>
                  <a:srgbClr val="05455E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05455E"/>
                </a:solidFill>
                <a:latin typeface="Arial"/>
              </a:rPr>
              <a:t>design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33984" y="4529155"/>
            <a:ext cx="10850880" cy="1151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4,374 scenarios will be evaluated in total.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Outcomes include </a:t>
            </a: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HCV prevalence, cumulative infections, DC/HCC incidence, and HCC mortality, compared with no treatment</a:t>
            </a:r>
            <a:r>
              <a:rPr lang="en-US" sz="2133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7" name="Google Shape;334;p46">
            <a:extLst>
              <a:ext uri="{FF2B5EF4-FFF2-40B4-BE49-F238E27FC236}">
                <a16:creationId xmlns:a16="http://schemas.microsoft.com/office/drawing/2014/main" id="{FBA178E4-8EEF-50DB-DF8A-52C93DEE9BD6}"/>
              </a:ext>
            </a:extLst>
          </p:cNvPr>
          <p:cNvGraphicFramePr/>
          <p:nvPr/>
        </p:nvGraphicFramePr>
        <p:xfrm>
          <a:off x="682751" y="1212205"/>
          <a:ext cx="10826496" cy="3046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Disease-stage-specific recruitment rates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40%, 70%, 100% (for each disease stage)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 setting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prison-, community-, mixed-based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regimen choice for DC/HCC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SOF/VEL+RBV, SOF/VEL*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minimum age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15, 20, 25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maximum age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40, 45, 50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16895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DCD822-2303-91BD-9387-D01EA588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7893C-1D7B-1D25-D1FF-B10F27407103}"/>
              </a:ext>
            </a:extLst>
          </p:cNvPr>
          <p:cNvSpPr txBox="1"/>
          <p:nvPr/>
        </p:nvSpPr>
        <p:spPr>
          <a:xfrm>
            <a:off x="670559" y="6614251"/>
            <a:ext cx="10850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*SOF: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sofosbuvir; VEL: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; RBV: ribavirin; DC: decompensated cirrhosis; HCC: hepatocellular carcinoma; 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Xiao et al. 2025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EF90-DBA1-5957-E9AD-76282C39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3C823-B988-E87D-E170-2632CFEE5461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Decision criteria for treatment scenarios recommendation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D1D48A-1821-826C-0F3E-42682FBBCD88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8F529-C93B-B7D7-B745-32C92FE5BF3E}"/>
              </a:ext>
            </a:extLst>
          </p:cNvPr>
          <p:cNvSpPr txBox="1"/>
          <p:nvPr/>
        </p:nvSpPr>
        <p:spPr>
          <a:xfrm>
            <a:off x="670559" y="4870658"/>
            <a:ext cx="10850880" cy="320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All scenarios are simulated over 50 years to capture delayed effects on DC and HCC.</a:t>
            </a:r>
            <a:endParaRPr lang="en-US" sz="2133" dirty="0">
              <a:solidFill>
                <a:srgbClr val="1A1A1A"/>
              </a:solidFill>
              <a:latin typeface="Arial"/>
            </a:endParaRPr>
          </a:p>
        </p:txBody>
      </p:sp>
      <p:graphicFrame>
        <p:nvGraphicFramePr>
          <p:cNvPr id="9" name="Google Shape;334;p46">
            <a:extLst>
              <a:ext uri="{FF2B5EF4-FFF2-40B4-BE49-F238E27FC236}">
                <a16:creationId xmlns:a16="http://schemas.microsoft.com/office/drawing/2014/main" id="{CEB2BC5C-A7A5-B815-2D67-33788FC0BDA8}"/>
              </a:ext>
            </a:extLst>
          </p:cNvPr>
          <p:cNvGraphicFramePr/>
          <p:nvPr/>
        </p:nvGraphicFramePr>
        <p:xfrm>
          <a:off x="633984" y="2003457"/>
          <a:ext cx="10826496" cy="2003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3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6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criteria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health benefit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Avert most HCC cases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treatment efficiency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Avert most HCC cases per PWID treated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C4A4718-B3AF-A897-C291-21B9C32E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BAEB6-3CBC-9926-EC7D-2D0FF757F155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  <a:r>
              <a:rPr lang="en-US" sz="1133" b="1" dirty="0">
                <a:solidFill>
                  <a:srgbClr val="595959"/>
                </a:solidFill>
                <a:latin typeface="Arial"/>
              </a:rPr>
              <a:t>DC: decompensated cirrhosis; HCC: hepatocellular carcinoma;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8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BC5EC7-92C0-ABCB-9B38-30D0396E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9E43D-2B23-8237-CDD3-77EFD3D3344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Next step plan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14B54-E83F-6BAB-C6DA-3DA32CAC872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E5B227-8BA7-8C07-EF7D-E3D83272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B152D-65F1-449E-84A1-6AA4CE8F29EA}"/>
              </a:ext>
            </a:extLst>
          </p:cNvPr>
          <p:cNvSpPr txBox="1"/>
          <p:nvPr/>
        </p:nvSpPr>
        <p:spPr>
          <a:xfrm>
            <a:off x="670560" y="1402081"/>
            <a:ext cx="10850880" cy="2952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Finish model calibration and validation using Singapore Changi Prison data (2007–2017).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Complete treatment strategies settings and conduct large-scale scenario simulations.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Identify optimal treatment designs under alternative decision criteria and derive policy recommendations.</a:t>
            </a:r>
            <a:endParaRPr lang="en-US" sz="2133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20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1287</Words>
  <Application>Microsoft Macintosh PowerPoint</Application>
  <PresentationFormat>Widescreen</PresentationFormat>
  <Paragraphs>195</Paragraphs>
  <Slides>18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Yichen</dc:creator>
  <cp:lastModifiedBy>He Yichen</cp:lastModifiedBy>
  <cp:revision>45</cp:revision>
  <dcterms:created xsi:type="dcterms:W3CDTF">2026-09-03T06:40:29Z</dcterms:created>
  <dcterms:modified xsi:type="dcterms:W3CDTF">2026-09-08T05:50:25Z</dcterms:modified>
</cp:coreProperties>
</file>