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9"/>
  </p:notesMasterIdLst>
  <p:sldIdLst>
    <p:sldId id="256" r:id="rId2"/>
    <p:sldId id="341" r:id="rId3"/>
    <p:sldId id="342" r:id="rId4"/>
    <p:sldId id="276" r:id="rId5"/>
    <p:sldId id="324" r:id="rId6"/>
    <p:sldId id="277" r:id="rId7"/>
    <p:sldId id="325" r:id="rId8"/>
    <p:sldId id="326" r:id="rId9"/>
    <p:sldId id="330" r:id="rId10"/>
    <p:sldId id="278" r:id="rId11"/>
    <p:sldId id="281" r:id="rId12"/>
    <p:sldId id="338" r:id="rId13"/>
    <p:sldId id="327" r:id="rId14"/>
    <p:sldId id="350" r:id="rId15"/>
    <p:sldId id="345" r:id="rId16"/>
    <p:sldId id="347" r:id="rId17"/>
    <p:sldId id="348" r:id="rId18"/>
    <p:sldId id="339" r:id="rId19"/>
    <p:sldId id="336" r:id="rId20"/>
    <p:sldId id="353" r:id="rId21"/>
    <p:sldId id="354" r:id="rId22"/>
    <p:sldId id="355" r:id="rId23"/>
    <p:sldId id="297" r:id="rId24"/>
    <p:sldId id="333" r:id="rId25"/>
    <p:sldId id="351" r:id="rId26"/>
    <p:sldId id="343" r:id="rId27"/>
    <p:sldId id="352" r:id="rId28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569"/>
    <p:restoredTop sz="97979"/>
  </p:normalViewPr>
  <p:slideViewPr>
    <p:cSldViewPr snapToGrid="0">
      <p:cViewPr varScale="1">
        <p:scale>
          <a:sx n="209" d="100"/>
          <a:sy n="209" d="100"/>
        </p:scale>
        <p:origin x="216" y="84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181" d="100"/>
          <a:sy n="181" d="100"/>
        </p:scale>
        <p:origin x="6344" y="1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0B88B0-02C0-9249-A501-F5BB6FD2743E}" type="datetimeFigureOut">
              <a:rPr lang="en-CN" smtClean="0"/>
              <a:t>9/18/26</a:t>
            </a:fld>
            <a:endParaRPr lang="en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F0AD7C-F7FF-D743-9C7F-927D07A9A7DB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4638998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191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0066AA-D169-7C0A-4BFE-DCE5B3096E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5B5315-88C5-279C-C736-1CC7D666E3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D89B997-10C3-0B9E-0B2A-8F687EBC4A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95513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533620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EF319C-A04C-BF04-4F75-37CA00F304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7CAF3B0-A821-3122-FA16-24DF649FD8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7ACE093-A553-15A0-E608-0B46C364B3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03925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726F56-038E-ABAB-47B2-23B0D486A0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8259F7-09B8-BAB3-AA7E-FA8CBC6707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503CDE-C7F7-A327-6BE4-5D454242B9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524243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972970-3B9A-2A36-E897-158C778C6D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3D6A0E7-11C5-B732-E413-3C059BD54D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51D7F1-3CAF-E77C-1BAF-684789ED34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204605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55AFE5-D5C2-BD6A-5600-3E9129473F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647C6E-266E-2843-89F3-B39D756002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8EEB7F-E303-762C-2829-3A051747B8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 dirty="0"/>
              <a:t>Formerly-incarcerated current PWIDs (F) have the highest HCV prevalence, whereas the much larger ex-PWID population (X) contains the largest absolute number of infections.</a:t>
            </a:r>
          </a:p>
          <a:p>
            <a:pPr marL="228600" indent="-228600">
              <a:buAutoNum type="arabicPeriod"/>
            </a:pPr>
            <a:endParaRPr lang="en-US" dirty="0"/>
          </a:p>
          <a:p>
            <a:pPr marL="228600" indent="-228600"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041104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206011-76E9-10DC-32E0-7003B53061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9DBE48E-78F7-9ABB-6E99-1138BAB7FE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C08911B-841A-37B2-88BC-C94D84EDCD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912562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We examined four different parameters that could affect elimination: who is eligible for treatment, which disease stages are </a:t>
            </a:r>
            <a:r>
              <a:rPr lang="en-US" dirty="0" err="1"/>
              <a:t>prioritised</a:t>
            </a:r>
            <a:r>
              <a:rPr lang="en-US" dirty="0"/>
              <a:t>, which regimen is used, and most importantly, where treatment is delivered.</a:t>
            </a:r>
          </a:p>
          <a:p>
            <a:endParaRPr lang="en-US" dirty="0"/>
          </a:p>
          <a:p>
            <a:r>
              <a:rPr lang="en-US" dirty="0"/>
              <a:t>The purpose is to identify which of these factors actually drives population-level elimination.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F0AD7C-F7FF-D743-9C7F-927D07A9A7DB}" type="slidenum">
              <a:rPr lang="en-CN" smtClean="0"/>
              <a:t>14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88539549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N" dirty="0"/>
              <a:t>Community: screening is </a:t>
            </a:r>
            <a:r>
              <a:rPr lang="en-CN"/>
              <a:t>a problem</a:t>
            </a:r>
            <a:endParaRPr lang="en-US" dirty="0"/>
          </a:p>
          <a:p>
            <a:endParaRPr lang="en-US" dirty="0"/>
          </a:p>
          <a:p>
            <a:r>
              <a:rPr lang="en-US" dirty="0" err="1"/>
              <a:t>为什么D还是会下降</a:t>
            </a:r>
            <a:r>
              <a:rPr lang="zh-CN" altLang="en-US" dirty="0"/>
              <a:t>？</a:t>
            </a:r>
            <a:endParaRPr lang="en-US" dirty="0"/>
          </a:p>
          <a:p>
            <a:r>
              <a:rPr lang="en-CN"/>
              <a:t>D still declines indirectly because both D and F are active PWID. Treating F and J reduces the infectious pool</a:t>
            </a:r>
            <a:r>
              <a:rPr lang="en-US" dirty="0"/>
              <a:t> </a:t>
            </a:r>
            <a:r>
              <a:rPr lang="en-CN"/>
              <a:t>and therefore the force of infection entering D. For example, under C=15%/y and J=100%/y:</a:t>
            </a:r>
          </a:p>
          <a:p>
            <a:endParaRPr lang="en-US" dirty="0"/>
          </a:p>
          <a:p>
            <a:r>
              <a:rPr lang="zh-CN" altLang="en-US" dirty="0"/>
              <a:t>快速介绍图：</a:t>
            </a:r>
          </a:p>
          <a:p>
            <a:r>
              <a:rPr lang="zh-CN" altLang="en-US" dirty="0"/>
              <a:t>“</a:t>
            </a:r>
            <a:r>
              <a:rPr lang="en-US" dirty="0"/>
              <a:t>Moving from left to right, the minimum treatment age increases from 40 to 60. Across all strata, the curves become progressively flatter, meaning less reduction in infections.”</a:t>
            </a:r>
          </a:p>
          <a:p>
            <a:r>
              <a:rPr lang="zh-CN" altLang="en-US" dirty="0"/>
              <a:t>重点 </a:t>
            </a:r>
            <a:r>
              <a:rPr lang="en-US" dirty="0"/>
              <a:t>pattern：</a:t>
            </a:r>
          </a:p>
          <a:p>
            <a:r>
              <a:rPr lang="en-US" dirty="0"/>
              <a:t>“Even increasing treatment coverage cannot fully compensate for excluding younger PWIDs.”</a:t>
            </a:r>
          </a:p>
          <a:p>
            <a:r>
              <a:rPr lang="en-US" dirty="0"/>
              <a:t>Take-home：</a:t>
            </a:r>
          </a:p>
          <a:p>
            <a:r>
              <a:rPr lang="en-US" b="1" dirty="0"/>
              <a:t>Broad eligibility is important for elimination; age-based restriction creates a residual transmission pool.</a:t>
            </a:r>
            <a:endParaRPr lang="en-US" dirty="0"/>
          </a:p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F0AD7C-F7FF-D743-9C7F-927D07A9A7DB}" type="slidenum">
              <a:rPr lang="en-CN" smtClean="0"/>
              <a:t>15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63884203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Changes: </a:t>
            </a:r>
          </a:p>
          <a:p>
            <a:endParaRPr lang="en-US" dirty="0"/>
          </a:p>
          <a:p>
            <a:pPr marL="228600" indent="-228600">
              <a:buAutoNum type="arabicPeriod"/>
            </a:pPr>
            <a:r>
              <a:rPr lang="en-US" dirty="0"/>
              <a:t>Showing the difference instead of showing all subfigures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F0AD7C-F7FF-D743-9C7F-927D07A9A7DB}" type="slidenum">
              <a:rPr lang="en-CN" smtClean="0"/>
              <a:t>16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62074694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N" dirty="0"/>
              <a:t>symptomatic (3rd </a:t>
            </a:r>
            <a:r>
              <a:rPr lang="en-CN"/>
              <a:t>row)</a:t>
            </a:r>
            <a:endParaRPr lang="en-US" dirty="0"/>
          </a:p>
          <a:p>
            <a:endParaRPr lang="en-US" dirty="0"/>
          </a:p>
          <a:p>
            <a:r>
              <a:rPr lang="en-US" dirty="0"/>
              <a:t>“The first column treats all disease stages relatively equally. The second </a:t>
            </a:r>
            <a:r>
              <a:rPr lang="en-US" dirty="0" err="1"/>
              <a:t>prioritises</a:t>
            </a:r>
            <a:r>
              <a:rPr lang="en-US" dirty="0"/>
              <a:t> earlier stages that contain most of the transmission reservoir. The third </a:t>
            </a:r>
            <a:r>
              <a:rPr lang="en-US" dirty="0" err="1"/>
              <a:t>prioritises</a:t>
            </a:r>
            <a:r>
              <a:rPr lang="en-US" dirty="0"/>
              <a:t> advanced liver disease.”</a:t>
            </a:r>
          </a:p>
          <a:p>
            <a:r>
              <a:rPr lang="zh-CN" altLang="en-US" dirty="0"/>
              <a:t>然后直接指出：</a:t>
            </a:r>
          </a:p>
          <a:p>
            <a:r>
              <a:rPr lang="zh-CN" altLang="en-US" dirty="0"/>
              <a:t>“</a:t>
            </a:r>
            <a:r>
              <a:rPr lang="en-US" dirty="0"/>
              <a:t>The first two columns behave similarly, whereas advanced-disease </a:t>
            </a:r>
            <a:r>
              <a:rPr lang="en-US" dirty="0" err="1"/>
              <a:t>prioritisation</a:t>
            </a:r>
            <a:r>
              <a:rPr lang="en-US" dirty="0"/>
              <a:t> consistently leaves substantially more infections.”</a:t>
            </a:r>
          </a:p>
          <a:p>
            <a:r>
              <a:rPr lang="zh-CN" altLang="en-US" dirty="0"/>
              <a:t>解释：</a:t>
            </a:r>
          </a:p>
          <a:p>
            <a:r>
              <a:rPr lang="en-US" b="1" dirty="0"/>
              <a:t>DC/HCC treatment is clinically important, but these patients are not the main reservoir driving ongoing transmission.</a:t>
            </a:r>
            <a:endParaRPr lang="en-US" dirty="0"/>
          </a:p>
          <a:p>
            <a:r>
              <a:rPr lang="zh-CN" altLang="en-US" dirty="0"/>
              <a:t>所以：</a:t>
            </a:r>
          </a:p>
          <a:p>
            <a:r>
              <a:rPr lang="en-US" b="1" dirty="0"/>
              <a:t>To achieve elimination, treatment needs to reach NC/CC patients before they progress to advanced disease.</a:t>
            </a:r>
            <a:endParaRPr lang="en-US" dirty="0"/>
          </a:p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F0AD7C-F7FF-D743-9C7F-927D07A9A7DB}" type="slidenum">
              <a:rPr lang="en-CN" smtClean="0"/>
              <a:t>17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36805913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先告诉他们横向是什么：</a:t>
            </a:r>
          </a:p>
          <a:p>
            <a:r>
              <a:rPr lang="zh-CN" altLang="en-US" dirty="0"/>
              <a:t>“</a:t>
            </a:r>
            <a:r>
              <a:rPr lang="en-US" dirty="0"/>
              <a:t>Each column represents treatment concentrated in a different setting or the combined population.”</a:t>
            </a:r>
          </a:p>
          <a:p>
            <a:r>
              <a:rPr lang="zh-CN" altLang="en-US" dirty="0"/>
              <a:t>然后只讲三个 </a:t>
            </a:r>
            <a:r>
              <a:rPr lang="en-US" dirty="0"/>
              <a:t>pattern。</a:t>
            </a:r>
          </a:p>
          <a:p>
            <a:r>
              <a:rPr lang="en-US" b="1" dirty="0"/>
              <a:t>Pattern 1：Prison treatment </a:t>
            </a:r>
            <a:r>
              <a:rPr lang="zh-CN" altLang="en-US" b="1" dirty="0"/>
              <a:t>很强</a:t>
            </a:r>
          </a:p>
          <a:p>
            <a:r>
              <a:rPr lang="zh-CN" altLang="en-US" dirty="0"/>
              <a:t>“</a:t>
            </a:r>
            <a:r>
              <a:rPr lang="en-US" dirty="0"/>
              <a:t>Prison treatment produces a rapid and substantial reduction in infections across the population, despite treatment being concentrated in the incarcerated population.”</a:t>
            </a:r>
          </a:p>
          <a:p>
            <a:r>
              <a:rPr lang="zh-CN" altLang="en-US" dirty="0"/>
              <a:t>这是你的 </a:t>
            </a:r>
            <a:r>
              <a:rPr lang="en-US" dirty="0"/>
              <a:t>strongest result。</a:t>
            </a:r>
          </a:p>
          <a:p>
            <a:r>
              <a:rPr lang="en-US" b="1" dirty="0"/>
              <a:t>Pattern 2：</a:t>
            </a:r>
            <a:r>
              <a:rPr lang="zh-CN" altLang="en-US" b="1" dirty="0"/>
              <a:t>但有 </a:t>
            </a:r>
            <a:r>
              <a:rPr lang="en-US" b="1" dirty="0"/>
              <a:t>residual infections</a:t>
            </a:r>
          </a:p>
          <a:p>
            <a:r>
              <a:rPr lang="en-US" dirty="0"/>
              <a:t>“However, prison treatment alone does not completely remove infections among PWIDs remaining in the community.”</a:t>
            </a:r>
          </a:p>
          <a:p>
            <a:r>
              <a:rPr lang="en-US" b="1" dirty="0"/>
              <a:t>Pattern 3：community </a:t>
            </a:r>
            <a:r>
              <a:rPr lang="zh-CN" altLang="en-US" b="1" dirty="0"/>
              <a:t>是补充</a:t>
            </a:r>
          </a:p>
          <a:p>
            <a:r>
              <a:rPr lang="zh-CN" altLang="en-US" dirty="0"/>
              <a:t>“</a:t>
            </a:r>
            <a:r>
              <a:rPr lang="en-US" dirty="0"/>
              <a:t>Adding community treatment further reduces this residual burden and moves the system closer to elimination.”</a:t>
            </a:r>
          </a:p>
          <a:p>
            <a:r>
              <a:rPr lang="zh-CN" altLang="en-US" dirty="0"/>
              <a:t>然后给政策 </a:t>
            </a:r>
            <a:r>
              <a:rPr lang="en-US" dirty="0"/>
              <a:t>interpretation：</a:t>
            </a:r>
          </a:p>
          <a:p>
            <a:r>
              <a:rPr lang="en-US" b="1" dirty="0"/>
              <a:t>“This suggests a hub-and-spoke strategy: prison-based screening and treatment as the core platform, with targeted community treatment used to close the remaining elimination gap.”</a:t>
            </a:r>
            <a:endParaRPr lang="en-US" dirty="0"/>
          </a:p>
          <a:p>
            <a:r>
              <a:rPr lang="zh-CN" altLang="en-US" dirty="0"/>
              <a:t>我建议把你 </a:t>
            </a:r>
            <a:r>
              <a:rPr lang="en-US" dirty="0"/>
              <a:t>slide </a:t>
            </a:r>
            <a:r>
              <a:rPr lang="zh-CN" altLang="en-US" dirty="0"/>
              <a:t>上：</a:t>
            </a:r>
          </a:p>
          <a:p>
            <a:r>
              <a:rPr lang="en-US" dirty="0"/>
              <a:t>Prison-based treatment should be the core intervention...</a:t>
            </a:r>
          </a:p>
          <a:p>
            <a:r>
              <a:rPr lang="zh-CN" altLang="en-US" dirty="0"/>
              <a:t>稍微改成更稳妥的：</a:t>
            </a:r>
          </a:p>
          <a:p>
            <a:r>
              <a:rPr lang="en-US" b="1" dirty="0"/>
              <a:t>Prison-based treatment could provide the core elimination platform, with community treatment addressing residual HCV burden.</a:t>
            </a:r>
            <a:endParaRPr lang="en-US" dirty="0"/>
          </a:p>
          <a:p>
            <a:r>
              <a:rPr lang="en-US" dirty="0"/>
              <a:t>“could provide” </a:t>
            </a:r>
            <a:r>
              <a:rPr lang="zh-CN" altLang="en-US" dirty="0"/>
              <a:t>比 “</a:t>
            </a:r>
            <a:r>
              <a:rPr lang="en-US" dirty="0"/>
              <a:t>should be” </a:t>
            </a:r>
            <a:r>
              <a:rPr lang="zh-CN" altLang="en-US" dirty="0"/>
              <a:t>更适合目前尚未完成经济和实施分析的阶段。</a:t>
            </a:r>
          </a:p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F0AD7C-F7FF-D743-9C7F-927D07A9A7DB}" type="slidenum">
              <a:rPr lang="en-CN" smtClean="0"/>
              <a:t>18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4041704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Prison-based treatment not only controls transmission, but also brings downstream clinical benefits</a:t>
            </a:r>
          </a:p>
          <a:p>
            <a:endParaRPr lang="en-US" dirty="0"/>
          </a:p>
          <a:p>
            <a:r>
              <a:rPr lang="en-US" dirty="0"/>
              <a:t>The same pattern is seen for severe liver outcomes: increasing treatment coverage substantially reduces cumulative DC cases, HCC cases and advanced-stage deaths.</a:t>
            </a:r>
          </a:p>
          <a:p>
            <a:endParaRPr lang="en-US" dirty="0"/>
          </a:p>
          <a:p>
            <a:r>
              <a:rPr lang="zh-CN" altLang="en-US" dirty="0"/>
              <a:t>然后指出一个非常适合的结果：</a:t>
            </a:r>
          </a:p>
          <a:p>
            <a:r>
              <a:rPr lang="en-US" b="1" dirty="0"/>
              <a:t>Early intensive treatment does not necessarily mean permanently higher treatment burden.</a:t>
            </a:r>
            <a:endParaRPr lang="en-US" dirty="0"/>
          </a:p>
          <a:p>
            <a:endParaRPr lang="en-US" dirty="0"/>
          </a:p>
          <a:p>
            <a:r>
              <a:rPr lang="en-US" dirty="0"/>
              <a:t>There may be a larger upfront </a:t>
            </a:r>
            <a:r>
              <a:rPr lang="en-US" dirty="0" err="1"/>
              <a:t>programme</a:t>
            </a:r>
            <a:r>
              <a:rPr lang="en-US" dirty="0"/>
              <a:t> effort, but suppressing transmission early can reduce the long-term treatment requirement.</a:t>
            </a:r>
          </a:p>
          <a:p>
            <a:endParaRPr lang="en-US" dirty="0"/>
          </a:p>
          <a:p>
            <a:r>
              <a:rPr lang="en-US" dirty="0"/>
              <a:t>This may reduce long-term treatment demand; whether it is cost-saving still needs economic evaluation.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F0AD7C-F7FF-D743-9C7F-927D07A9A7DB}" type="slidenum">
              <a:rPr lang="en-CN" smtClean="0"/>
              <a:t>19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11056181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Changes: </a:t>
            </a:r>
          </a:p>
          <a:p>
            <a:r>
              <a:rPr lang="en-US" dirty="0"/>
              <a:t>1. Community outreach removed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F0AD7C-F7FF-D743-9C7F-927D07A9A7DB}" type="slidenum">
              <a:rPr lang="en-CN" smtClean="0"/>
              <a:t>21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96689152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403D8A-5FC2-0425-AB8B-08C380D79B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C0F89E3-1993-0303-7BF7-39C7AEF173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9C944C-B97B-6B2B-6551-5511536C91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Changes: </a:t>
            </a:r>
          </a:p>
          <a:p>
            <a:r>
              <a:rPr lang="en-US" dirty="0"/>
              <a:t>1. Community outreach removed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1D0846-4F22-6C63-4273-A075DFC057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F0AD7C-F7FF-D743-9C7F-927D07A9A7DB}" type="slidenum">
              <a:rPr lang="en-CN" smtClean="0"/>
              <a:t>22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25418573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486574-756C-D7DC-231B-DB060AB1D4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DCC517F-6A42-3930-5192-04B2920FFF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B2665E-24A2-5B15-3D2F-F62F01C23D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116264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AA7D6D-7F80-1F76-50A3-0164B84779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B26D457-8D53-3B47-BBBE-770AA2B52A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8E2D9F-016A-DE8F-F38F-39891E4848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39356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E6CF51-651E-0621-E537-C502AC3172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1AD968-4675-E598-5F75-1BCC19A8E0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AF5732-1426-51CD-368D-78417307B0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CB3E9-A992-174E-BDC5-AAC3B1511159}" type="datetimeFigureOut">
              <a:rPr lang="en-CN" smtClean="0"/>
              <a:t>9/18/26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D7601D-2ACA-FEBA-0BFF-9317A8616C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CBB26C-D02A-2863-0BA6-084BAE49E9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E4E5C0-319E-C041-8D20-722C462F4447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806793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D9BBFE-47BE-3C25-A773-A3CBC1EA44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35A263-5488-7077-D24B-E4F54FA7E0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DAE6F9-9510-CFD3-D75B-FF041934E1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CB3E9-A992-174E-BDC5-AAC3B1511159}" type="datetimeFigureOut">
              <a:rPr lang="en-CN" smtClean="0"/>
              <a:t>9/18/26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0886FE-BAF3-2738-8EA2-C4E327FF37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90EE05-E249-B9E6-7727-1DB8C6ECCB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E4E5C0-319E-C041-8D20-722C462F4447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0835682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72906C-4CC3-8C0C-EA05-AB1968B029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508894-FE0E-94E4-29F8-33B097DD5E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FFD80E-2776-777E-C45C-E7E571B40E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CB3E9-A992-174E-BDC5-AAC3B1511159}" type="datetimeFigureOut">
              <a:rPr lang="en-CN" smtClean="0"/>
              <a:t>9/18/26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360989-66C9-35B8-614E-DC07017D3E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5E95FE-4547-57F0-7228-2AD898B6D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E4E5C0-319E-C041-8D20-722C462F4447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2978861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29AB8F-9B55-D3D0-22ED-2D59015C8E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231541-7D83-6B17-C935-BC81FD32E5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7E2AE0-A2A0-F5F8-57AB-C6122F474C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B80D6C-77F4-87E4-1527-B5FF82F46C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CB3E9-A992-174E-BDC5-AAC3B1511159}" type="datetimeFigureOut">
              <a:rPr lang="en-CN" smtClean="0"/>
              <a:t>9/18/26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06F680-4FC6-020B-CC2A-B7CDC6C24F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D5526E-4600-21E9-08AD-108561DAFD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E4E5C0-319E-C041-8D20-722C462F4447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2098326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6E1EEC-E097-EF53-2900-1706DBB092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12242F-6B18-CE7C-2755-D6F0CEBA3F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C9CA16-4D3D-3A47-7E26-E1E18CB23F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3DF520-AA16-41E4-1CD6-611DBF4AB35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429C53F-B0A5-B4F9-324F-031F2172B24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CC02A22-4656-BEC9-8247-00D58C72AF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CB3E9-A992-174E-BDC5-AAC3B1511159}" type="datetimeFigureOut">
              <a:rPr lang="en-CN" smtClean="0"/>
              <a:t>9/18/26</a:t>
            </a:fld>
            <a:endParaRPr lang="en-C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22DA6EA-4EEF-7694-796D-E43C8100A9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477C53B-2BF0-8856-25F2-9C0E38AA50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E4E5C0-319E-C041-8D20-722C462F4447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6469373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49CCA7-1963-2AA7-A605-7854BA4365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EEF8C7A-613B-7A78-C066-EE4082E5C0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CB3E9-A992-174E-BDC5-AAC3B1511159}" type="datetimeFigureOut">
              <a:rPr lang="en-CN" smtClean="0"/>
              <a:t>9/18/26</a:t>
            </a:fld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0C0E58-77A6-ECBA-75FE-E948F62926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B16527-DA58-C10F-5EC9-FF2E16946C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E4E5C0-319E-C041-8D20-722C462F4447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1437696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191AB0F-0496-B46B-49E2-C17284DA01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CB3E9-A992-174E-BDC5-AAC3B1511159}" type="datetimeFigureOut">
              <a:rPr lang="en-CN" smtClean="0"/>
              <a:t>9/18/26</a:t>
            </a:fld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F30F672-E0B9-9D23-3E5B-84070333E1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70B256-59D6-66C0-1262-AB30DCB992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E4E5C0-319E-C041-8D20-722C462F4447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3180960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4ECB02-F986-ED37-B571-87DD2E41A4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C0E446-D1CC-AF7C-191C-F8CBEE05A8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A0B107-074D-BC97-CD44-8E22C2ED63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136F17-497F-B0AC-5301-5E0BFE98C6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CB3E9-A992-174E-BDC5-AAC3B1511159}" type="datetimeFigureOut">
              <a:rPr lang="en-CN" smtClean="0"/>
              <a:t>9/18/26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AC5F53-133B-9BFA-78E5-DABECF710C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B5C658-107F-F23F-CBAF-59C2357EB7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E4E5C0-319E-C041-8D20-722C462F4447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559915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C59413-3B04-8A65-869E-40060025C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EC17B9F-1F44-A4E4-73F5-4AAEB4B574B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22C70A-558B-E43D-EB5A-7F4F22D227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BEDAE0-0386-D4FE-EBDE-D241CC1E0E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CB3E9-A992-174E-BDC5-AAC3B1511159}" type="datetimeFigureOut">
              <a:rPr lang="en-CN" smtClean="0"/>
              <a:t>9/18/26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2502D2-4349-3DA9-292B-DEAF410757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CBEB99-10C3-175A-1DCB-C517D8CD7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E4E5C0-319E-C041-8D20-722C462F4447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630034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B16430-356D-4E18-DCEC-D7C5A72BC3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EBB562-CD8E-7573-97A9-09DB18052B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1B313F-9DB5-27B0-CABA-1D214E95D5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CB3E9-A992-174E-BDC5-AAC3B1511159}" type="datetimeFigureOut">
              <a:rPr lang="en-CN" smtClean="0"/>
              <a:t>9/18/26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96BE4B-32D7-5440-A962-63CD6056F6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C52B98-F6D6-FBD7-6188-CA50F67CE9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E4E5C0-319E-C041-8D20-722C462F4447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5717153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9BE9491-A9F6-C27A-2117-F31D0C4F17A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3141EC-4750-393D-519A-A153837980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332A02-DD9F-20D3-9C9B-5C87C63665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CB3E9-A992-174E-BDC5-AAC3B1511159}" type="datetimeFigureOut">
              <a:rPr lang="en-CN" smtClean="0"/>
              <a:t>9/18/26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E0538B-AB9D-5AAB-B67C-8847B833ED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F3C808-7006-6779-3CD2-826FEEBDC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E4E5C0-319E-C041-8D20-722C462F4447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944928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5C5F21B-070D-5136-BC24-6A0BCCC2E8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166EC8-5770-94D3-24CB-A0EBF515E7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DD6C53-3FA6-24B0-D68F-83E2674DC3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87CB3E9-A992-174E-BDC5-AAC3B1511159}" type="datetimeFigureOut">
              <a:rPr lang="en-CN" smtClean="0"/>
              <a:t>9/18/26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6F2F42-0315-7016-AF39-881C4CFD68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2E5437-FAC8-D0C7-770C-8F7860DC56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503664" y="653891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tx1">
                    <a:tint val="82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DE4E5C0-319E-C041-8D20-722C462F4447}" type="slidenum">
              <a:rPr lang="en-CN" smtClean="0"/>
              <a:pPr/>
              <a:t>‹#›</a:t>
            </a:fld>
            <a:endParaRPr lang="en-CN" b="1" dirty="0"/>
          </a:p>
        </p:txBody>
      </p:sp>
    </p:spTree>
    <p:extLst>
      <p:ext uri="{BB962C8B-B14F-4D97-AF65-F5344CB8AC3E}">
        <p14:creationId xmlns:p14="http://schemas.microsoft.com/office/powerpoint/2010/main" val="34068875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853440" y="1280160"/>
            <a:ext cx="10485120" cy="14773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CN" sz="3200">
                <a:latin typeface="Arial" panose="020B0604020202020204" pitchFamily="34" charset="0"/>
                <a:cs typeface="Arial" panose="020B0604020202020204" pitchFamily="34" charset="0"/>
              </a:rPr>
              <a:t>Hepatitis C Transmission and Progression Among People Who Have Injected Drugs in Singapore: Modelling Treatment for Elimination</a:t>
            </a:r>
            <a:endParaRPr lang="en-CN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877824" y="3352800"/>
            <a:ext cx="2682240" cy="60960"/>
          </a:xfrm>
          <a:prstGeom prst="rect">
            <a:avLst/>
          </a:prstGeom>
          <a:solidFill>
            <a:srgbClr val="0097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6" name="TextBox 5"/>
          <p:cNvSpPr txBox="1"/>
          <p:nvPr/>
        </p:nvSpPr>
        <p:spPr>
          <a:xfrm>
            <a:off x="853440" y="3718560"/>
            <a:ext cx="10485120" cy="112851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800"/>
              </a:spcAft>
            </a:pPr>
            <a:r>
              <a:rPr sz="2400" b="1" dirty="0">
                <a:solidFill>
                  <a:srgbClr val="1A1A1A"/>
                </a:solidFill>
                <a:latin typeface="Arial"/>
              </a:rPr>
              <a:t>He Yichen</a:t>
            </a:r>
          </a:p>
          <a:p>
            <a:pPr>
              <a:spcAft>
                <a:spcPts val="800"/>
              </a:spcAft>
            </a:pPr>
            <a:r>
              <a:rPr sz="1867" dirty="0">
                <a:latin typeface="Arial"/>
              </a:rPr>
              <a:t>1</a:t>
            </a:r>
            <a:r>
              <a:rPr lang="en-US" sz="1867" dirty="0">
                <a:latin typeface="Arial"/>
              </a:rPr>
              <a:t>8</a:t>
            </a:r>
            <a:r>
              <a:rPr sz="1867" dirty="0">
                <a:latin typeface="Arial"/>
              </a:rPr>
              <a:t> Sep 2026</a:t>
            </a:r>
          </a:p>
          <a:p>
            <a:pPr>
              <a:spcAft>
                <a:spcPts val="800"/>
              </a:spcAft>
            </a:pPr>
            <a:r>
              <a:rPr sz="1733" dirty="0">
                <a:solidFill>
                  <a:srgbClr val="1A1A1A"/>
                </a:solidFill>
                <a:latin typeface="Arial"/>
              </a:rPr>
              <a:t>Supervisor: Dr. </a:t>
            </a:r>
            <a:r>
              <a:rPr sz="1733" dirty="0" err="1">
                <a:solidFill>
                  <a:srgbClr val="1A1A1A"/>
                </a:solidFill>
                <a:latin typeface="Arial"/>
              </a:rPr>
              <a:t>Borame</a:t>
            </a:r>
            <a:r>
              <a:rPr sz="1733" dirty="0">
                <a:solidFill>
                  <a:srgbClr val="1A1A1A"/>
                </a:solidFill>
                <a:latin typeface="Arial"/>
              </a:rPr>
              <a:t> Dickens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4A4003-16E5-AA61-FB83-AB3C392C5E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</a:t>
            </a:fld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D651B3-D5BD-30F9-410D-3AB0E01F06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D399D6C-2AA2-AF8C-D496-C70A4724D3E7}"/>
              </a:ext>
            </a:extLst>
          </p:cNvPr>
          <p:cNvSpPr txBox="1"/>
          <p:nvPr/>
        </p:nvSpPr>
        <p:spPr>
          <a:xfrm>
            <a:off x="609600" y="341376"/>
            <a:ext cx="1097280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533"/>
              </a:spcAft>
            </a:pPr>
            <a:r>
              <a:rPr lang="en-US" sz="2800" b="1" dirty="0">
                <a:solidFill>
                  <a:srgbClr val="05455E"/>
                </a:solidFill>
                <a:latin typeface="Arial"/>
              </a:rPr>
              <a:t>Background</a:t>
            </a:r>
            <a:endParaRPr sz="2800" b="1" dirty="0">
              <a:solidFill>
                <a:srgbClr val="05455E"/>
              </a:solidFill>
              <a:latin typeface="Arial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4B2CDE8-FC7F-6355-C7C0-4D56AE99327F}"/>
              </a:ext>
            </a:extLst>
          </p:cNvPr>
          <p:cNvSpPr/>
          <p:nvPr/>
        </p:nvSpPr>
        <p:spPr>
          <a:xfrm>
            <a:off x="633984" y="1072896"/>
            <a:ext cx="1828800" cy="67056"/>
          </a:xfrm>
          <a:prstGeom prst="rect">
            <a:avLst/>
          </a:prstGeom>
          <a:solidFill>
            <a:srgbClr val="0097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8A1D9EC-98B3-D2C7-55A9-CAA6DB2111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60072C1-2BC7-D17B-5D96-9DF54E0F91EE}"/>
              </a:ext>
            </a:extLst>
          </p:cNvPr>
          <p:cNvSpPr txBox="1"/>
          <p:nvPr/>
        </p:nvSpPr>
        <p:spPr>
          <a:xfrm>
            <a:off x="670559" y="6601952"/>
            <a:ext cx="10911820" cy="4128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533"/>
              </a:spcAft>
            </a:pPr>
            <a:r>
              <a:rPr lang="en-US" sz="1133" b="1" dirty="0">
                <a:solidFill>
                  <a:srgbClr val="595959"/>
                </a:solidFill>
                <a:latin typeface="Arial"/>
              </a:rPr>
              <a:t>DAA: Direct acting antivirals; *</a:t>
            </a:r>
            <a:r>
              <a:rPr lang="en-US" sz="1133" dirty="0">
                <a:solidFill>
                  <a:srgbClr val="595959"/>
                </a:solidFill>
                <a:latin typeface="Arial"/>
              </a:rPr>
              <a:t>Winslow et al. 2007; Hsiang et al. 2022; Wong et al. 2021; Singapore Prison Service.   </a:t>
            </a:r>
          </a:p>
          <a:p>
            <a:pPr>
              <a:spcAft>
                <a:spcPts val="533"/>
              </a:spcAft>
            </a:pPr>
            <a:endParaRPr lang="en-US" sz="1133" dirty="0">
              <a:solidFill>
                <a:srgbClr val="595959"/>
              </a:solidFill>
              <a:latin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A206A72-F308-AF35-628F-034076DA968E}"/>
              </a:ext>
            </a:extLst>
          </p:cNvPr>
          <p:cNvSpPr txBox="1"/>
          <p:nvPr/>
        </p:nvSpPr>
        <p:spPr>
          <a:xfrm>
            <a:off x="633985" y="1191907"/>
            <a:ext cx="10948394" cy="53501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304792" indent="-243834">
              <a:spcAft>
                <a:spcPts val="1067"/>
              </a:spcAft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Hepatitis C Virus (HCV) infection is a highly prevalent among people who inject drugs (PWIDs) in Singapore.</a:t>
            </a:r>
          </a:p>
          <a:p>
            <a:pPr marL="914377" lvl="1" indent="-243834">
              <a:spcAft>
                <a:spcPts val="1067"/>
              </a:spcAft>
              <a:buChar char="•"/>
            </a:pPr>
            <a:r>
              <a:rPr lang="en-US" sz="1600" dirty="0">
                <a:solidFill>
                  <a:srgbClr val="1A1A1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Local studies report about 42.5% (36-47%) anti-HCV seroprevalence among PWIDs.*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04792" indent="-243834">
              <a:spcAft>
                <a:spcPts val="1067"/>
              </a:spcAft>
              <a:buChar char="•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04792" indent="-243834">
              <a:spcAft>
                <a:spcPts val="1067"/>
              </a:spcAft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Effective treatment exists, but linkage to care remains challenging in the community.</a:t>
            </a:r>
          </a:p>
          <a:p>
            <a:pPr marL="761992" lvl="1" indent="-243834">
              <a:spcAft>
                <a:spcPts val="1067"/>
              </a:spcAft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Among HCV-positive halfway-house residents, only 48.6% reached confirmatory RNA testing and 12.6% initiated treatment.*</a:t>
            </a:r>
            <a:endParaRPr lang="en-US" dirty="0">
              <a:solidFill>
                <a:srgbClr val="1A1A1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04792" indent="-243834">
              <a:spcAft>
                <a:spcPts val="1067"/>
              </a:spcAft>
              <a:buChar char="•"/>
            </a:pPr>
            <a:endParaRPr lang="en-US" dirty="0">
              <a:solidFill>
                <a:srgbClr val="1A1A1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04792" indent="-243834">
              <a:spcAft>
                <a:spcPts val="1067"/>
              </a:spcAft>
              <a:buChar char="•"/>
            </a:pPr>
            <a:r>
              <a:rPr lang="en-US" dirty="0">
                <a:solidFill>
                  <a:srgbClr val="1A1A1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Incarceration provides a high-yield opportunity for treatment delivery.</a:t>
            </a:r>
          </a:p>
          <a:p>
            <a:pPr marL="761992" lvl="1" indent="-243834">
              <a:spcAft>
                <a:spcPts val="1067"/>
              </a:spcAft>
              <a:buChar char="•"/>
            </a:pPr>
            <a:r>
              <a:rPr lang="en-US" sz="1600" dirty="0">
                <a:solidFill>
                  <a:srgbClr val="1A1A1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Unrestricted DAA access increased treatment uptake by 460%, with 99% completion and 99.1% sustained virological response (SVR) among incarcerated HCV patients.*</a:t>
            </a:r>
            <a:endParaRPr lang="en-US" dirty="0">
              <a:solidFill>
                <a:srgbClr val="1A1A1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04792" indent="-243834">
              <a:spcAft>
                <a:spcPts val="1067"/>
              </a:spcAft>
              <a:buChar char="•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04792" indent="-243834">
              <a:spcAft>
                <a:spcPts val="1067"/>
              </a:spcAft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Repeated prison-community transitions make treatment setting and timing important. </a:t>
            </a:r>
          </a:p>
          <a:p>
            <a:pPr marL="761992" lvl="1" indent="-243834">
              <a:spcAft>
                <a:spcPts val="1067"/>
              </a:spcAft>
              <a:buChar char="•"/>
            </a:pPr>
            <a:r>
              <a:rPr lang="en-US" sz="1600" dirty="0">
                <a:solidFill>
                  <a:srgbClr val="1A1A1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Singapore recorded 1,152 Drug Rehabilitation Centre (DRC) admissions and 1,241 releases in 2017. And the 2017 DRC release cohort had 45.2% five-year recidivism.*</a:t>
            </a:r>
          </a:p>
        </p:txBody>
      </p:sp>
    </p:spTree>
    <p:extLst>
      <p:ext uri="{BB962C8B-B14F-4D97-AF65-F5344CB8AC3E}">
        <p14:creationId xmlns:p14="http://schemas.microsoft.com/office/powerpoint/2010/main" val="8856678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202A2A-B76C-01FD-81AF-DC0016DFF6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0EBE0CE-0F0B-8B1F-60C5-827AC624A959}"/>
              </a:ext>
            </a:extLst>
          </p:cNvPr>
          <p:cNvSpPr txBox="1"/>
          <p:nvPr/>
        </p:nvSpPr>
        <p:spPr>
          <a:xfrm>
            <a:off x="609600" y="341376"/>
            <a:ext cx="1097280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533"/>
              </a:spcAft>
            </a:pPr>
            <a:r>
              <a:rPr lang="en-US" sz="2800" b="1" dirty="0">
                <a:solidFill>
                  <a:srgbClr val="05455E"/>
                </a:solidFill>
                <a:latin typeface="Arial"/>
              </a:rPr>
              <a:t>Research gap</a:t>
            </a:r>
            <a:endParaRPr sz="2800" b="1" dirty="0">
              <a:solidFill>
                <a:srgbClr val="05455E"/>
              </a:solidFill>
              <a:latin typeface="Arial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A81FFF1-5FCE-73E4-CC1C-D0C5ED91737A}"/>
              </a:ext>
            </a:extLst>
          </p:cNvPr>
          <p:cNvSpPr/>
          <p:nvPr/>
        </p:nvSpPr>
        <p:spPr>
          <a:xfrm>
            <a:off x="633984" y="1072896"/>
            <a:ext cx="1828800" cy="67056"/>
          </a:xfrm>
          <a:prstGeom prst="rect">
            <a:avLst/>
          </a:prstGeom>
          <a:solidFill>
            <a:srgbClr val="0097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0E3595B-9E35-F4C0-143F-833DADF855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6E16173-0A42-80AC-48DA-56D8076D5E02}"/>
              </a:ext>
            </a:extLst>
          </p:cNvPr>
          <p:cNvSpPr txBox="1"/>
          <p:nvPr/>
        </p:nvSpPr>
        <p:spPr>
          <a:xfrm>
            <a:off x="670559" y="6601952"/>
            <a:ext cx="10911820" cy="4128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533"/>
              </a:spcAft>
            </a:pPr>
            <a:r>
              <a:rPr lang="en-US" sz="1133" b="1" dirty="0">
                <a:solidFill>
                  <a:srgbClr val="595959"/>
                </a:solidFill>
                <a:latin typeface="Arial"/>
              </a:rPr>
              <a:t>DAA: Direct acting antivirals; *</a:t>
            </a:r>
            <a:r>
              <a:rPr lang="en-US" sz="1133" dirty="0" err="1">
                <a:solidFill>
                  <a:srgbClr val="595959"/>
                </a:solidFill>
                <a:latin typeface="Arial"/>
              </a:rPr>
              <a:t>Pawltosky</a:t>
            </a:r>
            <a:r>
              <a:rPr lang="en-US" sz="1133" dirty="0">
                <a:solidFill>
                  <a:srgbClr val="595959"/>
                </a:solidFill>
                <a:latin typeface="Arial"/>
              </a:rPr>
              <a:t> et al. 2020; Hernandez-Con et al. 2023; Goodyear et al. 2021; </a:t>
            </a:r>
            <a:r>
              <a:rPr lang="en-US" sz="1133" dirty="0" err="1">
                <a:solidFill>
                  <a:srgbClr val="595959"/>
                </a:solidFill>
                <a:latin typeface="Arial"/>
              </a:rPr>
              <a:t>Chaillon</a:t>
            </a:r>
            <a:r>
              <a:rPr lang="en-US" sz="1133" dirty="0">
                <a:solidFill>
                  <a:srgbClr val="595959"/>
                </a:solidFill>
                <a:latin typeface="Arial"/>
              </a:rPr>
              <a:t> et al. 2020;</a:t>
            </a:r>
          </a:p>
          <a:p>
            <a:pPr>
              <a:spcAft>
                <a:spcPts val="533"/>
              </a:spcAft>
            </a:pPr>
            <a:endParaRPr lang="en-US" sz="1133" dirty="0">
              <a:solidFill>
                <a:srgbClr val="595959"/>
              </a:solidFill>
              <a:latin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EC04D6A-F357-3826-BA6A-E3090D022744}"/>
              </a:ext>
            </a:extLst>
          </p:cNvPr>
          <p:cNvSpPr txBox="1"/>
          <p:nvPr/>
        </p:nvSpPr>
        <p:spPr>
          <a:xfrm>
            <a:off x="633985" y="1263025"/>
            <a:ext cx="10948394" cy="436350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CN" sz="2400" dirty="0">
                <a:latin typeface="Arial" panose="020B0604020202020204" pitchFamily="34" charset="0"/>
                <a:cs typeface="Arial" panose="020B0604020202020204" pitchFamily="34" charset="0"/>
              </a:rPr>
              <a:t>International HCV models may not capture </a:t>
            </a:r>
            <a:r>
              <a:rPr lang="en-CN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Singapore-specific incarceration and reinjection dynamics.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C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CN" sz="2400" dirty="0">
                <a:latin typeface="Arial" panose="020B0604020202020204" pitchFamily="34" charset="0"/>
                <a:cs typeface="Arial" panose="020B0604020202020204" pitchFamily="34" charset="0"/>
              </a:rPr>
              <a:t>Existing Singapore modelling has not explicitly represented </a:t>
            </a:r>
            <a:r>
              <a:rPr lang="en-CN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age-specific prison–community transitions when designing treatment strategies</a:t>
            </a:r>
            <a:r>
              <a:rPr lang="en-CN" sz="24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C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CN" sz="2400" dirty="0">
                <a:latin typeface="Arial" panose="020B0604020202020204" pitchFamily="34" charset="0"/>
                <a:cs typeface="Arial" panose="020B0604020202020204" pitchFamily="34" charset="0"/>
              </a:rPr>
              <a:t>Despite highly effective DAAs, it remains unclear who should be treated, where, and at what coverage to achieve sustained HCV elimination. </a:t>
            </a:r>
          </a:p>
        </p:txBody>
      </p:sp>
    </p:spTree>
    <p:extLst>
      <p:ext uri="{BB962C8B-B14F-4D97-AF65-F5344CB8AC3E}">
        <p14:creationId xmlns:p14="http://schemas.microsoft.com/office/powerpoint/2010/main" val="16584544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600" y="341377"/>
            <a:ext cx="1097280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533"/>
              </a:spcAft>
            </a:pPr>
            <a:r>
              <a:rPr sz="2800" b="1" dirty="0">
                <a:solidFill>
                  <a:srgbClr val="05455E"/>
                </a:solidFill>
                <a:latin typeface="Arial"/>
              </a:rPr>
              <a:t>Aims</a:t>
            </a:r>
          </a:p>
        </p:txBody>
      </p:sp>
      <p:sp>
        <p:nvSpPr>
          <p:cNvPr id="3" name="Rectangle 2"/>
          <p:cNvSpPr/>
          <p:nvPr/>
        </p:nvSpPr>
        <p:spPr>
          <a:xfrm>
            <a:off x="633984" y="1072896"/>
            <a:ext cx="1828800" cy="67056"/>
          </a:xfrm>
          <a:prstGeom prst="rect">
            <a:avLst/>
          </a:prstGeom>
          <a:solidFill>
            <a:srgbClr val="0097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" name="TextBox 3"/>
          <p:cNvSpPr txBox="1"/>
          <p:nvPr/>
        </p:nvSpPr>
        <p:spPr>
          <a:xfrm>
            <a:off x="670560" y="1402081"/>
            <a:ext cx="10850880" cy="402751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304792" indent="-243834">
              <a:lnSpc>
                <a:spcPct val="105000"/>
              </a:lnSpc>
              <a:spcAft>
                <a:spcPts val="1067"/>
              </a:spcAft>
              <a:buChar char="•"/>
            </a:pPr>
            <a:r>
              <a:rPr lang="en-US" sz="2400" dirty="0">
                <a:solidFill>
                  <a:srgbClr val="1A1A1A"/>
                </a:solidFill>
                <a:latin typeface="Arial"/>
              </a:rPr>
              <a:t>To d</a:t>
            </a:r>
            <a:r>
              <a:rPr sz="2400" dirty="0">
                <a:solidFill>
                  <a:srgbClr val="1A1A1A"/>
                </a:solidFill>
                <a:latin typeface="Arial"/>
              </a:rPr>
              <a:t>evelop a dynamic compartmental model capturing incarceration cycles, HCV transmission, and liver disease progression among PWIDs in Singapore</a:t>
            </a:r>
            <a:r>
              <a:rPr lang="en-US" sz="2400" dirty="0">
                <a:solidFill>
                  <a:srgbClr val="1A1A1A"/>
                </a:solidFill>
                <a:latin typeface="Arial"/>
              </a:rPr>
              <a:t>.</a:t>
            </a:r>
          </a:p>
          <a:p>
            <a:pPr marL="304792" indent="-243834">
              <a:lnSpc>
                <a:spcPct val="105000"/>
              </a:lnSpc>
              <a:spcAft>
                <a:spcPts val="1067"/>
              </a:spcAft>
              <a:buChar char="•"/>
            </a:pPr>
            <a:endParaRPr sz="2400" dirty="0">
              <a:solidFill>
                <a:srgbClr val="1A1A1A"/>
              </a:solidFill>
              <a:latin typeface="Arial"/>
            </a:endParaRPr>
          </a:p>
          <a:p>
            <a:pPr marL="304792" indent="-243834">
              <a:lnSpc>
                <a:spcPct val="105000"/>
              </a:lnSpc>
              <a:spcAft>
                <a:spcPts val="1067"/>
              </a:spcAft>
              <a:buChar char="•"/>
            </a:pPr>
            <a:r>
              <a:rPr lang="en-US" sz="2400" dirty="0">
                <a:solidFill>
                  <a:srgbClr val="1A1A1A"/>
                </a:solidFill>
                <a:latin typeface="Arial"/>
              </a:rPr>
              <a:t>To s</a:t>
            </a:r>
            <a:r>
              <a:rPr sz="2400" dirty="0">
                <a:solidFill>
                  <a:srgbClr val="1A1A1A"/>
                </a:solidFill>
                <a:latin typeface="Arial"/>
              </a:rPr>
              <a:t>imulate treatment </a:t>
            </a:r>
            <a:r>
              <a:rPr lang="en-US" sz="2400" dirty="0">
                <a:solidFill>
                  <a:srgbClr val="1A1A1A"/>
                </a:solidFill>
                <a:latin typeface="Arial"/>
              </a:rPr>
              <a:t>coverage</a:t>
            </a:r>
            <a:r>
              <a:rPr sz="2400" dirty="0">
                <a:solidFill>
                  <a:srgbClr val="1A1A1A"/>
                </a:solidFill>
                <a:latin typeface="Arial"/>
              </a:rPr>
              <a:t> and disease progression under alternative DAA scale</a:t>
            </a:r>
            <a:r>
              <a:rPr lang="en-CN" sz="2400" dirty="0">
                <a:solidFill>
                  <a:srgbClr val="1A1A1A"/>
                </a:solidFill>
                <a:latin typeface="Arial"/>
              </a:rPr>
              <a:t>–</a:t>
            </a:r>
            <a:r>
              <a:rPr sz="2400" dirty="0">
                <a:solidFill>
                  <a:srgbClr val="1A1A1A"/>
                </a:solidFill>
                <a:latin typeface="Arial"/>
              </a:rPr>
              <a:t>up strategies</a:t>
            </a:r>
            <a:r>
              <a:rPr lang="en-US" sz="2400" dirty="0">
                <a:solidFill>
                  <a:srgbClr val="1A1A1A"/>
                </a:solidFill>
                <a:latin typeface="Arial"/>
              </a:rPr>
              <a:t>.</a:t>
            </a:r>
          </a:p>
          <a:p>
            <a:pPr marL="304792" indent="-243834">
              <a:lnSpc>
                <a:spcPct val="105000"/>
              </a:lnSpc>
              <a:spcAft>
                <a:spcPts val="1067"/>
              </a:spcAft>
              <a:buChar char="•"/>
            </a:pPr>
            <a:endParaRPr lang="en-US" sz="2400" dirty="0">
              <a:solidFill>
                <a:srgbClr val="1A1A1A"/>
              </a:solidFill>
              <a:latin typeface="Arial"/>
            </a:endParaRPr>
          </a:p>
          <a:p>
            <a:pPr marL="304792" indent="-243834">
              <a:lnSpc>
                <a:spcPct val="105000"/>
              </a:lnSpc>
              <a:spcAft>
                <a:spcPts val="1067"/>
              </a:spcAft>
              <a:buChar char="•"/>
            </a:pPr>
            <a:r>
              <a:rPr lang="en-US" sz="2400" dirty="0">
                <a:solidFill>
                  <a:srgbClr val="1A1A1A"/>
                </a:solidFill>
                <a:latin typeface="Arial"/>
              </a:rPr>
              <a:t>To e</a:t>
            </a:r>
            <a:r>
              <a:rPr sz="2400" dirty="0">
                <a:solidFill>
                  <a:srgbClr val="1A1A1A"/>
                </a:solidFill>
                <a:latin typeface="Arial"/>
              </a:rPr>
              <a:t>stimate </a:t>
            </a:r>
            <a:r>
              <a:rPr lang="en-US" sz="2400" dirty="0">
                <a:solidFill>
                  <a:srgbClr val="1A1A1A"/>
                </a:solidFill>
                <a:latin typeface="Arial"/>
              </a:rPr>
              <a:t>relative </a:t>
            </a:r>
            <a:r>
              <a:rPr sz="2400" dirty="0">
                <a:solidFill>
                  <a:srgbClr val="1A1A1A"/>
                </a:solidFill>
                <a:latin typeface="Arial"/>
              </a:rPr>
              <a:t>reductions in HCV incidence and advanced liver disease burden (especially </a:t>
            </a:r>
            <a:r>
              <a:rPr lang="en-US" sz="2400" dirty="0">
                <a:solidFill>
                  <a:srgbClr val="1A1A1A"/>
                </a:solidFill>
                <a:latin typeface="Arial"/>
              </a:rPr>
              <a:t>HCC</a:t>
            </a:r>
            <a:r>
              <a:rPr sz="2400" dirty="0">
                <a:solidFill>
                  <a:srgbClr val="1A1A1A"/>
                </a:solidFill>
                <a:latin typeface="Arial"/>
              </a:rPr>
              <a:t>) </a:t>
            </a:r>
            <a:r>
              <a:rPr lang="en-US" sz="2400" dirty="0">
                <a:solidFill>
                  <a:srgbClr val="1A1A1A"/>
                </a:solidFill>
                <a:latin typeface="Arial"/>
              </a:rPr>
              <a:t>attributable to prioritized DAA treatment strategies, </a:t>
            </a:r>
            <a:r>
              <a:rPr sz="2400" dirty="0">
                <a:solidFill>
                  <a:srgbClr val="1A1A1A"/>
                </a:solidFill>
                <a:latin typeface="Arial"/>
              </a:rPr>
              <a:t>relative to status quo</a:t>
            </a:r>
            <a:r>
              <a:rPr lang="en-US" sz="2400" dirty="0">
                <a:solidFill>
                  <a:srgbClr val="1A1A1A"/>
                </a:solidFill>
                <a:latin typeface="Arial"/>
              </a:rPr>
              <a:t>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AAB1B0-CF43-91BF-6723-C929484230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4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EFF0417-FE5E-E5D1-59A7-06A321312AD0}"/>
              </a:ext>
            </a:extLst>
          </p:cNvPr>
          <p:cNvSpPr txBox="1"/>
          <p:nvPr/>
        </p:nvSpPr>
        <p:spPr>
          <a:xfrm>
            <a:off x="670560" y="6601953"/>
            <a:ext cx="10850880" cy="1743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533"/>
              </a:spcAft>
            </a:pPr>
            <a:r>
              <a:rPr lang="en-US" sz="1133" b="1" dirty="0">
                <a:solidFill>
                  <a:srgbClr val="595959"/>
                </a:solidFill>
                <a:latin typeface="Arial"/>
              </a:rPr>
              <a:t>PWIDs: people who inject drugs; DAA: direct acting antiviral; HCC: hepatocellular carcinoma;</a:t>
            </a:r>
            <a:endParaRPr lang="en-US" sz="1133" dirty="0">
              <a:solidFill>
                <a:srgbClr val="595959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AFA5F7-0B0F-6DE0-0EC9-9A30409FA7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396E560-9A57-8948-969F-08FBA0D6BC0B}"/>
              </a:ext>
            </a:extLst>
          </p:cNvPr>
          <p:cNvSpPr txBox="1"/>
          <p:nvPr/>
        </p:nvSpPr>
        <p:spPr>
          <a:xfrm>
            <a:off x="609600" y="341377"/>
            <a:ext cx="1097280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533"/>
              </a:spcAft>
            </a:pPr>
            <a:r>
              <a:rPr lang="en-US" sz="2800" b="1" dirty="0">
                <a:solidFill>
                  <a:srgbClr val="05455E"/>
                </a:solidFill>
                <a:latin typeface="Arial"/>
              </a:rPr>
              <a:t>Compartmental model schematic</a:t>
            </a:r>
            <a:endParaRPr sz="2800" b="1" dirty="0">
              <a:solidFill>
                <a:srgbClr val="05455E"/>
              </a:solidFill>
              <a:latin typeface="Arial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264C597-1D10-DF52-53A3-6C3239045CDB}"/>
              </a:ext>
            </a:extLst>
          </p:cNvPr>
          <p:cNvSpPr/>
          <p:nvPr/>
        </p:nvSpPr>
        <p:spPr>
          <a:xfrm>
            <a:off x="633984" y="1072896"/>
            <a:ext cx="1828800" cy="67056"/>
          </a:xfrm>
          <a:prstGeom prst="rect">
            <a:avLst/>
          </a:prstGeom>
          <a:solidFill>
            <a:srgbClr val="0097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pic>
        <p:nvPicPr>
          <p:cNvPr id="5" name="Picture 4" descr="fig4.png">
            <a:extLst>
              <a:ext uri="{FF2B5EF4-FFF2-40B4-BE49-F238E27FC236}">
                <a16:creationId xmlns:a16="http://schemas.microsoft.com/office/drawing/2014/main" id="{8DE2FC64-ADD5-85FC-9640-54B1AB3ED4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5630" y="1139953"/>
            <a:ext cx="7960740" cy="370827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6A9E466-D7ED-662D-D52A-3B45B07C68E3}"/>
              </a:ext>
            </a:extLst>
          </p:cNvPr>
          <p:cNvSpPr txBox="1"/>
          <p:nvPr/>
        </p:nvSpPr>
        <p:spPr>
          <a:xfrm>
            <a:off x="609600" y="4915282"/>
            <a:ext cx="10850880" cy="16090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304792" indent="-243834">
              <a:lnSpc>
                <a:spcPct val="105000"/>
              </a:lnSpc>
              <a:spcAft>
                <a:spcPts val="1067"/>
              </a:spcAft>
              <a:buFontTx/>
              <a:buChar char="•"/>
            </a:pPr>
            <a:r>
              <a:rPr lang="en-US" sz="1867" dirty="0">
                <a:solidFill>
                  <a:srgbClr val="1A1A1A"/>
                </a:solidFill>
                <a:latin typeface="Arial"/>
              </a:rPr>
              <a:t>Deterministic, discrete–time transmission model</a:t>
            </a:r>
            <a:r>
              <a:rPr lang="zh-CN" altLang="en-US" sz="1867" dirty="0">
                <a:solidFill>
                  <a:srgbClr val="1A1A1A"/>
                </a:solidFill>
                <a:latin typeface="Arial"/>
              </a:rPr>
              <a:t> </a:t>
            </a:r>
            <a:r>
              <a:rPr lang="en-US" altLang="zh-CN" sz="1867" dirty="0">
                <a:solidFill>
                  <a:srgbClr val="1A1A1A"/>
                </a:solidFill>
                <a:latin typeface="Arial"/>
              </a:rPr>
              <a:t>with a daily time step.</a:t>
            </a:r>
            <a:endParaRPr lang="en-US" sz="1867" dirty="0">
              <a:solidFill>
                <a:srgbClr val="1A1A1A"/>
              </a:solidFill>
              <a:latin typeface="Arial"/>
            </a:endParaRPr>
          </a:p>
          <a:p>
            <a:pPr marL="304792" indent="-243834">
              <a:lnSpc>
                <a:spcPct val="105000"/>
              </a:lnSpc>
              <a:spcAft>
                <a:spcPts val="1067"/>
              </a:spcAft>
              <a:buFontTx/>
              <a:buChar char="•"/>
            </a:pPr>
            <a:r>
              <a:rPr lang="en-US" sz="1867" dirty="0">
                <a:solidFill>
                  <a:srgbClr val="1A1A1A"/>
                </a:solidFill>
                <a:latin typeface="Arial"/>
              </a:rPr>
              <a:t>Six age groups (&lt;20 to 60+), with age progression explicitly modelled.</a:t>
            </a:r>
          </a:p>
          <a:p>
            <a:pPr marL="304792" indent="-243834">
              <a:lnSpc>
                <a:spcPct val="105000"/>
              </a:lnSpc>
              <a:spcAft>
                <a:spcPts val="1067"/>
              </a:spcAft>
              <a:buFontTx/>
              <a:buChar char="•"/>
            </a:pPr>
            <a:r>
              <a:rPr lang="en-US" sz="1867" dirty="0">
                <a:solidFill>
                  <a:srgbClr val="1A1A1A"/>
                </a:solidFill>
                <a:latin typeface="Arial"/>
              </a:rPr>
              <a:t>Age–specific mortality </a:t>
            </a:r>
            <a:r>
              <a:rPr lang="en-US" sz="1867" dirty="0">
                <a:solidFill>
                  <a:srgbClr val="FF0000"/>
                </a:solidFill>
                <a:latin typeface="Arial"/>
              </a:rPr>
              <a:t>adjusted by risk ratios for PWIDs</a:t>
            </a:r>
            <a:r>
              <a:rPr lang="en-US" sz="1867" dirty="0">
                <a:solidFill>
                  <a:schemeClr val="accent6">
                    <a:lumMod val="75000"/>
                  </a:schemeClr>
                </a:solidFill>
                <a:latin typeface="Arial"/>
              </a:rPr>
              <a:t> </a:t>
            </a:r>
            <a:r>
              <a:rPr lang="en-US" sz="1867" dirty="0">
                <a:solidFill>
                  <a:srgbClr val="1A1A1A"/>
                </a:solidFill>
                <a:latin typeface="Arial"/>
              </a:rPr>
              <a:t>relative to the general population.</a:t>
            </a:r>
          </a:p>
          <a:p>
            <a:pPr marL="304792" indent="-243834">
              <a:lnSpc>
                <a:spcPct val="105000"/>
              </a:lnSpc>
              <a:spcAft>
                <a:spcPts val="1067"/>
              </a:spcAft>
              <a:buFontTx/>
              <a:buChar char="•"/>
            </a:pPr>
            <a:r>
              <a:rPr lang="en-US" sz="1867" dirty="0">
                <a:solidFill>
                  <a:srgbClr val="1A1A1A"/>
                </a:solidFill>
                <a:latin typeface="Arial"/>
              </a:rPr>
              <a:t>Temporal parameters omit for simplicity.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492FDF1-701A-EA55-53AC-0FC92CE4B2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5</a:t>
            </a:fld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BC6516A-E86E-2E57-8AEE-AB0419927771}"/>
              </a:ext>
            </a:extLst>
          </p:cNvPr>
          <p:cNvSpPr txBox="1"/>
          <p:nvPr/>
        </p:nvSpPr>
        <p:spPr>
          <a:xfrm>
            <a:off x="670560" y="6601953"/>
            <a:ext cx="10850880" cy="1743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533"/>
              </a:spcAft>
            </a:pPr>
            <a:r>
              <a:rPr lang="en-US" sz="1133" b="1" dirty="0">
                <a:solidFill>
                  <a:srgbClr val="595959"/>
                </a:solidFill>
                <a:latin typeface="Arial"/>
              </a:rPr>
              <a:t>PWID: people who inject drugs</a:t>
            </a:r>
            <a:r>
              <a:rPr lang="en-US" sz="1133" dirty="0">
                <a:solidFill>
                  <a:srgbClr val="595959"/>
                </a:solidFill>
                <a:latin typeface="Arial"/>
              </a:rPr>
              <a:t>; Mathers et al. 2013;</a:t>
            </a:r>
          </a:p>
        </p:txBody>
      </p:sp>
    </p:spTree>
    <p:extLst>
      <p:ext uri="{BB962C8B-B14F-4D97-AF65-F5344CB8AC3E}">
        <p14:creationId xmlns:p14="http://schemas.microsoft.com/office/powerpoint/2010/main" val="27684894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600" y="341377"/>
            <a:ext cx="1097280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533"/>
              </a:spcAft>
            </a:pPr>
            <a:r>
              <a:rPr lang="en-US" sz="2800" b="1" dirty="0">
                <a:solidFill>
                  <a:srgbClr val="05455E"/>
                </a:solidFill>
                <a:latin typeface="Arial"/>
              </a:rPr>
              <a:t>Incarceration dynamics</a:t>
            </a:r>
            <a:endParaRPr sz="2800" b="1" dirty="0">
              <a:solidFill>
                <a:srgbClr val="05455E"/>
              </a:solidFill>
              <a:latin typeface="Arial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633984" y="1072896"/>
            <a:ext cx="1828800" cy="67056"/>
          </a:xfrm>
          <a:prstGeom prst="rect">
            <a:avLst/>
          </a:prstGeom>
          <a:solidFill>
            <a:srgbClr val="0097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pic>
        <p:nvPicPr>
          <p:cNvPr id="5" name="Picture 4" descr="fig4.png">
            <a:extLst>
              <a:ext uri="{FF2B5EF4-FFF2-40B4-BE49-F238E27FC236}">
                <a16:creationId xmlns:a16="http://schemas.microsoft.com/office/drawing/2014/main" id="{CCEBAB6D-0209-CB98-A1AD-A8704C9075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5630" y="1139953"/>
            <a:ext cx="7960740" cy="370827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2000852-2199-200D-4AB7-09F9F3D9AF95}"/>
              </a:ext>
            </a:extLst>
          </p:cNvPr>
          <p:cNvSpPr txBox="1"/>
          <p:nvPr/>
        </p:nvSpPr>
        <p:spPr>
          <a:xfrm>
            <a:off x="609600" y="4915282"/>
            <a:ext cx="10850880" cy="14679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304792" indent="-243834">
              <a:lnSpc>
                <a:spcPct val="105000"/>
              </a:lnSpc>
              <a:spcAft>
                <a:spcPts val="1067"/>
              </a:spcAft>
              <a:buFontTx/>
              <a:buChar char="•"/>
            </a:pPr>
            <a:r>
              <a:rPr lang="en-US" sz="1867" dirty="0">
                <a:solidFill>
                  <a:srgbClr val="1A1A1A"/>
                </a:solidFill>
                <a:latin typeface="Arial"/>
              </a:rPr>
              <a:t>All individuals enter the model as uninfected, non–cirrhotic, and never–incarcerated PWIDs.</a:t>
            </a:r>
          </a:p>
          <a:p>
            <a:pPr marL="304792" indent="-243834">
              <a:lnSpc>
                <a:spcPct val="105000"/>
              </a:lnSpc>
              <a:spcAft>
                <a:spcPts val="1067"/>
              </a:spcAft>
              <a:buFontTx/>
              <a:buChar char="•"/>
            </a:pPr>
            <a:r>
              <a:rPr lang="en-US" sz="1867" dirty="0">
                <a:solidFill>
                  <a:srgbClr val="1A1A1A"/>
                </a:solidFill>
                <a:latin typeface="Arial"/>
              </a:rPr>
              <a:t>Only individuals in D and F are assumed susceptible to HCV infection through needle sharing.</a:t>
            </a:r>
          </a:p>
          <a:p>
            <a:pPr marL="304792" indent="-243834">
              <a:lnSpc>
                <a:spcPct val="105000"/>
              </a:lnSpc>
              <a:spcAft>
                <a:spcPts val="1067"/>
              </a:spcAft>
              <a:buFontTx/>
              <a:buChar char="•"/>
            </a:pPr>
            <a:r>
              <a:rPr lang="en-US" sz="1867" dirty="0">
                <a:solidFill>
                  <a:srgbClr val="1A1A1A"/>
                </a:solidFill>
                <a:latin typeface="Arial"/>
              </a:rPr>
              <a:t>After release, individuals either resume injection (F), or permanently cease (X), determined by an age–invariant recidivism probability estimated from </a:t>
            </a:r>
            <a:r>
              <a:rPr lang="en-US" sz="1867" dirty="0">
                <a:solidFill>
                  <a:srgbClr val="FF0000"/>
                </a:solidFill>
                <a:latin typeface="Arial"/>
              </a:rPr>
              <a:t>Singapore Changi prison HCV screening data</a:t>
            </a:r>
            <a:r>
              <a:rPr lang="en-US" sz="1867" dirty="0">
                <a:solidFill>
                  <a:srgbClr val="1A1A1A"/>
                </a:solidFill>
                <a:latin typeface="Arial"/>
              </a:rPr>
              <a:t>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D4D443C-F227-07DD-3CB0-787B14294799}"/>
              </a:ext>
            </a:extLst>
          </p:cNvPr>
          <p:cNvSpPr/>
          <p:nvPr/>
        </p:nvSpPr>
        <p:spPr>
          <a:xfrm>
            <a:off x="2034192" y="1139952"/>
            <a:ext cx="4671408" cy="222199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sz="240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6EC16843-A108-5645-4B10-4E7A3F519C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6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B7A6EA4-6715-9070-76E5-4468218097B1}"/>
              </a:ext>
            </a:extLst>
          </p:cNvPr>
          <p:cNvSpPr txBox="1"/>
          <p:nvPr/>
        </p:nvSpPr>
        <p:spPr>
          <a:xfrm>
            <a:off x="670560" y="6601953"/>
            <a:ext cx="10850880" cy="1743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533"/>
              </a:spcAft>
            </a:pPr>
            <a:r>
              <a:rPr lang="en-US" sz="1133" b="1" dirty="0">
                <a:solidFill>
                  <a:srgbClr val="595959"/>
                </a:solidFill>
                <a:latin typeface="Arial"/>
              </a:rPr>
              <a:t>PWID: people who inject drugs</a:t>
            </a:r>
            <a:r>
              <a:rPr lang="en-US" sz="1133" dirty="0">
                <a:solidFill>
                  <a:srgbClr val="595959"/>
                </a:solidFill>
                <a:latin typeface="Arial"/>
              </a:rPr>
              <a:t>;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1FC0F7-3E5E-9628-DC39-6AFCB24857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fig4.png">
            <a:extLst>
              <a:ext uri="{FF2B5EF4-FFF2-40B4-BE49-F238E27FC236}">
                <a16:creationId xmlns:a16="http://schemas.microsoft.com/office/drawing/2014/main" id="{E74AA227-F1D8-7CDC-8A08-F1C9A4DC16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5630" y="1139953"/>
            <a:ext cx="7960740" cy="370827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3E12B99-4FB3-D6F7-E3EB-1E65190D077A}"/>
              </a:ext>
            </a:extLst>
          </p:cNvPr>
          <p:cNvSpPr txBox="1"/>
          <p:nvPr/>
        </p:nvSpPr>
        <p:spPr>
          <a:xfrm>
            <a:off x="609600" y="341377"/>
            <a:ext cx="1097280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533"/>
              </a:spcAft>
            </a:pPr>
            <a:r>
              <a:rPr lang="en-US" sz="2800" b="1" dirty="0">
                <a:solidFill>
                  <a:srgbClr val="05455E"/>
                </a:solidFill>
                <a:latin typeface="Arial"/>
              </a:rPr>
              <a:t>HCV transmission dynamics</a:t>
            </a:r>
            <a:endParaRPr sz="2800" b="1" dirty="0">
              <a:solidFill>
                <a:srgbClr val="05455E"/>
              </a:solidFill>
              <a:latin typeface="Arial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BFFFC39-E603-7CA3-E2ED-D0F6488C5F19}"/>
              </a:ext>
            </a:extLst>
          </p:cNvPr>
          <p:cNvSpPr/>
          <p:nvPr/>
        </p:nvSpPr>
        <p:spPr>
          <a:xfrm>
            <a:off x="633984" y="1072896"/>
            <a:ext cx="1828800" cy="67056"/>
          </a:xfrm>
          <a:prstGeom prst="rect">
            <a:avLst/>
          </a:prstGeom>
          <a:solidFill>
            <a:srgbClr val="0097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A75B0D7-C437-D5D2-E685-64BCCE4F1257}"/>
              </a:ext>
            </a:extLst>
          </p:cNvPr>
          <p:cNvSpPr txBox="1"/>
          <p:nvPr/>
        </p:nvSpPr>
        <p:spPr>
          <a:xfrm>
            <a:off x="609600" y="4915281"/>
            <a:ext cx="10972800" cy="151092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304792" indent="-243834">
              <a:lnSpc>
                <a:spcPct val="105000"/>
              </a:lnSpc>
              <a:spcAft>
                <a:spcPts val="1067"/>
              </a:spcAft>
              <a:buFontTx/>
              <a:buChar char="•"/>
            </a:pPr>
            <a:r>
              <a:rPr lang="en-US" sz="2133" dirty="0">
                <a:solidFill>
                  <a:srgbClr val="1A1A1A"/>
                </a:solidFill>
                <a:latin typeface="Arial"/>
              </a:rPr>
              <a:t>For newly infected individuals in acute stage (A), they will</a:t>
            </a:r>
          </a:p>
          <a:p>
            <a:pPr marL="914377" lvl="1" indent="-243834">
              <a:lnSpc>
                <a:spcPct val="105000"/>
              </a:lnSpc>
              <a:spcAft>
                <a:spcPts val="1067"/>
              </a:spcAft>
              <a:buFontTx/>
              <a:buChar char="•"/>
            </a:pPr>
            <a:r>
              <a:rPr lang="en-US" sz="1867" dirty="0">
                <a:solidFill>
                  <a:srgbClr val="1A1A1A"/>
                </a:solidFill>
                <a:latin typeface="Arial"/>
              </a:rPr>
              <a:t>Either clear infection spontaneously within six months (back to U), or</a:t>
            </a:r>
          </a:p>
          <a:p>
            <a:pPr marL="914377" lvl="1" indent="-243834">
              <a:lnSpc>
                <a:spcPct val="105000"/>
              </a:lnSpc>
              <a:spcAft>
                <a:spcPts val="1067"/>
              </a:spcAft>
              <a:buFontTx/>
              <a:buChar char="•"/>
            </a:pPr>
            <a:r>
              <a:rPr lang="en-US" sz="1867" dirty="0">
                <a:solidFill>
                  <a:srgbClr val="1A1A1A"/>
                </a:solidFill>
                <a:latin typeface="Arial"/>
              </a:rPr>
              <a:t>Progress to chronic infection (C), followed by sequential progression through later stages of liver disease.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D039C6D-27CD-A7C5-B4E4-1529CEFAAC88}"/>
              </a:ext>
            </a:extLst>
          </p:cNvPr>
          <p:cNvSpPr/>
          <p:nvPr/>
        </p:nvSpPr>
        <p:spPr>
          <a:xfrm>
            <a:off x="6737482" y="1139952"/>
            <a:ext cx="3287297" cy="228904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sz="240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13C1F4FA-D00C-17F2-6C7D-9A2D6317B8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17986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EA4B99-94EE-5B6C-3282-0593204144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48BB17F-4FF0-220D-1D82-78F7ED7E1E6F}"/>
              </a:ext>
            </a:extLst>
          </p:cNvPr>
          <p:cNvSpPr txBox="1"/>
          <p:nvPr/>
        </p:nvSpPr>
        <p:spPr>
          <a:xfrm>
            <a:off x="609600" y="341377"/>
            <a:ext cx="1097280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533"/>
              </a:spcAft>
            </a:pPr>
            <a:r>
              <a:rPr lang="en-US" sz="2800" b="1" dirty="0">
                <a:solidFill>
                  <a:srgbClr val="05455E"/>
                </a:solidFill>
                <a:latin typeface="Arial"/>
              </a:rPr>
              <a:t>Liver disease progression</a:t>
            </a:r>
            <a:endParaRPr sz="2800" b="1" dirty="0">
              <a:solidFill>
                <a:srgbClr val="05455E"/>
              </a:solidFill>
              <a:latin typeface="Arial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73FF380-0737-FFE5-ED8B-64F790662FD1}"/>
              </a:ext>
            </a:extLst>
          </p:cNvPr>
          <p:cNvSpPr/>
          <p:nvPr/>
        </p:nvSpPr>
        <p:spPr>
          <a:xfrm>
            <a:off x="633984" y="1072896"/>
            <a:ext cx="1828800" cy="67056"/>
          </a:xfrm>
          <a:prstGeom prst="rect">
            <a:avLst/>
          </a:prstGeom>
          <a:solidFill>
            <a:srgbClr val="0097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pic>
        <p:nvPicPr>
          <p:cNvPr id="5" name="Picture 4" descr="fig4.png">
            <a:extLst>
              <a:ext uri="{FF2B5EF4-FFF2-40B4-BE49-F238E27FC236}">
                <a16:creationId xmlns:a16="http://schemas.microsoft.com/office/drawing/2014/main" id="{FB5766CB-8332-ACFC-ECF9-7CAF600074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5630" y="1139953"/>
            <a:ext cx="7960740" cy="3708273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6FC182E5-C9DC-9D3C-29C9-8E1DF956A260}"/>
              </a:ext>
            </a:extLst>
          </p:cNvPr>
          <p:cNvSpPr/>
          <p:nvPr/>
        </p:nvSpPr>
        <p:spPr>
          <a:xfrm>
            <a:off x="2115630" y="3512841"/>
            <a:ext cx="8142796" cy="133538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sz="24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0FF09BA-4C82-6DE1-7587-5A56325E8E4B}"/>
              </a:ext>
            </a:extLst>
          </p:cNvPr>
          <p:cNvSpPr txBox="1"/>
          <p:nvPr/>
        </p:nvSpPr>
        <p:spPr>
          <a:xfrm>
            <a:off x="609600" y="4915281"/>
            <a:ext cx="10850880" cy="14679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304792" indent="-243834">
              <a:lnSpc>
                <a:spcPct val="105000"/>
              </a:lnSpc>
              <a:spcAft>
                <a:spcPts val="1067"/>
              </a:spcAft>
              <a:buFontTx/>
              <a:buChar char="•"/>
            </a:pPr>
            <a:r>
              <a:rPr lang="en-US" sz="1867" dirty="0">
                <a:solidFill>
                  <a:srgbClr val="1A1A1A"/>
                </a:solidFill>
                <a:latin typeface="Arial"/>
              </a:rPr>
              <a:t>Direct</a:t>
            </a:r>
            <a:r>
              <a:rPr lang="zh-CN" altLang="en-US" sz="1867" dirty="0">
                <a:solidFill>
                  <a:srgbClr val="1A1A1A"/>
                </a:solidFill>
                <a:latin typeface="Arial"/>
              </a:rPr>
              <a:t> </a:t>
            </a:r>
            <a:r>
              <a:rPr lang="en-US" altLang="zh-CN" sz="1867" dirty="0">
                <a:solidFill>
                  <a:srgbClr val="1A1A1A"/>
                </a:solidFill>
                <a:latin typeface="Arial"/>
              </a:rPr>
              <a:t>progression from compensated cirrhosis to HCC is allowed.*</a:t>
            </a:r>
          </a:p>
          <a:p>
            <a:pPr marL="304792" indent="-243834">
              <a:lnSpc>
                <a:spcPct val="105000"/>
              </a:lnSpc>
              <a:spcAft>
                <a:spcPts val="1067"/>
              </a:spcAft>
              <a:buFontTx/>
              <a:buChar char="•"/>
            </a:pPr>
            <a:r>
              <a:rPr lang="en-US" sz="1867" dirty="0">
                <a:solidFill>
                  <a:srgbClr val="1A1A1A"/>
                </a:solidFill>
                <a:latin typeface="Arial"/>
              </a:rPr>
              <a:t>Progression rates are literature–based and adjusted for Singapore’ high genotype 3 prevalence (~78%).*</a:t>
            </a:r>
          </a:p>
          <a:p>
            <a:pPr marL="304792" indent="-243834">
              <a:lnSpc>
                <a:spcPct val="105000"/>
              </a:lnSpc>
              <a:spcAft>
                <a:spcPts val="1067"/>
              </a:spcAft>
              <a:buFontTx/>
              <a:buChar char="•"/>
            </a:pPr>
            <a:r>
              <a:rPr lang="en-US" sz="1867" dirty="0">
                <a:solidFill>
                  <a:srgbClr val="1A1A1A"/>
                </a:solidFill>
                <a:latin typeface="Arial"/>
              </a:rPr>
              <a:t>HCV–related liver transplantation is excluded due to its rarity in Singapore.*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00DC4D9-B713-2521-D3FA-3794A6642D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8</a:t>
            </a:fld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4941C97-FC51-39DF-ADBE-4CCEF85C00DE}"/>
              </a:ext>
            </a:extLst>
          </p:cNvPr>
          <p:cNvSpPr txBox="1"/>
          <p:nvPr/>
        </p:nvSpPr>
        <p:spPr>
          <a:xfrm>
            <a:off x="670560" y="6601953"/>
            <a:ext cx="10850880" cy="1743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533"/>
              </a:spcAft>
            </a:pPr>
            <a:r>
              <a:rPr lang="en-US" sz="1133" dirty="0">
                <a:solidFill>
                  <a:srgbClr val="595959"/>
                </a:solidFill>
                <a:latin typeface="Arial"/>
              </a:rPr>
              <a:t>*Zhao et al. 2019; </a:t>
            </a:r>
            <a:r>
              <a:rPr lang="en-US" sz="1133" dirty="0" err="1">
                <a:solidFill>
                  <a:srgbClr val="595959"/>
                </a:solidFill>
                <a:latin typeface="Arial"/>
              </a:rPr>
              <a:t>Chaillon</a:t>
            </a:r>
            <a:r>
              <a:rPr lang="en-US" sz="1133" dirty="0">
                <a:solidFill>
                  <a:srgbClr val="595959"/>
                </a:solidFill>
                <a:latin typeface="Arial"/>
              </a:rPr>
              <a:t> et al. 2020;</a:t>
            </a:r>
          </a:p>
        </p:txBody>
      </p:sp>
    </p:spTree>
    <p:extLst>
      <p:ext uri="{BB962C8B-B14F-4D97-AF65-F5344CB8AC3E}">
        <p14:creationId xmlns:p14="http://schemas.microsoft.com/office/powerpoint/2010/main" val="2580469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364AA7-C56E-42BA-82B4-CDF8E2AF97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D4AE40C-B155-847B-7F91-30FF6A2D86EF}"/>
              </a:ext>
            </a:extLst>
          </p:cNvPr>
          <p:cNvSpPr txBox="1"/>
          <p:nvPr/>
        </p:nvSpPr>
        <p:spPr>
          <a:xfrm>
            <a:off x="609600" y="341377"/>
            <a:ext cx="1097280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533"/>
              </a:spcAft>
            </a:pPr>
            <a:r>
              <a:rPr lang="en-US" sz="2800" b="1" dirty="0">
                <a:solidFill>
                  <a:srgbClr val="05455E"/>
                </a:solidFill>
                <a:latin typeface="Arial"/>
              </a:rPr>
              <a:t>Some fixed parameters</a:t>
            </a:r>
            <a:endParaRPr sz="2800" b="1" dirty="0">
              <a:solidFill>
                <a:srgbClr val="05455E"/>
              </a:solidFill>
              <a:latin typeface="Arial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ECE850B-27D6-88DA-594F-EE39954DDDB7}"/>
              </a:ext>
            </a:extLst>
          </p:cNvPr>
          <p:cNvSpPr/>
          <p:nvPr/>
        </p:nvSpPr>
        <p:spPr>
          <a:xfrm>
            <a:off x="633984" y="1072896"/>
            <a:ext cx="1828800" cy="67056"/>
          </a:xfrm>
          <a:prstGeom prst="rect">
            <a:avLst/>
          </a:prstGeom>
          <a:solidFill>
            <a:srgbClr val="0097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Google Shape;334;p46">
                <a:extLst>
                  <a:ext uri="{FF2B5EF4-FFF2-40B4-BE49-F238E27FC236}">
                    <a16:creationId xmlns:a16="http://schemas.microsoft.com/office/drawing/2014/main" id="{2A4BED95-CF7B-6921-CEFC-622CE44FA538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653329411"/>
                  </p:ext>
                </p:extLst>
              </p:nvPr>
            </p:nvGraphicFramePr>
            <p:xfrm>
              <a:off x="682750" y="1212205"/>
              <a:ext cx="10753994" cy="5072049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5506375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364327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883292">
                      <a:extLst>
                        <a:ext uri="{9D8B030D-6E8A-4147-A177-3AD203B41FA5}">
                          <a16:colId xmlns:a16="http://schemas.microsoft.com/office/drawing/2014/main" val="909906734"/>
                        </a:ext>
                      </a:extLst>
                    </a:gridCol>
                  </a:tblGrid>
                  <a:tr h="425281"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600" b="1" u="none" strike="noStrike" cap="none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Parameters</a:t>
                          </a:r>
                          <a:endParaRPr sz="1600" b="1" u="none" strike="noStrike" cap="none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71384" marR="171384" marT="85692" marB="85692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600" b="1" u="none" strike="noStrike" cap="none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Value</a:t>
                          </a:r>
                          <a:endParaRPr sz="1600" b="1" u="none" strike="noStrike" cap="none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71384" marR="171384" marT="85692" marB="85692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600" b="1" u="none" strike="noStrike" cap="none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Source</a:t>
                          </a:r>
                          <a:endParaRPr sz="1600" b="1" u="none" strike="noStrike" cap="none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71384" marR="171384" marT="85692" marB="85692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616739"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600" b="0" u="none" strike="noStrike" cap="none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Transmission</a:t>
                          </a:r>
                          <a:r>
                            <a:rPr lang="en-US" sz="1600" b="0" u="none" strike="noStrike" cap="none" baseline="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 probability per needle–sharing event</a:t>
                          </a:r>
                        </a:p>
                      </a:txBody>
                      <a:tcPr marL="171384" marR="171384" marT="85692" marB="85692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600" b="0" u="none" strike="noStrike" cap="none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0.0057</a:t>
                          </a:r>
                          <a:endParaRPr sz="1600" b="0" u="none" strike="noStrike" cap="none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71384" marR="171384" marT="85692" marB="85692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600" b="0" u="none" strike="noStrike" cap="none" dirty="0" err="1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Boelen</a:t>
                          </a:r>
                          <a:r>
                            <a:rPr lang="en-US" sz="1600" b="0" u="none" strike="noStrike" cap="none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 et al. 2014</a:t>
                          </a:r>
                          <a:endParaRPr sz="1600" b="0" u="none" strike="noStrike" cap="none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71384" marR="171384" marT="85692" marB="85692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425281"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600" b="0" u="none" strike="noStrike" cap="none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Probability of spontaneous clearance after acute infection</a:t>
                          </a:r>
                        </a:p>
                      </a:txBody>
                      <a:tcPr marL="171384" marR="171384" marT="85692" marB="85692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600" b="0" u="none" strike="noStrike" cap="none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0.26</a:t>
                          </a:r>
                          <a:endParaRPr sz="1600" b="0" u="none" strike="noStrike" cap="none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71384" marR="171384" marT="85692" marB="85692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600" b="0" u="none" strike="noStrike" cap="none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Micallef et al. 2006</a:t>
                          </a:r>
                          <a:endParaRPr sz="1600" b="0" u="none" strike="noStrike" cap="none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71384" marR="171384" marT="85692" marB="85692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443609"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b="0" u="none" strike="noStrike" cap="none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Mean duration of acute infection</a:t>
                          </a:r>
                        </a:p>
                      </a:txBody>
                      <a:tcPr marL="171384" marR="171384" marT="85692" marB="85692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600" b="0" u="none" strike="noStrike" cap="none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180 days</a:t>
                          </a:r>
                          <a:endParaRPr sz="1600" b="0" u="none" strike="noStrike" cap="none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71384" marR="171384" marT="85692" marB="85692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600" b="0" u="none" strike="noStrike" cap="none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Fasano et al. 2024</a:t>
                          </a:r>
                          <a:endParaRPr sz="1600" b="0" u="none" strike="noStrike" cap="none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71384" marR="171384" marT="85692" marB="85692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500415"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b="0" u="none" strike="noStrike" cap="none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Mean duration of DAA treatment</a:t>
                          </a:r>
                        </a:p>
                      </a:txBody>
                      <a:tcPr marL="171384" marR="171384" marT="85692" marB="85692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600" b="0" u="none" strike="noStrike" cap="none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84 days</a:t>
                          </a:r>
                          <a:endParaRPr sz="1600" b="0" u="none" strike="noStrike" cap="none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71384" marR="171384" marT="85692" marB="85692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600" b="0" u="none" strike="noStrike" cap="none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World Health Organization</a:t>
                          </a:r>
                          <a:endParaRPr sz="1600" b="0" u="none" strike="noStrike" cap="none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71384" marR="171384" marT="85692" marB="85692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500415"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600" b="0" u="none" strike="noStrike" cap="none" dirty="0">
                              <a:solidFill>
                                <a:srgbClr val="FF0000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Singapore genotype 3 prevalence</a:t>
                          </a:r>
                          <a:endParaRPr sz="1600" b="0" u="none" strike="noStrike" cap="none" dirty="0">
                            <a:solidFill>
                              <a:srgbClr val="FF0000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71384" marR="171384" marT="85692" marB="85692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600" b="0" u="none" strike="noStrike" cap="none" dirty="0">
                              <a:solidFill>
                                <a:srgbClr val="FF0000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0.78</a:t>
                          </a:r>
                          <a:endParaRPr sz="1600" b="0" u="none" strike="noStrike" cap="none" dirty="0">
                            <a:solidFill>
                              <a:srgbClr val="FF0000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71384" marR="171384" marT="85692" marB="85692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600" b="0" u="none" strike="noStrike" cap="none" dirty="0">
                              <a:solidFill>
                                <a:srgbClr val="FF0000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Zhao et al. 2019</a:t>
                          </a:r>
                          <a:endParaRPr sz="1600" b="0" u="none" strike="noStrike" cap="none" dirty="0">
                            <a:solidFill>
                              <a:srgbClr val="FF0000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71384" marR="171384" marT="85692" marB="85692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86616895"/>
                      </a:ext>
                    </a:extLst>
                  </a:tr>
                  <a:tr h="500415"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b="0" u="none" strike="noStrike" cap="none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Background mortality rate for age group </a:t>
                          </a:r>
                          <a14:m>
                            <m:oMath xmlns:m="http://schemas.openxmlformats.org/officeDocument/2006/math">
                              <m:r>
                                <a:rPr lang="en-US" sz="1600" b="0" i="1" u="none" strike="noStrike" cap="none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𝑖</m:t>
                              </m:r>
                            </m:oMath>
                          </a14:m>
                          <a:endParaRPr lang="en-US" sz="1600" b="0" u="none" strike="noStrike" cap="none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71384" marR="171384" marT="85692" marB="85692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600" b="0" u="none" strike="noStrike" cap="none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Age–varying</a:t>
                          </a:r>
                          <a:endParaRPr sz="1600" b="0" u="none" strike="noStrike" cap="none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71384" marR="171384" marT="85692" marB="85692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600" b="0" u="none" strike="noStrike" cap="none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Fitted to </a:t>
                          </a:r>
                          <a:r>
                            <a:rPr lang="en-US" sz="1600" b="0" u="none" strike="noStrike" cap="none" dirty="0" err="1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SingStat</a:t>
                          </a:r>
                          <a:r>
                            <a:rPr lang="en-US" sz="1600" b="0" u="none" strike="noStrike" cap="none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 data</a:t>
                          </a:r>
                          <a:endParaRPr sz="1600" b="0" u="none" strike="noStrike" cap="none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71384" marR="171384" marT="85692" marB="85692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282026952"/>
                      </a:ext>
                    </a:extLst>
                  </a:tr>
                  <a:tr h="659064"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b="0" u="none" strike="noStrike" cap="none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Standardized Mortality Ratio (SMR) of ever–PWIDs relative to general population</a:t>
                          </a:r>
                        </a:p>
                      </a:txBody>
                      <a:tcPr marL="171384" marR="171384" marT="85692" marB="85692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600" b="0" u="none" strike="noStrike" cap="none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14.68</a:t>
                          </a:r>
                          <a:endParaRPr sz="1600" b="0" u="none" strike="noStrike" cap="none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71384" marR="171384" marT="85692" marB="85692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600" b="0" u="none" strike="noStrike" cap="none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Mathers et al. 2013</a:t>
                          </a:r>
                          <a:endParaRPr sz="1600" b="0" u="none" strike="noStrike" cap="none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71384" marR="171384" marT="85692" marB="85692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131072818"/>
                      </a:ext>
                    </a:extLst>
                  </a:tr>
                  <a:tr h="500415"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b="0" u="none" strike="noStrike" cap="none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Decompensated cirrhosis excess mortality rate</a:t>
                          </a:r>
                        </a:p>
                      </a:txBody>
                      <a:tcPr marL="171384" marR="171384" marT="85692" marB="85692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600" b="0" u="none" strike="noStrike" cap="none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0.13</a:t>
                          </a:r>
                          <a:endParaRPr sz="1600" b="0" u="none" strike="noStrike" cap="none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71384" marR="171384" marT="85692" marB="85692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600" b="0" u="none" strike="noStrike" cap="none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Lim et al. 2018</a:t>
                          </a:r>
                          <a:endParaRPr sz="1600" b="0" u="none" strike="noStrike" cap="none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71384" marR="171384" marT="85692" marB="85692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379540995"/>
                      </a:ext>
                    </a:extLst>
                  </a:tr>
                  <a:tr h="500415"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b="0" u="none" strike="noStrike" cap="none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Hepatocellular carcinoma excess mortality rate</a:t>
                          </a:r>
                        </a:p>
                      </a:txBody>
                      <a:tcPr marL="171384" marR="171384" marT="85692" marB="85692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600" b="0" u="none" strike="noStrike" cap="none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0.43</a:t>
                          </a:r>
                          <a:endParaRPr sz="1600" b="0" u="none" strike="noStrike" cap="none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71384" marR="171384" marT="85692" marB="85692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600" b="0" u="none" strike="noStrike" cap="none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Lim et al. 2018</a:t>
                          </a:r>
                          <a:endParaRPr sz="1600" b="0" u="none" strike="noStrike" cap="none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71384" marR="171384" marT="85692" marB="85692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18160895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Google Shape;334;p46">
                <a:extLst>
                  <a:ext uri="{FF2B5EF4-FFF2-40B4-BE49-F238E27FC236}">
                    <a16:creationId xmlns:a16="http://schemas.microsoft.com/office/drawing/2014/main" id="{2A4BED95-CF7B-6921-CEFC-622CE44FA538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653329411"/>
                  </p:ext>
                </p:extLst>
              </p:nvPr>
            </p:nvGraphicFramePr>
            <p:xfrm>
              <a:off x="682750" y="1212205"/>
              <a:ext cx="10753994" cy="5072049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5506375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364327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883292">
                      <a:extLst>
                        <a:ext uri="{9D8B030D-6E8A-4147-A177-3AD203B41FA5}">
                          <a16:colId xmlns:a16="http://schemas.microsoft.com/office/drawing/2014/main" val="909906734"/>
                        </a:ext>
                      </a:extLst>
                    </a:gridCol>
                  </a:tblGrid>
                  <a:tr h="425281"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600" b="1" u="none" strike="noStrike" cap="none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Parameters</a:t>
                          </a:r>
                          <a:endParaRPr sz="1600" b="1" u="none" strike="noStrike" cap="none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71384" marR="171384" marT="85692" marB="85692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1600" b="1" u="none" strike="noStrike" cap="none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Value</a:t>
                          </a:r>
                          <a:endParaRPr sz="1600" b="1" u="none" strike="noStrike" cap="none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71384" marR="171384" marT="85692" marB="85692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600" b="1" u="none" strike="noStrike" cap="none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Source</a:t>
                          </a:r>
                          <a:endParaRPr sz="1600" b="1" u="none" strike="noStrike" cap="none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71384" marR="171384" marT="85692" marB="85692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616739"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600" b="0" u="none" strike="noStrike" cap="none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Transmission</a:t>
                          </a:r>
                          <a:r>
                            <a:rPr lang="en-US" sz="1600" b="0" u="none" strike="noStrike" cap="none" baseline="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 probability per needle–sharing event</a:t>
                          </a:r>
                        </a:p>
                      </a:txBody>
                      <a:tcPr marL="171384" marR="171384" marT="85692" marB="85692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600" b="0" u="none" strike="noStrike" cap="none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0.0057</a:t>
                          </a:r>
                          <a:endParaRPr sz="1600" b="0" u="none" strike="noStrike" cap="none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71384" marR="171384" marT="85692" marB="85692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600" b="0" u="none" strike="noStrike" cap="none" dirty="0" err="1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Boelen</a:t>
                          </a:r>
                          <a:r>
                            <a:rPr lang="en-US" sz="1600" b="0" u="none" strike="noStrike" cap="none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 et al. 2014</a:t>
                          </a:r>
                          <a:endParaRPr sz="1600" b="0" u="none" strike="noStrike" cap="none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71384" marR="171384" marT="85692" marB="85692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425281"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600" b="0" u="none" strike="noStrike" cap="none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Probability of spontaneous clearance after acute infection</a:t>
                          </a:r>
                        </a:p>
                      </a:txBody>
                      <a:tcPr marL="171384" marR="171384" marT="85692" marB="85692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600" b="0" u="none" strike="noStrike" cap="none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0.26</a:t>
                          </a:r>
                          <a:endParaRPr sz="1600" b="0" u="none" strike="noStrike" cap="none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71384" marR="171384" marT="85692" marB="85692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600" b="0" u="none" strike="noStrike" cap="none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Micallef et al. 2006</a:t>
                          </a:r>
                          <a:endParaRPr sz="1600" b="0" u="none" strike="noStrike" cap="none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71384" marR="171384" marT="85692" marB="85692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443609"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b="0" u="none" strike="noStrike" cap="none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Mean duration of acute infection</a:t>
                          </a:r>
                        </a:p>
                      </a:txBody>
                      <a:tcPr marL="171384" marR="171384" marT="85692" marB="85692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600" b="0" u="none" strike="noStrike" cap="none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180 days</a:t>
                          </a:r>
                          <a:endParaRPr sz="1600" b="0" u="none" strike="noStrike" cap="none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71384" marR="171384" marT="85692" marB="85692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600" b="0" u="none" strike="noStrike" cap="none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Fasano et al. 2024</a:t>
                          </a:r>
                          <a:endParaRPr sz="1600" b="0" u="none" strike="noStrike" cap="none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71384" marR="171384" marT="85692" marB="85692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500415"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b="0" u="none" strike="noStrike" cap="none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Mean duration of DAA treatment</a:t>
                          </a:r>
                        </a:p>
                      </a:txBody>
                      <a:tcPr marL="171384" marR="171384" marT="85692" marB="85692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600" b="0" u="none" strike="noStrike" cap="none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84 days</a:t>
                          </a:r>
                          <a:endParaRPr sz="1600" b="0" u="none" strike="noStrike" cap="none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71384" marR="171384" marT="85692" marB="85692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600" b="0" u="none" strike="noStrike" cap="none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World Health Organization</a:t>
                          </a:r>
                          <a:endParaRPr sz="1600" b="0" u="none" strike="noStrike" cap="none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71384" marR="171384" marT="85692" marB="85692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500415"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600" b="0" u="none" strike="noStrike" cap="none" dirty="0">
                              <a:solidFill>
                                <a:srgbClr val="FF0000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Singapore genotype 3 prevalence</a:t>
                          </a:r>
                          <a:endParaRPr sz="1600" b="0" u="none" strike="noStrike" cap="none" dirty="0">
                            <a:solidFill>
                              <a:srgbClr val="FF0000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71384" marR="171384" marT="85692" marB="85692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600" b="0" u="none" strike="noStrike" cap="none" dirty="0">
                              <a:solidFill>
                                <a:srgbClr val="FF0000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0.78</a:t>
                          </a:r>
                          <a:endParaRPr sz="1600" b="0" u="none" strike="noStrike" cap="none" dirty="0">
                            <a:solidFill>
                              <a:srgbClr val="FF0000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71384" marR="171384" marT="85692" marB="85692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600" b="0" u="none" strike="noStrike" cap="none" dirty="0">
                              <a:solidFill>
                                <a:srgbClr val="FF0000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Zhao et al. 2019</a:t>
                          </a:r>
                          <a:endParaRPr sz="1600" b="0" u="none" strike="noStrike" cap="none" dirty="0">
                            <a:solidFill>
                              <a:srgbClr val="FF0000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71384" marR="171384" marT="85692" marB="85692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86616895"/>
                      </a:ext>
                    </a:extLst>
                  </a:tr>
                  <a:tr h="500415">
                    <a:tc>
                      <a:txBody>
                        <a:bodyPr/>
                        <a:lstStyle/>
                        <a:p>
                          <a:endParaRPr lang="en-CN"/>
                        </a:p>
                      </a:txBody>
                      <a:tcPr marL="171384" marR="171384" marT="85692" marB="85692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t="-592308" r="-95622" b="-33846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600" b="0" u="none" strike="noStrike" cap="none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Age–varying</a:t>
                          </a:r>
                          <a:endParaRPr sz="1600" b="0" u="none" strike="noStrike" cap="none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71384" marR="171384" marT="85692" marB="85692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600" b="0" u="none" strike="noStrike" cap="none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Fitted to </a:t>
                          </a:r>
                          <a:r>
                            <a:rPr lang="en-US" sz="1600" b="0" u="none" strike="noStrike" cap="none" dirty="0" err="1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SingStat</a:t>
                          </a:r>
                          <a:r>
                            <a:rPr lang="en-US" sz="1600" b="0" u="none" strike="noStrike" cap="none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 data</a:t>
                          </a:r>
                          <a:endParaRPr sz="1600" b="0" u="none" strike="noStrike" cap="none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71384" marR="171384" marT="85692" marB="85692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282026952"/>
                      </a:ext>
                    </a:extLst>
                  </a:tr>
                  <a:tr h="659064"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b="0" u="none" strike="noStrike" cap="none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Standardized Mortality Ratio (SMR) of ever–PWIDs relative to general population</a:t>
                          </a:r>
                        </a:p>
                      </a:txBody>
                      <a:tcPr marL="171384" marR="171384" marT="85692" marB="85692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600" b="0" u="none" strike="noStrike" cap="none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14.68</a:t>
                          </a:r>
                          <a:endParaRPr sz="1600" b="0" u="none" strike="noStrike" cap="none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71384" marR="171384" marT="85692" marB="85692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600" b="0" u="none" strike="noStrike" cap="none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Mathers et al. 2013</a:t>
                          </a:r>
                          <a:endParaRPr sz="1600" b="0" u="none" strike="noStrike" cap="none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71384" marR="171384" marT="85692" marB="85692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131072818"/>
                      </a:ext>
                    </a:extLst>
                  </a:tr>
                  <a:tr h="500415"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b="0" u="none" strike="noStrike" cap="none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Decompensated cirrhosis excess mortality rate</a:t>
                          </a:r>
                        </a:p>
                      </a:txBody>
                      <a:tcPr marL="171384" marR="171384" marT="85692" marB="85692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600" b="0" u="none" strike="noStrike" cap="none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0.13</a:t>
                          </a:r>
                          <a:endParaRPr sz="1600" b="0" u="none" strike="noStrike" cap="none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71384" marR="171384" marT="85692" marB="85692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600" b="0" u="none" strike="noStrike" cap="none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Lim et al. 2018</a:t>
                          </a:r>
                          <a:endParaRPr sz="1600" b="0" u="none" strike="noStrike" cap="none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71384" marR="171384" marT="85692" marB="85692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379540995"/>
                      </a:ext>
                    </a:extLst>
                  </a:tr>
                  <a:tr h="500415"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b="0" u="none" strike="noStrike" cap="none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Hepatocellular carcinoma excess mortality rate</a:t>
                          </a:r>
                        </a:p>
                      </a:txBody>
                      <a:tcPr marL="171384" marR="171384" marT="85692" marB="85692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600" b="0" u="none" strike="noStrike" cap="none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0.43</a:t>
                          </a:r>
                          <a:endParaRPr sz="1600" b="0" u="none" strike="noStrike" cap="none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71384" marR="171384" marT="85692" marB="85692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600" b="0" u="none" strike="noStrike" cap="none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Lim et al. 2018</a:t>
                          </a:r>
                          <a:endParaRPr sz="1600" b="0" u="none" strike="noStrike" cap="none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71384" marR="171384" marT="85692" marB="85692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18160895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572FFC0B-C813-AC8B-11E2-57EF501285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9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FB8DCEA-C243-EA68-7B8E-D36DBB652B59}"/>
              </a:ext>
            </a:extLst>
          </p:cNvPr>
          <p:cNvSpPr txBox="1"/>
          <p:nvPr/>
        </p:nvSpPr>
        <p:spPr>
          <a:xfrm>
            <a:off x="670559" y="6614252"/>
            <a:ext cx="10850880" cy="1743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533"/>
              </a:spcAft>
            </a:pPr>
            <a:r>
              <a:rPr lang="en-US" sz="1133" b="1" dirty="0">
                <a:solidFill>
                  <a:srgbClr val="595959"/>
                </a:solidFill>
                <a:latin typeface="Arial"/>
              </a:rPr>
              <a:t>DAA: Direct–acting antiviral;</a:t>
            </a:r>
            <a:endParaRPr sz="1133" dirty="0">
              <a:solidFill>
                <a:srgbClr val="595959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1591637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600" y="341376"/>
            <a:ext cx="1097280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533"/>
              </a:spcAft>
            </a:pPr>
            <a:r>
              <a:rPr lang="en-US" sz="2800" b="1" dirty="0">
                <a:solidFill>
                  <a:srgbClr val="05455E"/>
                </a:solidFill>
                <a:latin typeface="Arial"/>
              </a:rPr>
              <a:t>Recidivism and release survival curve</a:t>
            </a:r>
            <a:endParaRPr sz="2800" b="1" dirty="0">
              <a:solidFill>
                <a:srgbClr val="05455E"/>
              </a:solidFill>
              <a:latin typeface="Arial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633984" y="1072896"/>
            <a:ext cx="1828800" cy="67056"/>
          </a:xfrm>
          <a:prstGeom prst="rect">
            <a:avLst/>
          </a:prstGeom>
          <a:solidFill>
            <a:srgbClr val="0097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" name="TextBox 3"/>
          <p:cNvSpPr txBox="1"/>
          <p:nvPr/>
        </p:nvSpPr>
        <p:spPr>
          <a:xfrm>
            <a:off x="633983" y="4988489"/>
            <a:ext cx="9748267" cy="132690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304792" indent="-243834">
              <a:lnSpc>
                <a:spcPct val="105000"/>
              </a:lnSpc>
              <a:spcAft>
                <a:spcPts val="1067"/>
              </a:spcAft>
              <a:buChar char="•"/>
            </a:pPr>
            <a:r>
              <a:rPr lang="en-US" sz="1867" dirty="0">
                <a:solidFill>
                  <a:srgbClr val="1A1A1A"/>
                </a:solidFill>
                <a:latin typeface="Arial"/>
              </a:rPr>
              <a:t>Estimated from a</a:t>
            </a:r>
            <a:r>
              <a:rPr sz="1867" dirty="0">
                <a:solidFill>
                  <a:srgbClr val="1A1A1A"/>
                </a:solidFill>
                <a:latin typeface="Arial"/>
              </a:rPr>
              <a:t>rrest and release records spanning </a:t>
            </a:r>
            <a:r>
              <a:rPr lang="en-US" sz="1867" dirty="0">
                <a:solidFill>
                  <a:srgbClr val="1A1A1A"/>
                </a:solidFill>
                <a:latin typeface="Arial"/>
              </a:rPr>
              <a:t>Jan 2007 </a:t>
            </a:r>
            <a:r>
              <a:rPr sz="1867" dirty="0">
                <a:solidFill>
                  <a:srgbClr val="1A1A1A"/>
                </a:solidFill>
                <a:latin typeface="Arial"/>
              </a:rPr>
              <a:t>– </a:t>
            </a:r>
            <a:r>
              <a:rPr lang="en-US" sz="1867" dirty="0">
                <a:solidFill>
                  <a:srgbClr val="1A1A1A"/>
                </a:solidFill>
                <a:latin typeface="Arial"/>
              </a:rPr>
              <a:t>Dec</a:t>
            </a:r>
            <a:r>
              <a:rPr sz="1867" dirty="0">
                <a:solidFill>
                  <a:srgbClr val="1A1A1A"/>
                </a:solidFill>
                <a:latin typeface="Arial"/>
              </a:rPr>
              <a:t> 2017</a:t>
            </a:r>
            <a:r>
              <a:rPr lang="en-US" sz="1867" dirty="0">
                <a:solidFill>
                  <a:srgbClr val="1A1A1A"/>
                </a:solidFill>
                <a:latin typeface="Arial"/>
              </a:rPr>
              <a:t> Singapore prison data.</a:t>
            </a:r>
          </a:p>
          <a:p>
            <a:pPr marL="304792" indent="-243834">
              <a:lnSpc>
                <a:spcPct val="105000"/>
              </a:lnSpc>
              <a:spcAft>
                <a:spcPts val="1067"/>
              </a:spcAft>
              <a:buChar char="•"/>
            </a:pPr>
            <a:r>
              <a:rPr lang="en-US" sz="1867" dirty="0">
                <a:solidFill>
                  <a:srgbClr val="1A1A1A"/>
                </a:solidFill>
                <a:latin typeface="Arial"/>
              </a:rPr>
              <a:t>Recidivism risk after release </a:t>
            </a:r>
            <a:r>
              <a:rPr lang="en-US" sz="1867" dirty="0">
                <a:solidFill>
                  <a:srgbClr val="FF0000"/>
                </a:solidFill>
                <a:latin typeface="Arial"/>
              </a:rPr>
              <a:t>peaks at ages 40–49</a:t>
            </a:r>
            <a:r>
              <a:rPr lang="en-US" sz="1867" dirty="0">
                <a:solidFill>
                  <a:srgbClr val="1A1A1A"/>
                </a:solidFill>
                <a:latin typeface="Arial"/>
              </a:rPr>
              <a:t>, while </a:t>
            </a:r>
            <a:r>
              <a:rPr lang="en-US" sz="1867" dirty="0">
                <a:solidFill>
                  <a:srgbClr val="FF0000"/>
                </a:solidFill>
                <a:latin typeface="Arial"/>
              </a:rPr>
              <a:t>PWIDs under 20 </a:t>
            </a:r>
            <a:r>
              <a:rPr lang="en-US" sz="1867" dirty="0">
                <a:solidFill>
                  <a:srgbClr val="1A1A1A"/>
                </a:solidFill>
                <a:latin typeface="Arial"/>
              </a:rPr>
              <a:t>had the longest community intervals before re–arrest.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59635A8-07C0-0BFE-00CB-CA89FDD489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10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29EC729-9C00-BC05-4E0A-6C37F82898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2494" y="1164627"/>
            <a:ext cx="8287011" cy="379821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600" y="341376"/>
            <a:ext cx="1097280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533"/>
              </a:spcAft>
            </a:pPr>
            <a:r>
              <a:rPr lang="en-US" sz="2800" b="1" dirty="0">
                <a:solidFill>
                  <a:srgbClr val="05455E"/>
                </a:solidFill>
                <a:latin typeface="Arial"/>
              </a:rPr>
              <a:t>Model calibration</a:t>
            </a:r>
            <a:endParaRPr sz="2800" b="1" dirty="0">
              <a:solidFill>
                <a:srgbClr val="05455E"/>
              </a:solidFill>
              <a:latin typeface="Arial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633984" y="1072896"/>
            <a:ext cx="1828800" cy="67056"/>
          </a:xfrm>
          <a:prstGeom prst="rect">
            <a:avLst/>
          </a:prstGeom>
          <a:solidFill>
            <a:srgbClr val="0097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E3C242-CEDB-C249-E2FA-77B77C0711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11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333FC52-EADF-4C2C-52C3-8F7E5F3A7FDF}"/>
              </a:ext>
            </a:extLst>
          </p:cNvPr>
          <p:cNvSpPr txBox="1"/>
          <p:nvPr/>
        </p:nvSpPr>
        <p:spPr>
          <a:xfrm>
            <a:off x="670560" y="6601953"/>
            <a:ext cx="10850880" cy="1743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533"/>
              </a:spcAft>
            </a:pPr>
            <a:r>
              <a:rPr lang="en-US" sz="1133" b="1" dirty="0">
                <a:solidFill>
                  <a:srgbClr val="595959"/>
                </a:solidFill>
                <a:latin typeface="Arial"/>
              </a:rPr>
              <a:t>PWID: people who inject drugs</a:t>
            </a:r>
            <a:r>
              <a:rPr lang="en-US" sz="1133" dirty="0">
                <a:solidFill>
                  <a:srgbClr val="595959"/>
                </a:solidFill>
                <a:latin typeface="Arial"/>
              </a:rPr>
              <a:t>; </a:t>
            </a:r>
          </a:p>
        </p:txBody>
      </p:sp>
      <p:pic>
        <p:nvPicPr>
          <p:cNvPr id="6" name="Picture 5" descr="A screenshot of a graph&#10;&#10;AI-generated content may be incorrect.">
            <a:extLst>
              <a:ext uri="{FF2B5EF4-FFF2-40B4-BE49-F238E27FC236}">
                <a16:creationId xmlns:a16="http://schemas.microsoft.com/office/drawing/2014/main" id="{B06DFACF-DA8C-FEC5-648B-17274E3252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8720" y="1139952"/>
            <a:ext cx="8934559" cy="483955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2B42CF6-3AAA-99E9-39B0-518CD8E4F25E}"/>
              </a:ext>
            </a:extLst>
          </p:cNvPr>
          <p:cNvSpPr txBox="1"/>
          <p:nvPr/>
        </p:nvSpPr>
        <p:spPr>
          <a:xfrm>
            <a:off x="489858" y="5837317"/>
            <a:ext cx="11464018" cy="58246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60958">
              <a:lnSpc>
                <a:spcPct val="105000"/>
              </a:lnSpc>
              <a:spcAft>
                <a:spcPts val="1067"/>
              </a:spcAft>
            </a:pPr>
            <a:r>
              <a:rPr lang="en-US" sz="1867" dirty="0">
                <a:latin typeface="Arial" panose="020B0604020202020204" pitchFamily="34" charset="0"/>
                <a:cs typeface="Arial" panose="020B0604020202020204" pitchFamily="34" charset="0"/>
              </a:rPr>
              <a:t>Age-specific HCV seroprevalence and prison population were calibrated against Feb 2014-Dec 2016 Singapore Changi prison HCV screening data.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89B4DA-BE3B-4501-408D-E31C19D114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0FC3CB6-BD50-E3C2-A385-151661403C53}"/>
              </a:ext>
            </a:extLst>
          </p:cNvPr>
          <p:cNvSpPr txBox="1"/>
          <p:nvPr/>
        </p:nvSpPr>
        <p:spPr>
          <a:xfrm>
            <a:off x="609600" y="341377"/>
            <a:ext cx="1097280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533"/>
              </a:spcAft>
            </a:pPr>
            <a:r>
              <a:rPr lang="en-US" sz="2800" b="1" dirty="0">
                <a:solidFill>
                  <a:srgbClr val="05455E"/>
                </a:solidFill>
                <a:latin typeface="Arial"/>
              </a:rPr>
              <a:t>Model predictions at 2017</a:t>
            </a:r>
            <a:endParaRPr sz="2800" b="1" dirty="0">
              <a:solidFill>
                <a:srgbClr val="05455E"/>
              </a:solidFill>
              <a:latin typeface="Arial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46CFD7D-9D82-844E-5035-211F3726F9F5}"/>
              </a:ext>
            </a:extLst>
          </p:cNvPr>
          <p:cNvSpPr/>
          <p:nvPr/>
        </p:nvSpPr>
        <p:spPr>
          <a:xfrm>
            <a:off x="633984" y="1072896"/>
            <a:ext cx="1828800" cy="67056"/>
          </a:xfrm>
          <a:prstGeom prst="rect">
            <a:avLst/>
          </a:prstGeom>
          <a:solidFill>
            <a:srgbClr val="0097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graphicFrame>
        <p:nvGraphicFramePr>
          <p:cNvPr id="10" name="Google Shape;334;p46">
            <a:extLst>
              <a:ext uri="{FF2B5EF4-FFF2-40B4-BE49-F238E27FC236}">
                <a16:creationId xmlns:a16="http://schemas.microsoft.com/office/drawing/2014/main" id="{F19596F9-37FB-28DE-F113-A175C6A4847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84677779"/>
              </p:ext>
            </p:extLst>
          </p:nvPr>
        </p:nvGraphicFramePr>
        <p:xfrm>
          <a:off x="682750" y="1212205"/>
          <a:ext cx="10753994" cy="34121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9806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213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51924">
                  <a:extLst>
                    <a:ext uri="{9D8B030D-6E8A-4147-A177-3AD203B41FA5}">
                      <a16:colId xmlns:a16="http://schemas.microsoft.com/office/drawing/2014/main" val="909906734"/>
                    </a:ext>
                  </a:extLst>
                </a:gridCol>
              </a:tblGrid>
              <a:tr h="425281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Stratum</a:t>
                      </a:r>
                      <a:endParaRPr sz="1600" b="1" u="none" strike="noStrike" cap="non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71384" marR="171384" marT="85692" marB="8569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b="1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Total population</a:t>
                      </a:r>
                      <a:r>
                        <a:rPr lang="zh-CN" altLang="en-US" sz="1600" b="1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CN" sz="1600" b="1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(95%</a:t>
                      </a:r>
                      <a:r>
                        <a:rPr lang="zh-CN" altLang="en-US" sz="1600" b="1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CN" sz="1600" b="1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BCI)</a:t>
                      </a:r>
                      <a:endParaRPr sz="1600" b="1" u="none" strike="noStrike" cap="non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71384" marR="171384" marT="85692" marB="8569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Active HCV cases (95% BCI)</a:t>
                      </a:r>
                      <a:endParaRPr sz="1600" b="1" u="none" strike="noStrike" cap="non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71384" marR="171384" marT="85692" marB="8569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6739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u="none" strike="noStrike" cap="none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Never–incarcerated PWID (D)</a:t>
                      </a:r>
                    </a:p>
                  </a:txBody>
                  <a:tcPr marL="171384" marR="171384" marT="85692" marB="8569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3,734 (3,436–4,069)</a:t>
                      </a:r>
                      <a:endParaRPr sz="1600" b="0" u="none" strike="noStrike" cap="non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71384" marR="171384" marT="85692" marB="8569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975 (869–1,090)</a:t>
                      </a:r>
                      <a:endParaRPr sz="1600" b="0" u="none" strike="noStrike" cap="non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71384" marR="171384" marT="85692" marB="8569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5281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Incarcerated PWID (J)</a:t>
                      </a:r>
                    </a:p>
                  </a:txBody>
                  <a:tcPr marL="171384" marR="171384" marT="85692" marB="8569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6,618 (6,101–7,290)</a:t>
                      </a:r>
                      <a:endParaRPr sz="1600" b="0" u="none" strike="noStrike" cap="non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71384" marR="171384" marT="85692" marB="8569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2,341 (2,118–2,617)</a:t>
                      </a:r>
                      <a:endParaRPr sz="1600" b="0" u="none" strike="noStrike" cap="non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71384" marR="171384" marT="85692" marB="8569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3609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Formerly–incarcerated PWID (F)</a:t>
                      </a:r>
                    </a:p>
                  </a:txBody>
                  <a:tcPr marL="171384" marR="171384" marT="85692" marB="8569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2,954 (2,715–3,264)</a:t>
                      </a:r>
                      <a:endParaRPr sz="1600" b="0" u="none" strike="noStrike" cap="non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71384" marR="171384" marT="85692" marB="8569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1,366 (1,247–1,506)</a:t>
                      </a:r>
                      <a:endParaRPr sz="1600" b="0" u="none" strike="noStrike" cap="non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71384" marR="171384" marT="85692" marB="8569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0415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Formerly–incarcerated ex–PWID (X)</a:t>
                      </a:r>
                    </a:p>
                  </a:txBody>
                  <a:tcPr marL="171384" marR="171384" marT="85692" marB="8569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26,243 (23,717–29,624)</a:t>
                      </a:r>
                      <a:endParaRPr sz="1600" b="0" u="none" strike="noStrike" cap="non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71384" marR="171384" marT="85692" marB="8569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6,342 (5,741–7,100)</a:t>
                      </a:r>
                      <a:endParaRPr sz="1600" b="0" u="none" strike="noStrike" cap="non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71384" marR="171384" marT="85692" marB="8569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041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u="none" strike="noStrike" cap="none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Current PWID (D + F)</a:t>
                      </a:r>
                    </a:p>
                  </a:txBody>
                  <a:tcPr marL="171384" marR="171384" marT="85692" marB="8569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u="none" strike="noStrike" cap="none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6,688 (6,151–7,333)</a:t>
                      </a:r>
                      <a:endParaRPr sz="1600" b="0" u="none" strike="noStrike" cap="none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71384" marR="171384" marT="85692" marB="8569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2,341 (2,116–2,596)</a:t>
                      </a:r>
                      <a:endParaRPr sz="1600" b="0" u="none" strike="noStrike" cap="non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71384" marR="171384" marT="85692" marB="8569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09122847"/>
                  </a:ext>
                </a:extLst>
              </a:tr>
              <a:tr h="50041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Ever-PWID (D + J + F + X)</a:t>
                      </a:r>
                    </a:p>
                  </a:txBody>
                  <a:tcPr marL="171384" marR="171384" marT="85692" marB="8569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u="none" strike="noStrike" cap="none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39,561 (36,140–44,078)</a:t>
                      </a:r>
                      <a:endParaRPr sz="1600" b="0" u="none" strike="noStrike" cap="none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71384" marR="171384" marT="85692" marB="8569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11,065 (10,006––12,285)</a:t>
                      </a:r>
                      <a:endParaRPr sz="1600" b="0" u="none" strike="noStrike" cap="non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71384" marR="171384" marT="85692" marB="8569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36233403"/>
                  </a:ext>
                </a:extLst>
              </a:tr>
            </a:tbl>
          </a:graphicData>
        </a:graphic>
      </p:graphicFrame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B973100D-9D2A-5BC0-2E1A-DE237421B2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12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960D744-37AE-4A68-DF37-07EA74BB0634}"/>
              </a:ext>
            </a:extLst>
          </p:cNvPr>
          <p:cNvSpPr txBox="1"/>
          <p:nvPr/>
        </p:nvSpPr>
        <p:spPr>
          <a:xfrm>
            <a:off x="670559" y="6614252"/>
            <a:ext cx="10850880" cy="1743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533"/>
              </a:spcAft>
            </a:pPr>
            <a:r>
              <a:rPr lang="en-US" sz="1133" b="1" dirty="0">
                <a:solidFill>
                  <a:srgbClr val="595959"/>
                </a:solidFill>
                <a:latin typeface="Arial"/>
              </a:rPr>
              <a:t>PWID: People who inject drugs;</a:t>
            </a:r>
            <a:endParaRPr sz="1133" dirty="0">
              <a:solidFill>
                <a:srgbClr val="595959"/>
              </a:solidFill>
              <a:latin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6AAD3B7-9D75-214B-44B5-7EF380A161F7}"/>
              </a:ext>
            </a:extLst>
          </p:cNvPr>
          <p:cNvSpPr txBox="1"/>
          <p:nvPr/>
        </p:nvSpPr>
        <p:spPr>
          <a:xfrm>
            <a:off x="682750" y="4647348"/>
            <a:ext cx="10753994" cy="2007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304792" indent="-243834">
              <a:lnSpc>
                <a:spcPct val="105000"/>
              </a:lnSpc>
              <a:spcAft>
                <a:spcPts val="1067"/>
              </a:spcAft>
              <a:buChar char="•"/>
            </a:pPr>
            <a:r>
              <a:rPr lang="en-US" dirty="0">
                <a:solidFill>
                  <a:srgbClr val="1A1A1A"/>
                </a:solidFill>
                <a:latin typeface="Arial"/>
              </a:rPr>
              <a:t>Around 6,700 current PWIDs were estimated in 2017, with active HCV prevalence of approximately 35%.</a:t>
            </a:r>
          </a:p>
          <a:p>
            <a:pPr marL="304792" indent="-243834">
              <a:lnSpc>
                <a:spcPct val="105000"/>
              </a:lnSpc>
              <a:spcAft>
                <a:spcPts val="1067"/>
              </a:spcAft>
              <a:buChar char="•"/>
            </a:pPr>
            <a:r>
              <a:rPr lang="en-US" dirty="0">
                <a:solidFill>
                  <a:srgbClr val="1A1A1A"/>
                </a:solidFill>
                <a:latin typeface="Arial"/>
              </a:rPr>
              <a:t>Formerly-incarcerated current PWIDs (F) had the highest HCV prevalence (~46%), indicating a high-burden group around the prison-community transition.</a:t>
            </a:r>
          </a:p>
          <a:p>
            <a:pPr marL="304792" indent="-243834">
              <a:lnSpc>
                <a:spcPct val="105000"/>
              </a:lnSpc>
              <a:spcAft>
                <a:spcPts val="1067"/>
              </a:spcAft>
              <a:buChar char="•"/>
            </a:pPr>
            <a:r>
              <a:rPr lang="en-US" dirty="0">
                <a:solidFill>
                  <a:srgbClr val="1A1A1A"/>
                </a:solidFill>
                <a:latin typeface="Arial"/>
              </a:rPr>
              <a:t>Former PWIDs (X) accounted for the largest absolute HCV burden due to much larger population size, leaving a substantial residual community reservoir.</a:t>
            </a:r>
          </a:p>
        </p:txBody>
      </p:sp>
    </p:spTree>
    <p:extLst>
      <p:ext uri="{BB962C8B-B14F-4D97-AF65-F5344CB8AC3E}">
        <p14:creationId xmlns:p14="http://schemas.microsoft.com/office/powerpoint/2010/main" val="16292808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CEA90F-234A-CECF-F0AD-3706BC42D2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6A664DF-B77F-E519-111D-5E54E016AD1C}"/>
              </a:ext>
            </a:extLst>
          </p:cNvPr>
          <p:cNvSpPr txBox="1"/>
          <p:nvPr/>
        </p:nvSpPr>
        <p:spPr>
          <a:xfrm>
            <a:off x="609600" y="341377"/>
            <a:ext cx="1097280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533"/>
              </a:spcAft>
            </a:pPr>
            <a:r>
              <a:rPr lang="en-US" sz="2800" b="1" dirty="0">
                <a:solidFill>
                  <a:srgbClr val="05455E"/>
                </a:solidFill>
                <a:latin typeface="Arial"/>
              </a:rPr>
              <a:t>Treatment</a:t>
            </a:r>
            <a:endParaRPr sz="2800" b="1" dirty="0">
              <a:solidFill>
                <a:srgbClr val="05455E"/>
              </a:solidFill>
              <a:latin typeface="Arial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16C0A86-8BD7-7124-CAB1-5B353D47FDAE}"/>
              </a:ext>
            </a:extLst>
          </p:cNvPr>
          <p:cNvSpPr/>
          <p:nvPr/>
        </p:nvSpPr>
        <p:spPr>
          <a:xfrm>
            <a:off x="633984" y="1072896"/>
            <a:ext cx="1828800" cy="67056"/>
          </a:xfrm>
          <a:prstGeom prst="rect">
            <a:avLst/>
          </a:prstGeom>
          <a:solidFill>
            <a:srgbClr val="0097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02D832D-4B1C-CDF4-F8AD-093C28B0D6B8}"/>
              </a:ext>
            </a:extLst>
          </p:cNvPr>
          <p:cNvSpPr txBox="1"/>
          <p:nvPr/>
        </p:nvSpPr>
        <p:spPr>
          <a:xfrm>
            <a:off x="633984" y="3526933"/>
            <a:ext cx="10850880" cy="27962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304792" indent="-243834">
              <a:lnSpc>
                <a:spcPct val="105000"/>
              </a:lnSpc>
              <a:spcAft>
                <a:spcPts val="1067"/>
              </a:spcAft>
              <a:buFontTx/>
              <a:buChar char="•"/>
            </a:pPr>
            <a:r>
              <a:rPr lang="en-US" sz="1867" dirty="0">
                <a:latin typeface="Arial" panose="020B0604020202020204" pitchFamily="34" charset="0"/>
                <a:cs typeface="Arial" panose="020B0604020202020204" pitchFamily="34" charset="0"/>
              </a:rPr>
              <a:t>Treatment </a:t>
            </a:r>
            <a:r>
              <a:rPr lang="en-US" sz="1867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lasts 12 weeks, with no immunity assumed</a:t>
            </a:r>
            <a:r>
              <a:rPr lang="zh-CN" altLang="en-US" sz="1867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867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following recovery</a:t>
            </a:r>
            <a:r>
              <a:rPr lang="en-US" sz="1867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304792" indent="-243834">
              <a:lnSpc>
                <a:spcPct val="105000"/>
              </a:lnSpc>
              <a:spcAft>
                <a:spcPts val="1067"/>
              </a:spcAft>
              <a:buFontTx/>
              <a:buChar char="•"/>
            </a:pPr>
            <a:r>
              <a:rPr lang="en-US" sz="1867" dirty="0">
                <a:latin typeface="Arial" panose="020B0604020202020204" pitchFamily="34" charset="0"/>
                <a:cs typeface="Arial" panose="020B0604020202020204" pitchFamily="34" charset="0"/>
              </a:rPr>
              <a:t>Successful treatment leads to </a:t>
            </a:r>
            <a:r>
              <a:rPr lang="en-US" sz="1867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sustained virological response after 12 weeks (SVR12)</a:t>
            </a:r>
            <a:r>
              <a:rPr lang="en-US" sz="1867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 marL="304792" indent="-243834">
              <a:lnSpc>
                <a:spcPct val="105000"/>
              </a:lnSpc>
              <a:spcAft>
                <a:spcPts val="1067"/>
              </a:spcAft>
              <a:buFontTx/>
              <a:buChar char="•"/>
            </a:pPr>
            <a:r>
              <a:rPr lang="en-US" sz="1867" dirty="0">
                <a:latin typeface="Arial" panose="020B0604020202020204" pitchFamily="34" charset="0"/>
                <a:cs typeface="Arial" panose="020B0604020202020204" pitchFamily="34" charset="0"/>
              </a:rPr>
              <a:t>After achieving SVR12:</a:t>
            </a:r>
          </a:p>
          <a:p>
            <a:pPr marL="914377" lvl="1" indent="-243834">
              <a:lnSpc>
                <a:spcPct val="105000"/>
              </a:lnSpc>
              <a:spcAft>
                <a:spcPts val="1067"/>
              </a:spcAft>
              <a:buFontTx/>
              <a:buChar char="•"/>
            </a:pPr>
            <a:r>
              <a:rPr lang="en-US" sz="1867" dirty="0">
                <a:latin typeface="Arial" panose="020B0604020202020204" pitchFamily="34" charset="0"/>
                <a:cs typeface="Arial" panose="020B0604020202020204" pitchFamily="34" charset="0"/>
              </a:rPr>
              <a:t>Progression is assumed to stop in non–cirrhotic PWIDs and slows in cirrhotic PWIDs until reinfection.</a:t>
            </a:r>
          </a:p>
          <a:p>
            <a:pPr marL="914377" lvl="1" indent="-243834">
              <a:lnSpc>
                <a:spcPct val="105000"/>
              </a:lnSpc>
              <a:spcAft>
                <a:spcPts val="1067"/>
              </a:spcAft>
              <a:buFontTx/>
              <a:buChar char="•"/>
            </a:pPr>
            <a:r>
              <a:rPr lang="en-US" sz="1867" dirty="0">
                <a:latin typeface="Arial" panose="020B0604020202020204" pitchFamily="34" charset="0"/>
                <a:cs typeface="Arial" panose="020B0604020202020204" pitchFamily="34" charset="0"/>
              </a:rPr>
              <a:t>Survival improves for DC and HCC stages.</a:t>
            </a:r>
          </a:p>
          <a:p>
            <a:pPr marL="304792" indent="-243834">
              <a:lnSpc>
                <a:spcPct val="105000"/>
              </a:lnSpc>
              <a:spcAft>
                <a:spcPts val="1067"/>
              </a:spcAft>
              <a:buFontTx/>
              <a:buChar char="•"/>
            </a:pPr>
            <a:r>
              <a:rPr lang="en-US" sz="1867" dirty="0">
                <a:latin typeface="Arial" panose="020B0604020202020204" pitchFamily="34" charset="0"/>
                <a:cs typeface="Arial" panose="020B0604020202020204" pitchFamily="34" charset="0"/>
              </a:rPr>
              <a:t>SVR12 rates vary by disease stage and treatment regimen based on clinical evidence.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7F78223-DD87-1033-EAAB-FDBECF8A32E7}"/>
              </a:ext>
            </a:extLst>
          </p:cNvPr>
          <p:cNvSpPr txBox="1"/>
          <p:nvPr/>
        </p:nvSpPr>
        <p:spPr>
          <a:xfrm>
            <a:off x="670559" y="6614252"/>
            <a:ext cx="10850880" cy="1743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533"/>
              </a:spcAft>
            </a:pPr>
            <a:r>
              <a:rPr lang="en-US" sz="1133" b="1" dirty="0">
                <a:solidFill>
                  <a:srgbClr val="595959"/>
                </a:solidFill>
                <a:latin typeface="Arial"/>
              </a:rPr>
              <a:t>PWID: people who inject drugs; DC: decompensated cirrhosis; HCC: hepatocellular carcinoma;</a:t>
            </a:r>
            <a:r>
              <a:rPr lang="en-US" sz="1133" dirty="0">
                <a:solidFill>
                  <a:srgbClr val="595959"/>
                </a:solidFill>
                <a:latin typeface="Arial"/>
              </a:rPr>
              <a:t> An et al. 2022; </a:t>
            </a:r>
            <a:r>
              <a:rPr lang="en-US" sz="1133" dirty="0" err="1">
                <a:solidFill>
                  <a:srgbClr val="595959"/>
                </a:solidFill>
                <a:latin typeface="Arial"/>
              </a:rPr>
              <a:t>Pawlotsky</a:t>
            </a:r>
            <a:r>
              <a:rPr lang="en-US" sz="1133" dirty="0">
                <a:solidFill>
                  <a:srgbClr val="595959"/>
                </a:solidFill>
                <a:latin typeface="Arial"/>
              </a:rPr>
              <a:t> et al. 2020; Morgan et al. 2013;</a:t>
            </a:r>
            <a:endParaRPr sz="1133" dirty="0">
              <a:solidFill>
                <a:srgbClr val="595959"/>
              </a:solidFill>
              <a:latin typeface="Arial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D9231BE-56BE-E0F7-5424-38507523CE92}"/>
              </a:ext>
            </a:extLst>
          </p:cNvPr>
          <p:cNvGrpSpPr/>
          <p:nvPr/>
        </p:nvGrpSpPr>
        <p:grpSpPr>
          <a:xfrm>
            <a:off x="4354990" y="870192"/>
            <a:ext cx="3408869" cy="2460877"/>
            <a:chOff x="5671079" y="854964"/>
            <a:chExt cx="2556652" cy="1845658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C59CAA0B-9494-7F9C-D31B-F25D4935166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726431" y="906460"/>
              <a:ext cx="2501300" cy="1769722"/>
            </a:xfrm>
            <a:prstGeom prst="rect">
              <a:avLst/>
            </a:prstGeom>
          </p:spPr>
        </p:pic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3C00E89A-A602-8D40-DE34-E93DD9CF433B}"/>
                </a:ext>
              </a:extLst>
            </p:cNvPr>
            <p:cNvSpPr/>
            <p:nvPr/>
          </p:nvSpPr>
          <p:spPr>
            <a:xfrm>
              <a:off x="5671079" y="854964"/>
              <a:ext cx="2556652" cy="1845658"/>
            </a:xfrm>
            <a:prstGeom prst="rect">
              <a:avLst/>
            </a:prstGeom>
            <a:noFill/>
            <a:ln w="381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sz="2400"/>
            </a:p>
          </p:txBody>
        </p:sp>
      </p:grp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8A17F5BE-5212-2038-CB2A-6F7DD8CB2F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28581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83D8D1-6391-4212-96CF-73DF38DF7F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BA12D51-7669-0F34-625E-9A49FC73180C}"/>
              </a:ext>
            </a:extLst>
          </p:cNvPr>
          <p:cNvSpPr txBox="1"/>
          <p:nvPr/>
        </p:nvSpPr>
        <p:spPr>
          <a:xfrm>
            <a:off x="609600" y="341377"/>
            <a:ext cx="1097280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533"/>
              </a:spcAft>
            </a:pPr>
            <a:r>
              <a:rPr lang="en-US" sz="2800" b="1" dirty="0">
                <a:solidFill>
                  <a:srgbClr val="05455E"/>
                </a:solidFill>
                <a:latin typeface="Arial"/>
              </a:rPr>
              <a:t>Current t</a:t>
            </a:r>
            <a:r>
              <a:rPr sz="2800" b="1" dirty="0">
                <a:solidFill>
                  <a:srgbClr val="05455E"/>
                </a:solidFill>
                <a:latin typeface="Arial"/>
              </a:rPr>
              <a:t>reatment </a:t>
            </a:r>
            <a:r>
              <a:rPr lang="en-US" sz="2800" b="1" dirty="0">
                <a:solidFill>
                  <a:srgbClr val="05455E"/>
                </a:solidFill>
                <a:latin typeface="Arial"/>
              </a:rPr>
              <a:t>scenarios</a:t>
            </a:r>
            <a:r>
              <a:rPr lang="zh-CN" altLang="en-US" sz="2800" b="1" dirty="0">
                <a:solidFill>
                  <a:srgbClr val="05455E"/>
                </a:solidFill>
                <a:latin typeface="Arial"/>
              </a:rPr>
              <a:t> </a:t>
            </a:r>
            <a:r>
              <a:rPr lang="en-US" altLang="zh-CN" sz="2800" b="1" dirty="0">
                <a:solidFill>
                  <a:srgbClr val="05455E"/>
                </a:solidFill>
                <a:latin typeface="Arial"/>
              </a:rPr>
              <a:t>design</a:t>
            </a:r>
            <a:endParaRPr sz="2800" b="1" dirty="0">
              <a:solidFill>
                <a:srgbClr val="05455E"/>
              </a:solidFill>
              <a:latin typeface="Arial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3381C83-9EAF-16A6-D973-987784171A37}"/>
              </a:ext>
            </a:extLst>
          </p:cNvPr>
          <p:cNvSpPr/>
          <p:nvPr/>
        </p:nvSpPr>
        <p:spPr>
          <a:xfrm>
            <a:off x="633984" y="1072896"/>
            <a:ext cx="1828800" cy="67056"/>
          </a:xfrm>
          <a:prstGeom prst="rect">
            <a:avLst/>
          </a:prstGeom>
          <a:solidFill>
            <a:srgbClr val="0097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graphicFrame>
        <p:nvGraphicFramePr>
          <p:cNvPr id="7" name="Google Shape;334;p46">
            <a:extLst>
              <a:ext uri="{FF2B5EF4-FFF2-40B4-BE49-F238E27FC236}">
                <a16:creationId xmlns:a16="http://schemas.microsoft.com/office/drawing/2014/main" id="{36611379-1CAF-B4F1-1345-F2F9A6B5DD0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24266042"/>
              </p:ext>
            </p:extLst>
          </p:nvPr>
        </p:nvGraphicFramePr>
        <p:xfrm>
          <a:off x="682751" y="1212205"/>
          <a:ext cx="10826496" cy="25214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0989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275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6184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Parameters</a:t>
                      </a:r>
                      <a:endParaRPr sz="2000" b="1" u="none" strike="noStrike" cap="non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71384" marR="171384" marT="85692" marB="856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 b="1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Value</a:t>
                      </a:r>
                      <a:r>
                        <a:rPr lang="en-US" sz="2000" b="1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(e.g.)</a:t>
                      </a:r>
                      <a:endParaRPr sz="2000" b="1" u="none" strike="noStrike" cap="non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71384" marR="171384" marT="85692" marB="856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9402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0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Treatment minimum age</a:t>
                      </a:r>
                      <a:endParaRPr sz="2000" b="0" u="none" strike="noStrike" cap="non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71384" marR="171384" marT="85692" marB="856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0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40, 50, 60</a:t>
                      </a:r>
                      <a:endParaRPr sz="2000" b="0" u="none" strike="noStrike" cap="non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71384" marR="171384" marT="85692" marB="856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99084591"/>
                  </a:ext>
                </a:extLst>
              </a:tr>
              <a:tr h="47471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0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Treatment regimen choice for DC/HCC</a:t>
                      </a:r>
                      <a:endParaRPr sz="2000" b="0" u="none" strike="noStrike" cap="non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71384" marR="171384" marT="85692" marB="856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0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SOF/VEL+RBV, SOF/VEL* (12 weeks)</a:t>
                      </a:r>
                      <a:endParaRPr sz="2000" b="0" u="none" strike="noStrike" cap="non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71384" marR="171384" marT="85692" marB="856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115898"/>
                  </a:ext>
                </a:extLst>
              </a:tr>
              <a:tr h="616739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0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Disease–stage–specific recruitment rates</a:t>
                      </a:r>
                      <a:endParaRPr sz="2000" b="0" u="none" strike="noStrike" cap="non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71384" marR="171384" marT="85692" marB="856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0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Equal, Early-/Late- stage </a:t>
                      </a:r>
                      <a:r>
                        <a:rPr lang="en-US" sz="2000" b="0" u="none" strike="noStrike" cap="none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priortirised</a:t>
                      </a:r>
                      <a:endParaRPr sz="2000" b="0" u="none" strike="noStrike" cap="non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71384" marR="171384" marT="85692" marB="856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6184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2000" b="0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Delivery setting</a:t>
                      </a:r>
                      <a:endParaRPr sz="2000" b="0" u="none" strike="noStrike" cap="non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71384" marR="171384" marT="85692" marB="856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0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prison–, community–, mixed–based</a:t>
                      </a:r>
                      <a:endParaRPr sz="2000" b="0" u="none" strike="noStrike" cap="non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71384" marR="171384" marT="85692" marB="856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FB97090-3871-1A85-4E91-25EFE494F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14</a:t>
            </a:fld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B677281-7915-7DF4-6BA7-C8F9D3724AE2}"/>
              </a:ext>
            </a:extLst>
          </p:cNvPr>
          <p:cNvSpPr txBox="1"/>
          <p:nvPr/>
        </p:nvSpPr>
        <p:spPr>
          <a:xfrm>
            <a:off x="670559" y="6312912"/>
            <a:ext cx="10850880" cy="5436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533"/>
              </a:spcAft>
            </a:pPr>
            <a:r>
              <a:rPr lang="en-US" sz="1200" b="1" dirty="0">
                <a:solidFill>
                  <a:srgbClr val="1A1A1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*SOF: </a:t>
            </a:r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sofosbuvir; VEL: </a:t>
            </a:r>
            <a:r>
              <a:rPr lang="en-US" sz="1200" b="1" dirty="0" err="1">
                <a:latin typeface="Arial" panose="020B0604020202020204" pitchFamily="34" charset="0"/>
                <a:cs typeface="Arial" panose="020B0604020202020204" pitchFamily="34" charset="0"/>
              </a:rPr>
              <a:t>velpatasvir</a:t>
            </a:r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; RBV: ribavirin; DC: decompensated cirrhosis; HCC: hepatocellular carcinoma; EASL: European Association for the Study of the Liver; AASLD: American Association for the Study of Liver Diseases; IDSA: Infectious Diseases Society of America; </a:t>
            </a:r>
            <a:r>
              <a:rPr lang="en-US" sz="1133" dirty="0">
                <a:solidFill>
                  <a:srgbClr val="595959"/>
                </a:solidFill>
                <a:latin typeface="Arial"/>
              </a:rPr>
              <a:t>Xiao et al. 2025; </a:t>
            </a:r>
            <a:r>
              <a:rPr lang="en-US" sz="1133" dirty="0" err="1">
                <a:solidFill>
                  <a:srgbClr val="595959"/>
                </a:solidFill>
                <a:latin typeface="Arial"/>
              </a:rPr>
              <a:t>Pawlotsky</a:t>
            </a:r>
            <a:r>
              <a:rPr lang="en-US" sz="1133" dirty="0">
                <a:solidFill>
                  <a:srgbClr val="595959"/>
                </a:solidFill>
                <a:latin typeface="Arial"/>
              </a:rPr>
              <a:t> et al 2020; Xiao et al 2024;</a:t>
            </a:r>
            <a:endParaRPr sz="1133" dirty="0">
              <a:solidFill>
                <a:srgbClr val="595959"/>
              </a:solidFill>
              <a:latin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5D869A6-EA42-F7E6-569C-0D6339E28EFF}"/>
              </a:ext>
            </a:extLst>
          </p:cNvPr>
          <p:cNvSpPr txBox="1"/>
          <p:nvPr/>
        </p:nvSpPr>
        <p:spPr>
          <a:xfrm>
            <a:off x="682751" y="3878459"/>
            <a:ext cx="10850880" cy="23419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60958">
              <a:lnSpc>
                <a:spcPct val="105000"/>
              </a:lnSpc>
              <a:spcAft>
                <a:spcPts val="1067"/>
              </a:spcAft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Note:</a:t>
            </a:r>
          </a:p>
          <a:p>
            <a:pPr marL="346708" indent="-285750">
              <a:lnSpc>
                <a:spcPct val="105000"/>
              </a:lnSpc>
              <a:spcAft>
                <a:spcPts val="1067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SOF/VEL (12 weeks) is considered as </a:t>
            </a:r>
            <a:r>
              <a:rPr lang="en-US" sz="1600" u="sng" dirty="0">
                <a:latin typeface="Arial" panose="020B0604020202020204" pitchFamily="34" charset="0"/>
                <a:cs typeface="Arial" panose="020B0604020202020204" pitchFamily="34" charset="0"/>
              </a:rPr>
              <a:t>pan-genotypic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DAA treatment regimen according to EASL 2020 and AASLD/IDSA 2024 HCV treatment guideline.* </a:t>
            </a:r>
          </a:p>
          <a:p>
            <a:pPr marL="346708" indent="-285750">
              <a:lnSpc>
                <a:spcPct val="105000"/>
              </a:lnSpc>
              <a:spcAft>
                <a:spcPts val="1067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RBV is evaluated as regimen-intensification scenario for advanced liver disease due to its higher SVR in genotype 3 infections.</a:t>
            </a:r>
          </a:p>
          <a:p>
            <a:pPr marL="60958">
              <a:lnSpc>
                <a:spcPct val="105000"/>
              </a:lnSpc>
              <a:spcAft>
                <a:spcPts val="1067"/>
              </a:spcAft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Outcomes include </a:t>
            </a: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HCV incidence, cumulative infections, DC/HCC incidence, and HCC mortality, compared with no treatment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077017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E2FFE1-78CA-D8E8-A3E4-939092DCC0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31BDD17-DC3B-3615-A7ED-1F2E2E1EFBFC}"/>
              </a:ext>
            </a:extLst>
          </p:cNvPr>
          <p:cNvSpPr/>
          <p:nvPr/>
        </p:nvSpPr>
        <p:spPr>
          <a:xfrm>
            <a:off x="633984" y="1072896"/>
            <a:ext cx="1828800" cy="67056"/>
          </a:xfrm>
          <a:prstGeom prst="rect">
            <a:avLst/>
          </a:prstGeom>
          <a:solidFill>
            <a:srgbClr val="0097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pic>
        <p:nvPicPr>
          <p:cNvPr id="6" name="Picture 5" descr="A chart of different age groups&#10;&#10;AI-generated content may be incorrect.">
            <a:extLst>
              <a:ext uri="{FF2B5EF4-FFF2-40B4-BE49-F238E27FC236}">
                <a16:creationId xmlns:a16="http://schemas.microsoft.com/office/drawing/2014/main" id="{2AA2F451-B657-0D61-750F-F8348119A255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797948"/>
            <a:ext cx="6624918" cy="619781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CF10A99-5F07-ABAF-4CCF-6B2F312B89ED}"/>
              </a:ext>
            </a:extLst>
          </p:cNvPr>
          <p:cNvSpPr txBox="1"/>
          <p:nvPr/>
        </p:nvSpPr>
        <p:spPr>
          <a:xfrm>
            <a:off x="609600" y="341376"/>
            <a:ext cx="1097280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533"/>
              </a:spcAft>
            </a:pPr>
            <a:r>
              <a:rPr lang="en-US" sz="2800" b="1" dirty="0">
                <a:solidFill>
                  <a:srgbClr val="05455E"/>
                </a:solidFill>
                <a:latin typeface="Arial"/>
              </a:rPr>
              <a:t>Treatment scenarios: Age group targeting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33C7ED-7D38-027F-31C2-CA1DFF3857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15</a:t>
            </a:fld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C5A185A-F99F-1786-79BC-1477BAE8F014}"/>
              </a:ext>
            </a:extLst>
          </p:cNvPr>
          <p:cNvSpPr txBox="1"/>
          <p:nvPr/>
        </p:nvSpPr>
        <p:spPr>
          <a:xfrm>
            <a:off x="6761186" y="890962"/>
            <a:ext cx="4031860" cy="2190215"/>
          </a:xfrm>
          <a:prstGeom prst="rect">
            <a:avLst/>
          </a:prstGeom>
          <a:noFill/>
          <a:ln w="28575">
            <a:solidFill>
              <a:srgbClr val="00B0F0"/>
            </a:solidFill>
          </a:ln>
        </p:spPr>
        <p:txBody>
          <a:bodyPr wrap="square" lIns="0" tIns="0" rIns="0" bIns="0" anchor="t">
            <a:spAutoFit/>
          </a:bodyPr>
          <a:lstStyle/>
          <a:p>
            <a:pPr marL="60958">
              <a:lnSpc>
                <a:spcPct val="105000"/>
              </a:lnSpc>
              <a:spcAft>
                <a:spcPts val="1067"/>
              </a:spcAft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Explanation:</a:t>
            </a:r>
          </a:p>
          <a:p>
            <a:pPr marL="304792" indent="-243834">
              <a:lnSpc>
                <a:spcPct val="105000"/>
              </a:lnSpc>
              <a:spcAft>
                <a:spcPts val="1067"/>
              </a:spcAft>
              <a:buFontTx/>
              <a:buChar char="•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Age 40+: Only PWIDs aged 40+ are treatment-eligible</a:t>
            </a:r>
          </a:p>
          <a:p>
            <a:pPr marL="304792" indent="-243834">
              <a:lnSpc>
                <a:spcPct val="105000"/>
              </a:lnSpc>
              <a:spcAft>
                <a:spcPts val="1067"/>
              </a:spcAft>
              <a:buFontTx/>
              <a:buChar char="•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Age 50+: Only PWIDs aged 50+ are treatment-eligible</a:t>
            </a:r>
          </a:p>
          <a:p>
            <a:pPr marL="304792" indent="-243834">
              <a:lnSpc>
                <a:spcPct val="105000"/>
              </a:lnSpc>
              <a:spcAft>
                <a:spcPts val="1067"/>
              </a:spcAft>
              <a:buFontTx/>
              <a:buChar char="•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Age 60+: Only PWIDs aged 60+ are treatment-eligible</a:t>
            </a:r>
          </a:p>
          <a:p>
            <a:pPr marL="304792" indent="-243834">
              <a:lnSpc>
                <a:spcPct val="105000"/>
              </a:lnSpc>
              <a:spcAft>
                <a:spcPts val="1067"/>
              </a:spcAft>
              <a:buFontTx/>
              <a:buChar char="•"/>
            </a:pP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0958">
              <a:lnSpc>
                <a:spcPct val="105000"/>
              </a:lnSpc>
              <a:spcAft>
                <a:spcPts val="1067"/>
              </a:spcAft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C: Community treatment (F+X)</a:t>
            </a:r>
          </a:p>
          <a:p>
            <a:pPr marL="60958">
              <a:lnSpc>
                <a:spcPct val="105000"/>
              </a:lnSpc>
              <a:spcAft>
                <a:spcPts val="1067"/>
              </a:spcAft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J: Prison treatment (J)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146CA7A-2411-E55B-CDAC-45DFC051A391}"/>
              </a:ext>
            </a:extLst>
          </p:cNvPr>
          <p:cNvSpPr txBox="1"/>
          <p:nvPr/>
        </p:nvSpPr>
        <p:spPr>
          <a:xfrm>
            <a:off x="6761186" y="3372865"/>
            <a:ext cx="5126014" cy="35948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60958">
              <a:lnSpc>
                <a:spcPct val="105000"/>
              </a:lnSpc>
              <a:spcAft>
                <a:spcPts val="1067"/>
              </a:spcAft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Findings: </a:t>
            </a:r>
          </a:p>
          <a:p>
            <a:pPr marL="342900" indent="-342900">
              <a:buAutoNum type="arabicPeriod"/>
            </a:pPr>
            <a:r>
              <a:rPr lang="en-CN" sz="1600" dirty="0">
                <a:latin typeface="Arial" panose="020B0604020202020204" pitchFamily="34" charset="0"/>
                <a:cs typeface="Arial" panose="020B0604020202020204" pitchFamily="34" charset="0"/>
              </a:rPr>
              <a:t>Age ≥40 targeting substantially reduced HCV burden, but did not achieve elimination.</a:t>
            </a:r>
          </a:p>
          <a:p>
            <a:pPr marL="342900" indent="-342900">
              <a:buAutoNum type="arabicPeriod"/>
            </a:pPr>
            <a:endParaRPr lang="en-CN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AutoNum type="arabicPeriod"/>
            </a:pPr>
            <a:r>
              <a:rPr lang="en-CN" sz="1600" dirty="0">
                <a:latin typeface="Arial" panose="020B0604020202020204" pitchFamily="34" charset="0"/>
                <a:cs typeface="Arial" panose="020B0604020202020204" pitchFamily="34" charset="0"/>
              </a:rPr>
              <a:t>Benefits decreased rapidly with higher </a:t>
            </a:r>
            <a:r>
              <a:rPr lang="en-CN" sz="1600">
                <a:latin typeface="Arial" panose="020B0604020202020204" pitchFamily="34" charset="0"/>
                <a:cs typeface="Arial" panose="020B0604020202020204" pitchFamily="34" charset="0"/>
              </a:rPr>
              <a:t>age thresholds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with</a:t>
            </a:r>
            <a:r>
              <a:rPr lang="en-CN" sz="16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CN" sz="1600" dirty="0">
                <a:latin typeface="Arial" panose="020B0604020202020204" pitchFamily="34" charset="0"/>
                <a:cs typeface="Arial" panose="020B0604020202020204" pitchFamily="34" charset="0"/>
              </a:rPr>
              <a:t>age ≥60 targeting had minimal impact.</a:t>
            </a:r>
          </a:p>
          <a:p>
            <a:pPr marL="342900" indent="-342900">
              <a:buAutoNum type="arabicPeriod"/>
            </a:pPr>
            <a:endParaRPr lang="en-CN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AutoNum type="arabicPeriod"/>
            </a:pPr>
            <a:r>
              <a:rPr lang="en-CN" sz="1600" dirty="0">
                <a:latin typeface="Arial" panose="020B0604020202020204" pitchFamily="34" charset="0"/>
                <a:cs typeface="Arial" panose="020B0604020202020204" pitchFamily="34" charset="0"/>
              </a:rPr>
              <a:t>Higher community treatment coverage produced substantially larger gains than increasing prison coverage alone.</a:t>
            </a:r>
          </a:p>
          <a:p>
            <a:pPr marL="342900" indent="-342900">
              <a:buAutoNum type="arabicPeriod"/>
            </a:pPr>
            <a:endParaRPr lang="en-CN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CN" sz="1600" u="sng" dirty="0">
                <a:latin typeface="Arial" panose="020B0604020202020204" pitchFamily="34" charset="0"/>
                <a:cs typeface="Arial" panose="020B0604020202020204" pitchFamily="34" charset="0"/>
              </a:rPr>
              <a:t>Age restriction is a major barrier to elimination.</a:t>
            </a:r>
          </a:p>
          <a:p>
            <a:pPr marL="60958">
              <a:lnSpc>
                <a:spcPct val="105000"/>
              </a:lnSpc>
              <a:spcAft>
                <a:spcPts val="1067"/>
              </a:spcAft>
            </a:pP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4C75413-8134-367F-F50B-122C2132A83C}"/>
              </a:ext>
            </a:extLst>
          </p:cNvPr>
          <p:cNvSpPr txBox="1"/>
          <p:nvPr/>
        </p:nvSpPr>
        <p:spPr>
          <a:xfrm>
            <a:off x="4636489" y="5210118"/>
            <a:ext cx="1588652" cy="95603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lIns="0" tIns="0" rIns="0" bIns="0" anchor="t">
            <a:spAutoFit/>
          </a:bodyPr>
          <a:lstStyle/>
          <a:p>
            <a:pPr marL="60958">
              <a:lnSpc>
                <a:spcPct val="105000"/>
              </a:lnSpc>
              <a:spcAft>
                <a:spcPts val="1067"/>
              </a:spcAft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C: 1%/y = each year, 1% of treatment-eligible HCV-infected individuals in F+X initiate DAA treatment.</a:t>
            </a:r>
          </a:p>
        </p:txBody>
      </p:sp>
    </p:spTree>
    <p:extLst>
      <p:ext uri="{BB962C8B-B14F-4D97-AF65-F5344CB8AC3E}">
        <p14:creationId xmlns:p14="http://schemas.microsoft.com/office/powerpoint/2010/main" val="39509646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6812FF-07D5-F461-484C-E25DE4A3ED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7FD3559-2BFA-6B17-6D07-7896DA8345A9}"/>
              </a:ext>
            </a:extLst>
          </p:cNvPr>
          <p:cNvSpPr/>
          <p:nvPr/>
        </p:nvSpPr>
        <p:spPr>
          <a:xfrm>
            <a:off x="633984" y="1072896"/>
            <a:ext cx="1828800" cy="67056"/>
          </a:xfrm>
          <a:prstGeom prst="rect">
            <a:avLst/>
          </a:prstGeom>
          <a:solidFill>
            <a:srgbClr val="0097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pic>
        <p:nvPicPr>
          <p:cNvPr id="6" name="Picture 5" descr="A screenshot of a graph&#10;&#10;AI-generated content may be incorrect.">
            <a:extLst>
              <a:ext uri="{FF2B5EF4-FFF2-40B4-BE49-F238E27FC236}">
                <a16:creationId xmlns:a16="http://schemas.microsoft.com/office/drawing/2014/main" id="{F54674E2-1E4D-1FC6-3D5A-3172C4811C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768096"/>
            <a:ext cx="5342965" cy="619784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46BD2AF-362B-4E3E-23AE-2BCCF47F82C1}"/>
              </a:ext>
            </a:extLst>
          </p:cNvPr>
          <p:cNvSpPr txBox="1"/>
          <p:nvPr/>
        </p:nvSpPr>
        <p:spPr>
          <a:xfrm>
            <a:off x="609600" y="341376"/>
            <a:ext cx="1097280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533"/>
              </a:spcAft>
            </a:pPr>
            <a:r>
              <a:rPr lang="en-US" sz="2800" b="1" dirty="0">
                <a:solidFill>
                  <a:srgbClr val="05455E"/>
                </a:solidFill>
                <a:latin typeface="Arial"/>
              </a:rPr>
              <a:t>Treatment scenarios: Treatment regimen</a:t>
            </a:r>
            <a:endParaRPr sz="2800" b="1" dirty="0">
              <a:solidFill>
                <a:srgbClr val="05455E"/>
              </a:solidFill>
              <a:latin typeface="Arial"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079429B-1E6F-528B-871C-71E592CBF0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16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ED04BFC-DB33-7AF5-685F-AA83EC61A965}"/>
              </a:ext>
            </a:extLst>
          </p:cNvPr>
          <p:cNvCxnSpPr/>
          <p:nvPr/>
        </p:nvCxnSpPr>
        <p:spPr>
          <a:xfrm>
            <a:off x="1246187" y="1281083"/>
            <a:ext cx="2150198" cy="0"/>
          </a:xfrm>
          <a:prstGeom prst="line">
            <a:avLst/>
          </a:prstGeom>
          <a:ln w="6350">
            <a:solidFill>
              <a:srgbClr val="FF0000"/>
            </a:solidFill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2416224-90E2-FEE7-9D6F-37FB18F54EDE}"/>
              </a:ext>
            </a:extLst>
          </p:cNvPr>
          <p:cNvCxnSpPr/>
          <p:nvPr/>
        </p:nvCxnSpPr>
        <p:spPr>
          <a:xfrm>
            <a:off x="1246187" y="2704604"/>
            <a:ext cx="2150198" cy="0"/>
          </a:xfrm>
          <a:prstGeom prst="line">
            <a:avLst/>
          </a:prstGeom>
          <a:ln w="6350">
            <a:solidFill>
              <a:srgbClr val="FF0000"/>
            </a:solidFill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7A49A58-9545-B17E-16C7-4B92EF97DC5D}"/>
              </a:ext>
            </a:extLst>
          </p:cNvPr>
          <p:cNvCxnSpPr/>
          <p:nvPr/>
        </p:nvCxnSpPr>
        <p:spPr>
          <a:xfrm>
            <a:off x="1246187" y="3688372"/>
            <a:ext cx="2150198" cy="0"/>
          </a:xfrm>
          <a:prstGeom prst="line">
            <a:avLst/>
          </a:prstGeom>
          <a:ln w="6350">
            <a:solidFill>
              <a:srgbClr val="FF0000"/>
            </a:solidFill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A7EECA2-844C-B9A5-CB8A-24B244B40004}"/>
              </a:ext>
            </a:extLst>
          </p:cNvPr>
          <p:cNvCxnSpPr/>
          <p:nvPr/>
        </p:nvCxnSpPr>
        <p:spPr>
          <a:xfrm>
            <a:off x="1246187" y="4833596"/>
            <a:ext cx="2150198" cy="0"/>
          </a:xfrm>
          <a:prstGeom prst="line">
            <a:avLst/>
          </a:prstGeom>
          <a:ln w="6350">
            <a:solidFill>
              <a:srgbClr val="FF0000"/>
            </a:solidFill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A66D87B-0D95-272E-B465-C1ED969AAF3C}"/>
              </a:ext>
            </a:extLst>
          </p:cNvPr>
          <p:cNvCxnSpPr/>
          <p:nvPr/>
        </p:nvCxnSpPr>
        <p:spPr>
          <a:xfrm>
            <a:off x="1246187" y="5932022"/>
            <a:ext cx="2150198" cy="0"/>
          </a:xfrm>
          <a:prstGeom prst="line">
            <a:avLst/>
          </a:prstGeom>
          <a:ln w="6350">
            <a:solidFill>
              <a:srgbClr val="FF0000"/>
            </a:solidFill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170CBD5D-13D8-4ABF-B8CE-B6A63F65D10D}"/>
              </a:ext>
            </a:extLst>
          </p:cNvPr>
          <p:cNvSpPr txBox="1"/>
          <p:nvPr/>
        </p:nvSpPr>
        <p:spPr>
          <a:xfrm>
            <a:off x="6095999" y="872711"/>
            <a:ext cx="5126013" cy="2049151"/>
          </a:xfrm>
          <a:prstGeom prst="rect">
            <a:avLst/>
          </a:prstGeom>
          <a:noFill/>
          <a:ln w="28575">
            <a:solidFill>
              <a:srgbClr val="00B0F0"/>
            </a:solidFill>
          </a:ln>
        </p:spPr>
        <p:txBody>
          <a:bodyPr wrap="square" lIns="0" tIns="0" rIns="0" bIns="0" anchor="t">
            <a:spAutoFit/>
          </a:bodyPr>
          <a:lstStyle/>
          <a:p>
            <a:pPr marL="60958">
              <a:lnSpc>
                <a:spcPct val="105000"/>
              </a:lnSpc>
              <a:spcAft>
                <a:spcPts val="1067"/>
              </a:spcAft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Explanation:</a:t>
            </a:r>
          </a:p>
          <a:p>
            <a:pPr marL="304792" indent="-243834">
              <a:lnSpc>
                <a:spcPct val="105000"/>
              </a:lnSpc>
              <a:spcAft>
                <a:spcPts val="1067"/>
              </a:spcAft>
              <a:buFontTx/>
              <a:buChar char="•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SOF/VEL + RBV (12 weeks): Add ribavirin (RBV) for advanced liver disease stages (DC/HCC)</a:t>
            </a:r>
          </a:p>
          <a:p>
            <a:pPr marL="304792" indent="-243834">
              <a:lnSpc>
                <a:spcPct val="105000"/>
              </a:lnSpc>
              <a:spcAft>
                <a:spcPts val="1067"/>
              </a:spcAft>
              <a:buFontTx/>
              <a:buChar char="•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SOF/VEL (12 weeks): standard pan-genotypic treatment</a:t>
            </a:r>
          </a:p>
          <a:p>
            <a:pPr marL="304792" indent="-243834">
              <a:lnSpc>
                <a:spcPct val="105000"/>
              </a:lnSpc>
              <a:spcAft>
                <a:spcPts val="1067"/>
              </a:spcAft>
              <a:buFontTx/>
              <a:buChar char="•"/>
            </a:pP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0958">
              <a:lnSpc>
                <a:spcPct val="105000"/>
              </a:lnSpc>
              <a:spcAft>
                <a:spcPts val="1067"/>
              </a:spcAft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C: Community treatment (F+X)</a:t>
            </a:r>
          </a:p>
          <a:p>
            <a:pPr marL="60958">
              <a:lnSpc>
                <a:spcPct val="105000"/>
              </a:lnSpc>
              <a:spcAft>
                <a:spcPts val="1067"/>
              </a:spcAft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J: Prison treatment (J)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B597ADE-9C0E-2CA1-E05A-3FF9BE38F01B}"/>
              </a:ext>
            </a:extLst>
          </p:cNvPr>
          <p:cNvSpPr txBox="1"/>
          <p:nvPr/>
        </p:nvSpPr>
        <p:spPr>
          <a:xfrm>
            <a:off x="6096000" y="3097153"/>
            <a:ext cx="5126014" cy="38410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60958">
              <a:lnSpc>
                <a:spcPct val="105000"/>
              </a:lnSpc>
              <a:spcAft>
                <a:spcPts val="1067"/>
              </a:spcAft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Findings: </a:t>
            </a:r>
          </a:p>
          <a:p>
            <a:pPr marL="342900" lvl="0" indent="-342900">
              <a:buAutoNum type="arabicPeriod"/>
            </a:pPr>
            <a:r>
              <a:rPr lang="en-CN" sz="1600" dirty="0">
                <a:latin typeface="Arial" panose="020B0604020202020204" pitchFamily="34" charset="0"/>
                <a:cs typeface="Arial" panose="020B0604020202020204" pitchFamily="34" charset="0"/>
              </a:rPr>
              <a:t>Adding RBV provided only </a:t>
            </a:r>
            <a:r>
              <a:rPr lang="en-CN" sz="1600">
                <a:latin typeface="Arial" panose="020B0604020202020204" pitchFamily="34" charset="0"/>
                <a:cs typeface="Arial" panose="020B0604020202020204" pitchFamily="34" charset="0"/>
              </a:rPr>
              <a:t>a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marginal </a:t>
            </a:r>
            <a:r>
              <a:rPr lang="en-CN" sz="1600">
                <a:latin typeface="Arial" panose="020B0604020202020204" pitchFamily="34" charset="0"/>
                <a:cs typeface="Arial" panose="020B0604020202020204" pitchFamily="34" charset="0"/>
              </a:rPr>
              <a:t>additional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population-level</a:t>
            </a:r>
            <a:r>
              <a:rPr lang="en-CN" sz="16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CN" sz="1600" dirty="0">
                <a:latin typeface="Arial" panose="020B0604020202020204" pitchFamily="34" charset="0"/>
                <a:cs typeface="Arial" panose="020B0604020202020204" pitchFamily="34" charset="0"/>
              </a:rPr>
              <a:t>reduction in HCV infections compared with SOF/VEL alone. </a:t>
            </a:r>
          </a:p>
          <a:p>
            <a:pPr marL="342900" lvl="0" indent="-342900">
              <a:buAutoNum type="arabicPeriod"/>
            </a:pPr>
            <a:endParaRPr lang="en-CN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lvl="0" indent="-342900">
              <a:buAutoNum type="arabicPeriod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Differences between treatment-coverage scenarios were substantially larger than differences between regimens.</a:t>
            </a:r>
            <a:endParaRPr lang="en-CN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lvl="0" indent="-342900">
              <a:buAutoNum type="arabicPeriod"/>
            </a:pPr>
            <a:endParaRPr lang="en-CN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lvl="0" indent="-342900">
              <a:buAutoNum type="arabicPeriod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Higher regimen efficacy could not compensate for low treatment coverage.</a:t>
            </a:r>
            <a:endParaRPr lang="en-CN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AutoNum type="arabicPeriod"/>
            </a:pPr>
            <a:endParaRPr lang="en-CN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u="sng" dirty="0">
                <a:latin typeface="Arial" panose="020B0604020202020204" pitchFamily="34" charset="0"/>
                <a:cs typeface="Arial" panose="020B0604020202020204" pitchFamily="34" charset="0"/>
              </a:rPr>
              <a:t>Within the model, achieving elimination was more sensitive to </a:t>
            </a:r>
            <a:r>
              <a:rPr lang="en-US" sz="1600" u="sng" dirty="0" err="1">
                <a:latin typeface="Arial" panose="020B0604020202020204" pitchFamily="34" charset="0"/>
                <a:cs typeface="Arial" panose="020B0604020202020204" pitchFamily="34" charset="0"/>
              </a:rPr>
              <a:t>treatement</a:t>
            </a:r>
            <a:r>
              <a:rPr lang="en-US" sz="1600" u="sng" dirty="0">
                <a:latin typeface="Arial" panose="020B0604020202020204" pitchFamily="34" charset="0"/>
                <a:cs typeface="Arial" panose="020B0604020202020204" pitchFamily="34" charset="0"/>
              </a:rPr>
              <a:t> coverage than to regimen choice.</a:t>
            </a:r>
            <a:endParaRPr lang="en-CN" sz="1600" u="sng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0958">
              <a:lnSpc>
                <a:spcPct val="105000"/>
              </a:lnSpc>
              <a:spcAft>
                <a:spcPts val="1067"/>
              </a:spcAft>
            </a:pP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4697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81F6D8-874F-78C1-D34F-543009C7BF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A9171BA-BBB2-4A07-B379-7F2786268F58}"/>
              </a:ext>
            </a:extLst>
          </p:cNvPr>
          <p:cNvSpPr/>
          <p:nvPr/>
        </p:nvSpPr>
        <p:spPr>
          <a:xfrm>
            <a:off x="633984" y="1072896"/>
            <a:ext cx="1828800" cy="67056"/>
          </a:xfrm>
          <a:prstGeom prst="rect">
            <a:avLst/>
          </a:prstGeom>
          <a:solidFill>
            <a:srgbClr val="0097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pic>
        <p:nvPicPr>
          <p:cNvPr id="6" name="Picture 5" descr="A screenshot of a graph&#10;&#10;AI-generated content may be incorrect.">
            <a:extLst>
              <a:ext uri="{FF2B5EF4-FFF2-40B4-BE49-F238E27FC236}">
                <a16:creationId xmlns:a16="http://schemas.microsoft.com/office/drawing/2014/main" id="{D06602FF-94BD-9586-913C-D714990819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984" y="768096"/>
            <a:ext cx="6608480" cy="618212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FC34B72-367A-32E9-481F-7B728433B186}"/>
              </a:ext>
            </a:extLst>
          </p:cNvPr>
          <p:cNvSpPr txBox="1"/>
          <p:nvPr/>
        </p:nvSpPr>
        <p:spPr>
          <a:xfrm>
            <a:off x="609600" y="341376"/>
            <a:ext cx="1097280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533"/>
              </a:spcAft>
            </a:pPr>
            <a:r>
              <a:rPr lang="en-US" sz="2800" b="1" dirty="0">
                <a:solidFill>
                  <a:srgbClr val="05455E"/>
                </a:solidFill>
                <a:latin typeface="Arial"/>
              </a:rPr>
              <a:t>Treatment scenarios: Liver disease stage</a:t>
            </a:r>
            <a:endParaRPr sz="2800" b="1" dirty="0">
              <a:solidFill>
                <a:srgbClr val="05455E"/>
              </a:solidFill>
              <a:latin typeface="Arial"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6E70F46C-9EF7-6A8E-465E-47A29A399D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17</a:t>
            </a:fld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A31BE65-8258-A05D-BC80-79639B98C78F}"/>
              </a:ext>
            </a:extLst>
          </p:cNvPr>
          <p:cNvSpPr txBox="1"/>
          <p:nvPr/>
        </p:nvSpPr>
        <p:spPr>
          <a:xfrm>
            <a:off x="6438732" y="802244"/>
            <a:ext cx="5119284" cy="2525178"/>
          </a:xfrm>
          <a:prstGeom prst="rect">
            <a:avLst/>
          </a:prstGeom>
          <a:noFill/>
          <a:ln w="28575">
            <a:solidFill>
              <a:srgbClr val="00B0F0"/>
            </a:solidFill>
          </a:ln>
        </p:spPr>
        <p:txBody>
          <a:bodyPr wrap="square" lIns="0" tIns="0" rIns="0" bIns="0" anchor="t">
            <a:spAutoFit/>
          </a:bodyPr>
          <a:lstStyle/>
          <a:p>
            <a:pPr marL="60958">
              <a:lnSpc>
                <a:spcPct val="105000"/>
              </a:lnSpc>
              <a:spcAft>
                <a:spcPts val="1067"/>
              </a:spcAft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Explanation:</a:t>
            </a:r>
          </a:p>
          <a:p>
            <a:pPr marL="60958">
              <a:lnSpc>
                <a:spcPct val="105000"/>
              </a:lnSpc>
              <a:spcAft>
                <a:spcPts val="1067"/>
              </a:spcAft>
            </a:pP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0958">
              <a:lnSpc>
                <a:spcPct val="105000"/>
              </a:lnSpc>
              <a:spcAft>
                <a:spcPts val="1067"/>
              </a:spcAft>
            </a:pP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0958">
              <a:lnSpc>
                <a:spcPct val="105000"/>
              </a:lnSpc>
              <a:spcAft>
                <a:spcPts val="1067"/>
              </a:spcAft>
            </a:pP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0958">
              <a:lnSpc>
                <a:spcPct val="105000"/>
              </a:lnSpc>
              <a:spcAft>
                <a:spcPts val="1067"/>
              </a:spcAft>
            </a:pP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0958">
              <a:lnSpc>
                <a:spcPct val="105000"/>
              </a:lnSpc>
              <a:spcAft>
                <a:spcPts val="1067"/>
              </a:spcAft>
            </a:pP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0958">
              <a:lnSpc>
                <a:spcPct val="105000"/>
              </a:lnSpc>
              <a:spcAft>
                <a:spcPts val="1067"/>
              </a:spcAft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C: Community treatment (F+X)</a:t>
            </a:r>
          </a:p>
          <a:p>
            <a:pPr marL="60958">
              <a:lnSpc>
                <a:spcPct val="105000"/>
              </a:lnSpc>
              <a:spcAft>
                <a:spcPts val="1067"/>
              </a:spcAft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J: Prison treatment (J</a:t>
            </a:r>
            <a:r>
              <a:rPr lang="zh-CN" altLang="en-US" sz="1200" dirty="0">
                <a:latin typeface="Arial" panose="020B0604020202020204" pitchFamily="34" charset="0"/>
                <a:cs typeface="Arial" panose="020B0604020202020204" pitchFamily="34" charset="0"/>
              </a:rPr>
              <a:t>）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13" name="Google Shape;334;p46">
            <a:extLst>
              <a:ext uri="{FF2B5EF4-FFF2-40B4-BE49-F238E27FC236}">
                <a16:creationId xmlns:a16="http://schemas.microsoft.com/office/drawing/2014/main" id="{41736745-E174-E639-1F31-D6CC9953239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35774563"/>
              </p:ext>
            </p:extLst>
          </p:nvPr>
        </p:nvGraphicFramePr>
        <p:xfrm>
          <a:off x="6505716" y="1106178"/>
          <a:ext cx="4967416" cy="141705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990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84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Context</a:t>
                      </a:r>
                      <a:endParaRPr sz="1200" b="1" u="none" strike="noStrike" cap="non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71384" marR="171384" marT="85692" marB="856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(NC, CC, DC, HCC)</a:t>
                      </a:r>
                      <a:endParaRPr sz="1200" b="1" u="none" strike="noStrike" cap="non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71384" marR="171384" marT="85692" marB="856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7347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Equal stage coverage</a:t>
                      </a:r>
                    </a:p>
                  </a:txBody>
                  <a:tcPr marL="171384" marR="171384" marT="85692" marB="856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(1.0, 1.0, 1.0, 1.0)</a:t>
                      </a:r>
                    </a:p>
                  </a:txBody>
                  <a:tcPr marL="171384" marR="171384" marT="85692" marB="856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734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200" b="0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Transmission priority</a:t>
                      </a:r>
                      <a:endParaRPr sz="1200" b="0" u="none" strike="noStrike" cap="non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71384" marR="171384" marT="85692" marB="856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(1.0, 0.8, 0.4, 0.3)</a:t>
                      </a:r>
                      <a:endParaRPr sz="1200" b="0" u="none" strike="noStrike" cap="non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71384" marR="171384" marT="85692" marB="856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7347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Advanced-disease priority</a:t>
                      </a:r>
                      <a:endParaRPr sz="1200" b="0" u="none" strike="noStrike" cap="non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71384" marR="171384" marT="85692" marB="856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(0.</a:t>
                      </a:r>
                      <a:r>
                        <a:rPr lang="en-US" altLang="zh-CN" sz="1200" b="0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r>
                        <a:rPr lang="en-US" sz="1200" b="0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0.</a:t>
                      </a:r>
                      <a:r>
                        <a:rPr lang="en-US" altLang="zh-CN" sz="1200" b="0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r>
                        <a:rPr lang="en-US" sz="1200" b="0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0.8, 1.0)</a:t>
                      </a:r>
                      <a:endParaRPr sz="1200" b="0" u="none" strike="noStrike" cap="non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71384" marR="171384" marT="85692" marB="856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03DA4057-AE3C-A248-F209-EF00B799E8C9}"/>
              </a:ext>
            </a:extLst>
          </p:cNvPr>
          <p:cNvSpPr txBox="1"/>
          <p:nvPr/>
        </p:nvSpPr>
        <p:spPr>
          <a:xfrm>
            <a:off x="6438732" y="3530579"/>
            <a:ext cx="5126014" cy="33542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60958">
              <a:lnSpc>
                <a:spcPct val="105000"/>
              </a:lnSpc>
              <a:spcAft>
                <a:spcPts val="1067"/>
              </a:spcAft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Findings: </a:t>
            </a:r>
          </a:p>
          <a:p>
            <a:pPr marL="342900" lvl="0" indent="-342900">
              <a:buAutoNum type="arabicPeriod"/>
            </a:pPr>
            <a:r>
              <a:rPr lang="en-CN" sz="1600" dirty="0">
                <a:latin typeface="Arial" panose="020B0604020202020204" pitchFamily="34" charset="0"/>
                <a:cs typeface="Arial" panose="020B0604020202020204" pitchFamily="34" charset="0"/>
              </a:rPr>
              <a:t>Equal-stage coverage and transmission-priority strategies produced very similar reductions in HCV infections. </a:t>
            </a:r>
          </a:p>
          <a:p>
            <a:pPr marL="342900" lvl="0" indent="-342900">
              <a:buAutoNum type="arabicPeriod"/>
            </a:pPr>
            <a:endParaRPr lang="en-CN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lvl="0" indent="-342900">
              <a:buAutoNum type="arabicPeriod"/>
            </a:pPr>
            <a:r>
              <a:rPr lang="en-CN" sz="1600" dirty="0">
                <a:latin typeface="Arial" panose="020B0604020202020204" pitchFamily="34" charset="0"/>
                <a:cs typeface="Arial" panose="020B0604020202020204" pitchFamily="34" charset="0"/>
              </a:rPr>
              <a:t>Advanced-disease prioritisation was substantially less effective for HCV elimination. </a:t>
            </a:r>
          </a:p>
          <a:p>
            <a:pPr marL="342900" lvl="0" indent="-342900">
              <a:buAutoNum type="arabicPeriod"/>
            </a:pPr>
            <a:endParaRPr lang="en-CN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lvl="0" indent="-342900">
              <a:buAutoNum type="arabicPeriod"/>
            </a:pPr>
            <a:r>
              <a:rPr lang="en-CN" sz="1600" dirty="0">
                <a:latin typeface="Arial" panose="020B0604020202020204" pitchFamily="34" charset="0"/>
                <a:cs typeface="Arial" panose="020B0604020202020204" pitchFamily="34" charset="0"/>
              </a:rPr>
              <a:t>HCV elimination requires high treatment coverage in NC/CC, where most infections occur.</a:t>
            </a:r>
          </a:p>
          <a:p>
            <a:pPr marL="342900" lvl="0" indent="-342900">
              <a:buAutoNum type="arabicPeriod"/>
            </a:pPr>
            <a:endParaRPr lang="en-CN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CN" sz="1600" u="sng" dirty="0">
                <a:latin typeface="Arial" panose="020B0604020202020204" pitchFamily="34" charset="0"/>
                <a:cs typeface="Arial" panose="020B0604020202020204" pitchFamily="34" charset="0"/>
              </a:rPr>
              <a:t>Broad access to treatment in early</a:t>
            </a:r>
            <a:r>
              <a:rPr lang="en-US" altLang="zh-CN" sz="1600" u="sng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en-CN" sz="1600" u="sng" dirty="0">
                <a:latin typeface="Arial" panose="020B0604020202020204" pitchFamily="34" charset="0"/>
                <a:cs typeface="Arial" panose="020B0604020202020204" pitchFamily="34" charset="0"/>
              </a:rPr>
              <a:t>disease stage (NC/CC) is essential.</a:t>
            </a:r>
          </a:p>
        </p:txBody>
      </p:sp>
    </p:spTree>
    <p:extLst>
      <p:ext uri="{BB962C8B-B14F-4D97-AF65-F5344CB8AC3E}">
        <p14:creationId xmlns:p14="http://schemas.microsoft.com/office/powerpoint/2010/main" val="8428801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16FF0D-8CA3-CD63-3FDF-81EAAC91AB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screenshot of a graph&#10;&#10;AI-generated content may be incorrect.">
            <a:extLst>
              <a:ext uri="{FF2B5EF4-FFF2-40B4-BE49-F238E27FC236}">
                <a16:creationId xmlns:a16="http://schemas.microsoft.com/office/drawing/2014/main" id="{7B66196A-F591-80A9-C6BE-0B3BE52D4C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36208"/>
            <a:ext cx="8501743" cy="566782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674495F-6A56-D48E-194F-683D7E9B7940}"/>
              </a:ext>
            </a:extLst>
          </p:cNvPr>
          <p:cNvSpPr txBox="1"/>
          <p:nvPr/>
        </p:nvSpPr>
        <p:spPr>
          <a:xfrm>
            <a:off x="609600" y="341376"/>
            <a:ext cx="1097280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533"/>
              </a:spcAft>
            </a:pPr>
            <a:r>
              <a:rPr lang="en-US" sz="2800" b="1" dirty="0">
                <a:solidFill>
                  <a:srgbClr val="05455E"/>
                </a:solidFill>
                <a:latin typeface="Arial"/>
              </a:rPr>
              <a:t>Treatment scenarios: Delivery settings</a:t>
            </a:r>
            <a:endParaRPr sz="2800" b="1" dirty="0">
              <a:solidFill>
                <a:srgbClr val="05455E"/>
              </a:solidFill>
              <a:latin typeface="Arial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73B745A-859F-5C16-E00E-C848130A4781}"/>
              </a:ext>
            </a:extLst>
          </p:cNvPr>
          <p:cNvSpPr/>
          <p:nvPr/>
        </p:nvSpPr>
        <p:spPr>
          <a:xfrm>
            <a:off x="633984" y="1072896"/>
            <a:ext cx="1828800" cy="67056"/>
          </a:xfrm>
          <a:prstGeom prst="rect">
            <a:avLst/>
          </a:prstGeom>
          <a:solidFill>
            <a:srgbClr val="0097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668A6050-1EF2-8B66-7E3C-3A2E89F7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18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94DFF83-ECA1-D259-6400-347BD60D3216}"/>
              </a:ext>
            </a:extLst>
          </p:cNvPr>
          <p:cNvSpPr txBox="1"/>
          <p:nvPr/>
        </p:nvSpPr>
        <p:spPr>
          <a:xfrm>
            <a:off x="8321040" y="2906650"/>
            <a:ext cx="3261360" cy="396621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60958">
              <a:lnSpc>
                <a:spcPct val="105000"/>
              </a:lnSpc>
              <a:spcAft>
                <a:spcPts val="1067"/>
              </a:spcAft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Findings:</a:t>
            </a:r>
          </a:p>
          <a:p>
            <a:pPr marL="228600" lvl="0" indent="-228600">
              <a:buAutoNum type="arabicPeriod"/>
            </a:pPr>
            <a:r>
              <a:rPr lang="en-CN" sz="1400" dirty="0">
                <a:latin typeface="Arial" panose="020B0604020202020204" pitchFamily="34" charset="0"/>
                <a:cs typeface="Arial" panose="020B0604020202020204" pitchFamily="34" charset="0"/>
              </a:rPr>
              <a:t>Prison-based treatment was highly effective in rapidly reducing HCV infections across strata. </a:t>
            </a:r>
          </a:p>
          <a:p>
            <a:pPr marL="228600" lvl="0" indent="-228600">
              <a:buAutoNum type="arabicPeriod"/>
            </a:pPr>
            <a:endParaRPr lang="en-CN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28600" lvl="0" indent="-228600">
              <a:buAutoNum type="arabicPeriod"/>
            </a:pPr>
            <a:r>
              <a:rPr lang="en-CN" sz="1400" dirty="0">
                <a:latin typeface="Arial" panose="020B0604020202020204" pitchFamily="34" charset="0"/>
                <a:cs typeface="Arial" panose="020B0604020202020204" pitchFamily="34" charset="0"/>
              </a:rPr>
              <a:t>However, residual infections remained after prison treatment alone, particularly in the community. </a:t>
            </a:r>
          </a:p>
          <a:p>
            <a:pPr marL="228600" lvl="0" indent="-228600">
              <a:buAutoNum type="arabicPeriod"/>
            </a:pPr>
            <a:endParaRPr lang="en-CN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28600" lvl="0" indent="-228600">
              <a:buAutoNum type="arabicPeriod"/>
            </a:pPr>
            <a:r>
              <a:rPr lang="en-CN" sz="1400" dirty="0">
                <a:latin typeface="Arial" panose="020B0604020202020204" pitchFamily="34" charset="0"/>
                <a:cs typeface="Arial" panose="020B0604020202020204" pitchFamily="34" charset="0"/>
              </a:rPr>
              <a:t>Adding community treatment provided further reductions and helped move the population closer to elimination.</a:t>
            </a:r>
          </a:p>
          <a:p>
            <a:pPr marL="60958">
              <a:lnSpc>
                <a:spcPct val="105000"/>
              </a:lnSpc>
              <a:spcAft>
                <a:spcPts val="1067"/>
              </a:spcAft>
            </a:pPr>
            <a:endParaRPr lang="en-US" sz="1400" u="sng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0958">
              <a:lnSpc>
                <a:spcPct val="100000"/>
              </a:lnSpc>
              <a:spcAft>
                <a:spcPts val="1067"/>
              </a:spcAft>
            </a:pPr>
            <a:r>
              <a:rPr lang="en-CN" sz="1400" u="sng" dirty="0">
                <a:latin typeface="Arial" panose="020B0604020202020204" pitchFamily="34" charset="0"/>
                <a:cs typeface="Arial" panose="020B0604020202020204" pitchFamily="34" charset="0"/>
              </a:rPr>
              <a:t>Prison-based </a:t>
            </a:r>
            <a:r>
              <a:rPr lang="en-CN" sz="1400" u="sng">
                <a:latin typeface="Arial" panose="020B0604020202020204" pitchFamily="34" charset="0"/>
                <a:cs typeface="Arial" panose="020B0604020202020204" pitchFamily="34" charset="0"/>
              </a:rPr>
              <a:t>treatment </a:t>
            </a:r>
            <a:r>
              <a:rPr lang="en-US" sz="1400" u="sng" dirty="0">
                <a:latin typeface="Arial" panose="020B0604020202020204" pitchFamily="34" charset="0"/>
                <a:cs typeface="Arial" panose="020B0604020202020204" pitchFamily="34" charset="0"/>
              </a:rPr>
              <a:t>could provide the core elimination platform, with community treatment addressing residual HCV burden.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14904AB-B29C-3EB1-4B6F-96B813CD0DAE}"/>
              </a:ext>
            </a:extLst>
          </p:cNvPr>
          <p:cNvSpPr txBox="1"/>
          <p:nvPr/>
        </p:nvSpPr>
        <p:spPr>
          <a:xfrm>
            <a:off x="8321040" y="1072896"/>
            <a:ext cx="3236976" cy="1764778"/>
          </a:xfrm>
          <a:prstGeom prst="rect">
            <a:avLst/>
          </a:prstGeom>
          <a:noFill/>
          <a:ln w="28575">
            <a:solidFill>
              <a:srgbClr val="00B0F0"/>
            </a:solidFill>
          </a:ln>
        </p:spPr>
        <p:txBody>
          <a:bodyPr wrap="square" lIns="0" tIns="0" rIns="0" bIns="0" anchor="t">
            <a:spAutoFit/>
          </a:bodyPr>
          <a:lstStyle/>
          <a:p>
            <a:pPr marL="60958">
              <a:lnSpc>
                <a:spcPct val="105000"/>
              </a:lnSpc>
              <a:spcAft>
                <a:spcPts val="1067"/>
              </a:spcAft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Explanation:</a:t>
            </a:r>
          </a:p>
          <a:p>
            <a:pPr marL="60958">
              <a:lnSpc>
                <a:spcPct val="105000"/>
              </a:lnSpc>
              <a:spcAft>
                <a:spcPts val="1067"/>
              </a:spcAft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D/J/F/X: Only treat PWIDs within the stratum</a:t>
            </a:r>
          </a:p>
          <a:p>
            <a:pPr marL="60958">
              <a:lnSpc>
                <a:spcPct val="105000"/>
              </a:lnSpc>
              <a:spcAft>
                <a:spcPts val="1067"/>
              </a:spcAft>
            </a:pP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0958">
              <a:lnSpc>
                <a:spcPct val="105000"/>
              </a:lnSpc>
              <a:spcAft>
                <a:spcPts val="1067"/>
              </a:spcAft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Mixed: Coverage applied to F/X with 100% treatment coverage for J</a:t>
            </a:r>
          </a:p>
        </p:txBody>
      </p:sp>
    </p:spTree>
    <p:extLst>
      <p:ext uri="{BB962C8B-B14F-4D97-AF65-F5344CB8AC3E}">
        <p14:creationId xmlns:p14="http://schemas.microsoft.com/office/powerpoint/2010/main" val="12235770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BE0D31-239B-5B49-B641-830359E946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screenshot of a graph&#10;&#10;AI-generated content may be incorrect.">
            <a:extLst>
              <a:ext uri="{FF2B5EF4-FFF2-40B4-BE49-F238E27FC236}">
                <a16:creationId xmlns:a16="http://schemas.microsoft.com/office/drawing/2014/main" id="{A606E67C-8A4B-4CD6-81AF-191DAA1E88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1395113"/>
            <a:ext cx="8957672" cy="545249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643688F-9925-A513-FEFF-BEE188DFD9E2}"/>
              </a:ext>
            </a:extLst>
          </p:cNvPr>
          <p:cNvSpPr txBox="1"/>
          <p:nvPr/>
        </p:nvSpPr>
        <p:spPr>
          <a:xfrm>
            <a:off x="609600" y="341376"/>
            <a:ext cx="1097280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533"/>
              </a:spcAft>
            </a:pPr>
            <a:r>
              <a:rPr lang="en-US" sz="2400" b="1" dirty="0">
                <a:solidFill>
                  <a:srgbClr val="05455E"/>
                </a:solidFill>
                <a:latin typeface="Arial"/>
              </a:rPr>
              <a:t>DC/HCC cases &amp; deaths under different delivery settings &amp; coverage</a:t>
            </a:r>
            <a:endParaRPr sz="2400" b="1" dirty="0">
              <a:solidFill>
                <a:srgbClr val="05455E"/>
              </a:solidFill>
              <a:latin typeface="Arial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9EDE1BC-4711-833F-311E-AA53046AE092}"/>
              </a:ext>
            </a:extLst>
          </p:cNvPr>
          <p:cNvSpPr/>
          <p:nvPr/>
        </p:nvSpPr>
        <p:spPr>
          <a:xfrm>
            <a:off x="633984" y="1072896"/>
            <a:ext cx="1828800" cy="67056"/>
          </a:xfrm>
          <a:prstGeom prst="rect">
            <a:avLst/>
          </a:prstGeom>
          <a:solidFill>
            <a:srgbClr val="0097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6077DFA1-BE89-1EA8-C937-E30220D3F3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19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894DEA5-B14C-5CD0-CDED-21F461125B60}"/>
              </a:ext>
            </a:extLst>
          </p:cNvPr>
          <p:cNvSpPr txBox="1"/>
          <p:nvPr/>
        </p:nvSpPr>
        <p:spPr>
          <a:xfrm>
            <a:off x="8644407" y="2881395"/>
            <a:ext cx="3180448" cy="37507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60958">
              <a:lnSpc>
                <a:spcPct val="105000"/>
              </a:lnSpc>
              <a:spcAft>
                <a:spcPts val="1067"/>
              </a:spcAft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Findings:</a:t>
            </a:r>
          </a:p>
          <a:p>
            <a:pPr marL="228600" lvl="0" indent="-228600">
              <a:buAutoNum type="arabicPeriod"/>
            </a:pPr>
            <a:r>
              <a:rPr lang="en-CN" sz="1400" dirty="0">
                <a:latin typeface="Arial" panose="020B0604020202020204" pitchFamily="34" charset="0"/>
                <a:cs typeface="Arial" panose="020B0604020202020204" pitchFamily="34" charset="0"/>
              </a:rPr>
              <a:t>Prison-based treatment substantially </a:t>
            </a:r>
            <a:r>
              <a:rPr lang="en-CN" sz="1400">
                <a:latin typeface="Arial" panose="020B0604020202020204" pitchFamily="34" charset="0"/>
                <a:cs typeface="Arial" panose="020B0604020202020204" pitchFamily="34" charset="0"/>
              </a:rPr>
              <a:t>reduced DC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en-CN" sz="1400">
                <a:latin typeface="Arial" panose="020B0604020202020204" pitchFamily="34" charset="0"/>
                <a:cs typeface="Arial" panose="020B0604020202020204" pitchFamily="34" charset="0"/>
              </a:rPr>
              <a:t>HCC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cases</a:t>
            </a:r>
            <a:r>
              <a:rPr lang="en-CN" sz="140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CN" sz="1400" dirty="0">
                <a:latin typeface="Arial" panose="020B0604020202020204" pitchFamily="34" charset="0"/>
                <a:cs typeface="Arial" panose="020B0604020202020204" pitchFamily="34" charset="0"/>
              </a:rPr>
              <a:t>and advanced-stage deaths. </a:t>
            </a:r>
          </a:p>
          <a:p>
            <a:pPr marL="228600" lvl="0" indent="-228600">
              <a:buAutoNum type="arabicPeriod"/>
            </a:pPr>
            <a:endParaRPr lang="en-CN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28600" lvl="0" indent="-228600">
              <a:buAutoNum type="arabicPeriod"/>
            </a:pPr>
            <a:r>
              <a:rPr lang="en-CN" sz="1400" dirty="0">
                <a:latin typeface="Arial" panose="020B0604020202020204" pitchFamily="34" charset="0"/>
                <a:cs typeface="Arial" panose="020B0604020202020204" pitchFamily="34" charset="0"/>
              </a:rPr>
              <a:t>Higher treatment coverage produced larger health gains and faster reductions in severe liver outcomes.</a:t>
            </a:r>
          </a:p>
          <a:p>
            <a:pPr marL="228600" lvl="0" indent="-228600">
              <a:buAutoNum type="arabicPeriod"/>
            </a:pPr>
            <a:endParaRPr lang="en-CN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28600" lvl="0" indent="-228600">
              <a:buAutoNum type="arabicPeriod"/>
            </a:pPr>
            <a:r>
              <a:rPr lang="en-CN" sz="1400" dirty="0">
                <a:latin typeface="Arial" panose="020B0604020202020204" pitchFamily="34" charset="0"/>
                <a:cs typeface="Arial" panose="020B0604020202020204" pitchFamily="34" charset="0"/>
              </a:rPr>
              <a:t>More intensive treatment did not necessarily require more treatment </a:t>
            </a:r>
            <a:r>
              <a:rPr lang="en-CN" sz="1400">
                <a:latin typeface="Arial" panose="020B0604020202020204" pitchFamily="34" charset="0"/>
                <a:cs typeface="Arial" panose="020B0604020202020204" pitchFamily="34" charset="0"/>
              </a:rPr>
              <a:t>initiations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in the </a:t>
            </a:r>
            <a:r>
              <a:rPr lang="en-CN" sz="1400">
                <a:latin typeface="Arial" panose="020B0604020202020204" pitchFamily="34" charset="0"/>
                <a:cs typeface="Arial" panose="020B0604020202020204" pitchFamily="34" charset="0"/>
              </a:rPr>
              <a:t>long term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CN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0958">
              <a:lnSpc>
                <a:spcPct val="105000"/>
              </a:lnSpc>
              <a:spcAft>
                <a:spcPts val="1067"/>
              </a:spcAft>
            </a:pP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0958">
              <a:lnSpc>
                <a:spcPct val="100000"/>
              </a:lnSpc>
              <a:spcAft>
                <a:spcPts val="1067"/>
              </a:spcAft>
            </a:pPr>
            <a:r>
              <a:rPr lang="en-CN" sz="1400" u="sng" dirty="0">
                <a:latin typeface="Arial" panose="020B0604020202020204" pitchFamily="34" charset="0"/>
                <a:cs typeface="Arial" panose="020B0604020202020204" pitchFamily="34" charset="0"/>
              </a:rPr>
              <a:t>Early treatment scale-up can both improve health outcomes and reduce long-term treatment burden.</a:t>
            </a:r>
            <a:endParaRPr lang="en-US" sz="1400" u="sng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6908B5B-CF67-E564-5CC9-CB3D8DC8BB19}"/>
              </a:ext>
            </a:extLst>
          </p:cNvPr>
          <p:cNvSpPr txBox="1"/>
          <p:nvPr/>
        </p:nvSpPr>
        <p:spPr>
          <a:xfrm>
            <a:off x="8655339" y="974178"/>
            <a:ext cx="3169515" cy="1764778"/>
          </a:xfrm>
          <a:prstGeom prst="rect">
            <a:avLst/>
          </a:prstGeom>
          <a:noFill/>
          <a:ln w="28575">
            <a:solidFill>
              <a:srgbClr val="00B0F0"/>
            </a:solidFill>
          </a:ln>
        </p:spPr>
        <p:txBody>
          <a:bodyPr wrap="square" lIns="0" tIns="0" rIns="0" bIns="0" anchor="t">
            <a:spAutoFit/>
          </a:bodyPr>
          <a:lstStyle/>
          <a:p>
            <a:pPr marL="60958">
              <a:lnSpc>
                <a:spcPct val="105000"/>
              </a:lnSpc>
              <a:spcAft>
                <a:spcPts val="1067"/>
              </a:spcAft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Explanation:</a:t>
            </a:r>
          </a:p>
          <a:p>
            <a:pPr marL="60958">
              <a:lnSpc>
                <a:spcPct val="105000"/>
              </a:lnSpc>
              <a:spcAft>
                <a:spcPts val="1067"/>
              </a:spcAft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D/J/F/X: Only treat PWIDs within the stratum</a:t>
            </a:r>
          </a:p>
          <a:p>
            <a:pPr marL="60958">
              <a:lnSpc>
                <a:spcPct val="105000"/>
              </a:lnSpc>
              <a:spcAft>
                <a:spcPts val="1067"/>
              </a:spcAft>
            </a:pP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0958">
              <a:lnSpc>
                <a:spcPct val="105000"/>
              </a:lnSpc>
              <a:spcAft>
                <a:spcPts val="1067"/>
              </a:spcAft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Mixed: Coverage applied to F/X with 100% treatment coverage for J</a:t>
            </a:r>
          </a:p>
        </p:txBody>
      </p:sp>
    </p:spTree>
    <p:extLst>
      <p:ext uri="{BB962C8B-B14F-4D97-AF65-F5344CB8AC3E}">
        <p14:creationId xmlns:p14="http://schemas.microsoft.com/office/powerpoint/2010/main" val="223835843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3810BE-F1CA-C001-9B7A-0B39589143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CF28A9C-9067-8E40-34D5-D44558E92CDD}"/>
              </a:ext>
            </a:extLst>
          </p:cNvPr>
          <p:cNvSpPr txBox="1"/>
          <p:nvPr/>
        </p:nvSpPr>
        <p:spPr>
          <a:xfrm>
            <a:off x="609600" y="341376"/>
            <a:ext cx="1097280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533"/>
              </a:spcAft>
            </a:pPr>
            <a:r>
              <a:rPr lang="en-US" sz="2800" b="1" dirty="0">
                <a:solidFill>
                  <a:srgbClr val="05455E"/>
                </a:solidFill>
                <a:latin typeface="Arial"/>
              </a:rPr>
              <a:t>Conclusion (so far)</a:t>
            </a:r>
            <a:endParaRPr sz="2800" b="1" dirty="0">
              <a:solidFill>
                <a:srgbClr val="05455E"/>
              </a:solidFill>
              <a:latin typeface="Arial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05234E5-611C-BD7C-15F5-ED085FD1D641}"/>
              </a:ext>
            </a:extLst>
          </p:cNvPr>
          <p:cNvSpPr/>
          <p:nvPr/>
        </p:nvSpPr>
        <p:spPr>
          <a:xfrm>
            <a:off x="633984" y="1072896"/>
            <a:ext cx="1828800" cy="67056"/>
          </a:xfrm>
          <a:prstGeom prst="rect">
            <a:avLst/>
          </a:prstGeom>
          <a:solidFill>
            <a:srgbClr val="0097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CABE5220-CFD1-7FB4-584D-0418E165CE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20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C551D17-824C-92F7-742A-D627A9A0BCCA}"/>
              </a:ext>
            </a:extLst>
          </p:cNvPr>
          <p:cNvSpPr txBox="1"/>
          <p:nvPr/>
        </p:nvSpPr>
        <p:spPr>
          <a:xfrm>
            <a:off x="609599" y="1281195"/>
            <a:ext cx="10196945" cy="480131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Prison-based screening and treatment can achieve a substantial reduction in HCV burden among PWIDs and could form the core of an elimination strategy.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Residual infections remain in the community, indicating that targeted treatment of F/X populations is needed to further close the elimination gap.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A mixed prison–community approach is expected to produce the greatest epidemiological benefit.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Overall, the current results support </a:t>
            </a:r>
            <a:r>
              <a:rPr lang="en-US" sz="2400" b="1" u="sng" dirty="0"/>
              <a:t>a prison-centered, community-complementary pathway</a:t>
            </a:r>
            <a:r>
              <a:rPr lang="en-US" sz="2400" dirty="0"/>
              <a:t> toward HCV elimination among PWIDs in Singapore.</a:t>
            </a:r>
          </a:p>
        </p:txBody>
      </p:sp>
    </p:spTree>
    <p:extLst>
      <p:ext uri="{BB962C8B-B14F-4D97-AF65-F5344CB8AC3E}">
        <p14:creationId xmlns:p14="http://schemas.microsoft.com/office/powerpoint/2010/main" val="414092822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4E92E7-FD2A-9E96-5BF4-E04D77DE7A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C894BC1-7061-B39F-6D29-13723D33B314}"/>
              </a:ext>
            </a:extLst>
          </p:cNvPr>
          <p:cNvSpPr txBox="1"/>
          <p:nvPr/>
        </p:nvSpPr>
        <p:spPr>
          <a:xfrm>
            <a:off x="609600" y="341376"/>
            <a:ext cx="1097280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533"/>
              </a:spcAft>
            </a:pPr>
            <a:r>
              <a:rPr lang="en-US" sz="2800" b="1" dirty="0">
                <a:solidFill>
                  <a:srgbClr val="05455E"/>
                </a:solidFill>
                <a:latin typeface="Arial"/>
              </a:rPr>
              <a:t>Next steps</a:t>
            </a:r>
            <a:endParaRPr sz="2800" b="1" dirty="0">
              <a:solidFill>
                <a:srgbClr val="05455E"/>
              </a:solidFill>
              <a:latin typeface="Arial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B07187F-0785-A424-4A50-05CB2ADF8735}"/>
              </a:ext>
            </a:extLst>
          </p:cNvPr>
          <p:cNvSpPr/>
          <p:nvPr/>
        </p:nvSpPr>
        <p:spPr>
          <a:xfrm>
            <a:off x="633984" y="1072896"/>
            <a:ext cx="1828800" cy="67056"/>
          </a:xfrm>
          <a:prstGeom prst="rect">
            <a:avLst/>
          </a:prstGeom>
          <a:solidFill>
            <a:srgbClr val="0097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229890E-532C-46D6-5486-EC86BE7C06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21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130F133-5E6F-79FF-327D-8EA1B29C1DF0}"/>
              </a:ext>
            </a:extLst>
          </p:cNvPr>
          <p:cNvSpPr txBox="1"/>
          <p:nvPr/>
        </p:nvSpPr>
        <p:spPr>
          <a:xfrm>
            <a:off x="609599" y="1281195"/>
            <a:ext cx="10196945" cy="402751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403858" indent="-342900">
              <a:lnSpc>
                <a:spcPct val="105000"/>
              </a:lnSpc>
              <a:spcAft>
                <a:spcPts val="1067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RBV-related adverse effects are not yet explicitly modelled, and detailed HCC treatment pathways are not included.</a:t>
            </a:r>
          </a:p>
          <a:p>
            <a:pPr marL="403858" indent="-342900">
              <a:lnSpc>
                <a:spcPct val="105000"/>
              </a:lnSpc>
              <a:spcAft>
                <a:spcPts val="1067"/>
              </a:spcAft>
              <a:buFont typeface="Arial" panose="020B0604020202020204" pitchFamily="34" charset="0"/>
              <a:buChar char="•"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03858" indent="-342900">
              <a:lnSpc>
                <a:spcPct val="105000"/>
              </a:lnSpc>
              <a:spcAft>
                <a:spcPts val="1067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Additional combinations of prison and community coverage still need to be explored to identify the minimum community component required after maximizing prison treatment.</a:t>
            </a:r>
          </a:p>
          <a:p>
            <a:pPr marL="403858" indent="-342900">
              <a:lnSpc>
                <a:spcPct val="105000"/>
              </a:lnSpc>
              <a:spcAft>
                <a:spcPts val="1067"/>
              </a:spcAft>
              <a:buFont typeface="Arial" panose="020B0604020202020204" pitchFamily="34" charset="0"/>
              <a:buChar char="•"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03858" indent="-342900">
              <a:lnSpc>
                <a:spcPct val="105000"/>
              </a:lnSpc>
              <a:spcAft>
                <a:spcPts val="1067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Screening, treatment delivery costs, productivity losses and downstream HCC treatment costs have not yet been incorporated.</a:t>
            </a:r>
          </a:p>
        </p:txBody>
      </p:sp>
    </p:spTree>
    <p:extLst>
      <p:ext uri="{BB962C8B-B14F-4D97-AF65-F5344CB8AC3E}">
        <p14:creationId xmlns:p14="http://schemas.microsoft.com/office/powerpoint/2010/main" val="405189558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B10082-3553-ABC2-212F-CFBDDC8D46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0516474-B910-8372-EDDE-FCC9D2E30463}"/>
              </a:ext>
            </a:extLst>
          </p:cNvPr>
          <p:cNvSpPr txBox="1"/>
          <p:nvPr/>
        </p:nvSpPr>
        <p:spPr>
          <a:xfrm>
            <a:off x="609600" y="341376"/>
            <a:ext cx="1097280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533"/>
              </a:spcAft>
            </a:pPr>
            <a:r>
              <a:rPr lang="en-US" sz="2800" b="1" dirty="0">
                <a:solidFill>
                  <a:srgbClr val="05455E"/>
                </a:solidFill>
                <a:latin typeface="Arial"/>
              </a:rPr>
              <a:t>Limitations</a:t>
            </a:r>
            <a:endParaRPr sz="2800" b="1" dirty="0">
              <a:solidFill>
                <a:srgbClr val="05455E"/>
              </a:solidFill>
              <a:latin typeface="Arial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B158671-1BFE-9852-8847-829BC8603A5A}"/>
              </a:ext>
            </a:extLst>
          </p:cNvPr>
          <p:cNvSpPr/>
          <p:nvPr/>
        </p:nvSpPr>
        <p:spPr>
          <a:xfrm>
            <a:off x="633984" y="1072896"/>
            <a:ext cx="1828800" cy="67056"/>
          </a:xfrm>
          <a:prstGeom prst="rect">
            <a:avLst/>
          </a:prstGeom>
          <a:solidFill>
            <a:srgbClr val="0097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1A24EF-FC75-C40A-9FA8-C50CD6FE8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513426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600" y="341377"/>
            <a:ext cx="1097280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533"/>
              </a:spcAft>
            </a:pPr>
            <a:r>
              <a:rPr sz="2800" b="1" dirty="0">
                <a:solidFill>
                  <a:srgbClr val="05455E"/>
                </a:solidFill>
                <a:latin typeface="Arial"/>
              </a:rPr>
              <a:t>References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33984" y="1072896"/>
            <a:ext cx="1828800" cy="67056"/>
          </a:xfrm>
          <a:prstGeom prst="rect">
            <a:avLst/>
          </a:prstGeom>
          <a:solidFill>
            <a:srgbClr val="0097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" name="TextBox 3"/>
          <p:cNvSpPr txBox="1"/>
          <p:nvPr/>
        </p:nvSpPr>
        <p:spPr>
          <a:xfrm>
            <a:off x="670560" y="1341120"/>
            <a:ext cx="10850880" cy="42895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28594" indent="-228594">
              <a:buFont typeface="Arial" panose="020B0604020202020204" pitchFamily="34" charset="0"/>
              <a:buChar char="•"/>
            </a:pPr>
            <a:r>
              <a:rPr lang="en-US" sz="1467" dirty="0" err="1">
                <a:latin typeface="Arial" panose="020B0604020202020204" pitchFamily="34" charset="0"/>
                <a:cs typeface="Arial" panose="020B0604020202020204" pitchFamily="34" charset="0"/>
              </a:rPr>
              <a:t>Chaillon</a:t>
            </a:r>
            <a:r>
              <a:rPr lang="en-US" sz="1467" dirty="0">
                <a:latin typeface="Arial" panose="020B0604020202020204" pitchFamily="34" charset="0"/>
                <a:cs typeface="Arial" panose="020B0604020202020204" pitchFamily="34" charset="0"/>
              </a:rPr>
              <a:t> A, Thurairajah PH, Hsiang JC, Martin N. What is required for achieving HCV elimination in Singapore? A modeling study. J Hepatol 2020; 73: S818.</a:t>
            </a:r>
          </a:p>
          <a:p>
            <a:pPr marL="228594" indent="-228594">
              <a:buFont typeface="Arial" panose="020B0604020202020204" pitchFamily="34" charset="0"/>
              <a:buChar char="•"/>
            </a:pPr>
            <a:r>
              <a:rPr lang="en-US" sz="1467" dirty="0">
                <a:latin typeface="Arial" panose="020B0604020202020204" pitchFamily="34" charset="0"/>
                <a:cs typeface="Arial" panose="020B0604020202020204" pitchFamily="34" charset="0"/>
              </a:rPr>
              <a:t>Zhao Y, Thurairajah PH, Kumar R, Tan J, Teo EK, Hsiang JC. Novel non-invasive score to predict cirrhosis in the era of hepatitis C elimination: A population study of ex-substance users in Singapore. Hepatobiliary </a:t>
            </a:r>
            <a:r>
              <a:rPr lang="en-US" sz="1467" dirty="0" err="1">
                <a:latin typeface="Arial" panose="020B0604020202020204" pitchFamily="34" charset="0"/>
                <a:cs typeface="Arial" panose="020B0604020202020204" pitchFamily="34" charset="0"/>
              </a:rPr>
              <a:t>Pancreat</a:t>
            </a:r>
            <a:r>
              <a:rPr lang="en-US" sz="1467" dirty="0">
                <a:latin typeface="Arial" panose="020B0604020202020204" pitchFamily="34" charset="0"/>
                <a:cs typeface="Arial" panose="020B0604020202020204" pitchFamily="34" charset="0"/>
              </a:rPr>
              <a:t> Dis Int 2019; 18: 143–8.</a:t>
            </a:r>
          </a:p>
          <a:p>
            <a:pPr marL="228594" indent="-228594">
              <a:buFont typeface="Arial" panose="020B0604020202020204" pitchFamily="34" charset="0"/>
              <a:buChar char="•"/>
            </a:pPr>
            <a:r>
              <a:rPr lang="en-US" sz="1467" dirty="0">
                <a:latin typeface="Arial" panose="020B0604020202020204" pitchFamily="34" charset="0"/>
                <a:cs typeface="Arial" panose="020B0604020202020204" pitchFamily="34" charset="0"/>
              </a:rPr>
              <a:t>Zhu RX, Seto W-K, Lai C-L, Yuen M-F. Epidemiology of hepatocellular carcinoma in the Asia-Pacific region. Gut Liver 2016; 10. DOI:10.5009/gnl15257.</a:t>
            </a:r>
          </a:p>
          <a:p>
            <a:pPr marL="228594" indent="-228594">
              <a:buFont typeface="Arial" panose="020B0604020202020204" pitchFamily="34" charset="0"/>
              <a:buChar char="•"/>
            </a:pPr>
            <a:r>
              <a:rPr lang="en-US" sz="1467" dirty="0" err="1">
                <a:latin typeface="Arial" panose="020B0604020202020204" pitchFamily="34" charset="0"/>
                <a:cs typeface="Arial" panose="020B0604020202020204" pitchFamily="34" charset="0"/>
              </a:rPr>
              <a:t>Ashtari</a:t>
            </a:r>
            <a:r>
              <a:rPr lang="en-US" sz="1467" dirty="0">
                <a:latin typeface="Arial" panose="020B0604020202020204" pitchFamily="34" charset="0"/>
                <a:cs typeface="Arial" panose="020B0604020202020204" pitchFamily="34" charset="0"/>
              </a:rPr>
              <a:t> S. Hepatocellular carcinoma in Asia: prevention strategy and planning. World J Hepatol 2015; 7: 1708.</a:t>
            </a:r>
          </a:p>
          <a:p>
            <a:pPr marL="228594" indent="-228594">
              <a:buFont typeface="Arial" panose="020B0604020202020204" pitchFamily="34" charset="0"/>
              <a:buChar char="•"/>
            </a:pPr>
            <a:r>
              <a:rPr lang="en-US" sz="1467" dirty="0">
                <a:latin typeface="Arial" panose="020B0604020202020204" pitchFamily="34" charset="0"/>
                <a:cs typeface="Arial" panose="020B0604020202020204" pitchFamily="34" charset="0"/>
              </a:rPr>
              <a:t>Wu Y-J, Xu M-Y, Lu L-G. Clinical advances in fibrosis progression of chronic hepatitis B and C. J Clin </a:t>
            </a:r>
            <a:r>
              <a:rPr lang="en-US" sz="1467" dirty="0" err="1">
                <a:latin typeface="Arial" panose="020B0604020202020204" pitchFamily="34" charset="0"/>
                <a:cs typeface="Arial" panose="020B0604020202020204" pitchFamily="34" charset="0"/>
              </a:rPr>
              <a:t>Transl</a:t>
            </a:r>
            <a:r>
              <a:rPr lang="en-US" sz="1467" dirty="0">
                <a:latin typeface="Arial" panose="020B0604020202020204" pitchFamily="34" charset="0"/>
                <a:cs typeface="Arial" panose="020B0604020202020204" pitchFamily="34" charset="0"/>
              </a:rPr>
              <a:t> Hepatol 2014; 2: 222–7.</a:t>
            </a:r>
          </a:p>
          <a:p>
            <a:pPr marL="228594" indent="-228594">
              <a:buFont typeface="Arial" panose="020B0604020202020204" pitchFamily="34" charset="0"/>
              <a:buChar char="•"/>
            </a:pPr>
            <a:r>
              <a:rPr lang="en-US" sz="1467" dirty="0" err="1">
                <a:latin typeface="Arial" panose="020B0604020202020204" pitchFamily="34" charset="0"/>
                <a:cs typeface="Arial" panose="020B0604020202020204" pitchFamily="34" charset="0"/>
              </a:rPr>
              <a:t>Pawlotsky</a:t>
            </a:r>
            <a:r>
              <a:rPr lang="en-US" sz="1467" dirty="0">
                <a:latin typeface="Arial" panose="020B0604020202020204" pitchFamily="34" charset="0"/>
                <a:cs typeface="Arial" panose="020B0604020202020204" pitchFamily="34" charset="0"/>
              </a:rPr>
              <a:t> J-M, Negro F, </a:t>
            </a:r>
            <a:r>
              <a:rPr lang="en-US" sz="1467" dirty="0" err="1">
                <a:latin typeface="Arial" panose="020B0604020202020204" pitchFamily="34" charset="0"/>
                <a:cs typeface="Arial" panose="020B0604020202020204" pitchFamily="34" charset="0"/>
              </a:rPr>
              <a:t>Aghemo</a:t>
            </a:r>
            <a:r>
              <a:rPr lang="en-US" sz="1467" dirty="0">
                <a:latin typeface="Arial" panose="020B0604020202020204" pitchFamily="34" charset="0"/>
                <a:cs typeface="Arial" panose="020B0604020202020204" pitchFamily="34" charset="0"/>
              </a:rPr>
              <a:t> A, et al. EASL recommendations on treatment of hepatitis C: final update of the series. J Hepatol 2020; 73: 1170–218.</a:t>
            </a:r>
          </a:p>
          <a:p>
            <a:pPr marL="228594" indent="-228594">
              <a:buFont typeface="Arial" panose="020B0604020202020204" pitchFamily="34" charset="0"/>
              <a:buChar char="•"/>
            </a:pPr>
            <a:r>
              <a:rPr lang="en-US" sz="1467" dirty="0">
                <a:latin typeface="Arial" panose="020B0604020202020204" pitchFamily="34" charset="0"/>
                <a:cs typeface="Arial" panose="020B0604020202020204" pitchFamily="34" charset="0"/>
              </a:rPr>
              <a:t>Hernandez-Con P, Wilson DL, Tang H, et al. Hepatitis C cascade of care in the direct-acting antivirals era: a meta-analysis. Am J Prev Med 2023; 65: 1153–62.</a:t>
            </a:r>
          </a:p>
          <a:p>
            <a:pPr marL="228594" indent="-228594">
              <a:buFont typeface="Arial" panose="020B0604020202020204" pitchFamily="34" charset="0"/>
              <a:buChar char="•"/>
            </a:pPr>
            <a:r>
              <a:rPr lang="en-US" sz="1467" dirty="0">
                <a:latin typeface="Arial" panose="020B0604020202020204" pitchFamily="34" charset="0"/>
                <a:cs typeface="Arial" panose="020B0604020202020204" pitchFamily="34" charset="0"/>
              </a:rPr>
              <a:t>Goodyear T, Brown H, Browne AJ, Hoong P, Ti L, Knight R. “I want to get better, but…”: identifying the perceptions and experiences of people who inject drugs with respect to evolving hepatitis C virus treatments. Int J Equity Health 2021; 20: 81.</a:t>
            </a:r>
          </a:p>
          <a:p>
            <a:pPr marL="228594" indent="-228594">
              <a:buFont typeface="Arial" panose="020B0604020202020204" pitchFamily="34" charset="0"/>
              <a:buChar char="•"/>
            </a:pPr>
            <a:r>
              <a:rPr lang="en-US" sz="1467" dirty="0">
                <a:latin typeface="Arial" panose="020B0604020202020204" pitchFamily="34" charset="0"/>
                <a:cs typeface="Arial" panose="020B0604020202020204" pitchFamily="34" charset="0"/>
              </a:rPr>
              <a:t>Mathers BM, Degenhardt L, </a:t>
            </a:r>
            <a:r>
              <a:rPr lang="en-US" sz="1467" dirty="0" err="1">
                <a:latin typeface="Arial" panose="020B0604020202020204" pitchFamily="34" charset="0"/>
                <a:cs typeface="Arial" panose="020B0604020202020204" pitchFamily="34" charset="0"/>
              </a:rPr>
              <a:t>Bucello</a:t>
            </a:r>
            <a:r>
              <a:rPr lang="en-US" sz="1467" dirty="0">
                <a:latin typeface="Arial" panose="020B0604020202020204" pitchFamily="34" charset="0"/>
                <a:cs typeface="Arial" panose="020B0604020202020204" pitchFamily="34" charset="0"/>
              </a:rPr>
              <a:t> C, Lemon J, </a:t>
            </a:r>
            <a:r>
              <a:rPr lang="en-US" sz="1467" dirty="0" err="1">
                <a:latin typeface="Arial" panose="020B0604020202020204" pitchFamily="34" charset="0"/>
                <a:cs typeface="Arial" panose="020B0604020202020204" pitchFamily="34" charset="0"/>
              </a:rPr>
              <a:t>Wiessing</a:t>
            </a:r>
            <a:r>
              <a:rPr lang="en-US" sz="1467" dirty="0">
                <a:latin typeface="Arial" panose="020B0604020202020204" pitchFamily="34" charset="0"/>
                <a:cs typeface="Arial" panose="020B0604020202020204" pitchFamily="34" charset="0"/>
              </a:rPr>
              <a:t> L, Hickman M. Mortality among people who inject drugs: a systematic review and meta-analysis. Bull World Health Organ 2013; 91: 102–23.</a:t>
            </a:r>
          </a:p>
          <a:p>
            <a:pPr marL="228594" indent="-228594">
              <a:buFont typeface="Arial" panose="020B0604020202020204" pitchFamily="34" charset="0"/>
              <a:buChar char="•"/>
            </a:pPr>
            <a:r>
              <a:rPr lang="en-US" sz="1467" dirty="0" err="1">
                <a:latin typeface="Arial" panose="020B0604020202020204" pitchFamily="34" charset="0"/>
                <a:cs typeface="Arial" panose="020B0604020202020204" pitchFamily="34" charset="0"/>
              </a:rPr>
              <a:t>Boelen</a:t>
            </a:r>
            <a:r>
              <a:rPr lang="en-US" sz="1467" dirty="0">
                <a:latin typeface="Arial" panose="020B0604020202020204" pitchFamily="34" charset="0"/>
                <a:cs typeface="Arial" panose="020B0604020202020204" pitchFamily="34" charset="0"/>
              </a:rPr>
              <a:t> L, Teutsch S, Wilson DP, et al. Per-event probability of hepatitis C infection during sharing of injecting equipment. </a:t>
            </a:r>
            <a:r>
              <a:rPr lang="en-US" sz="1467" dirty="0" err="1">
                <a:latin typeface="Arial" panose="020B0604020202020204" pitchFamily="34" charset="0"/>
                <a:cs typeface="Arial" panose="020B0604020202020204" pitchFamily="34" charset="0"/>
              </a:rPr>
              <a:t>PLoS</a:t>
            </a:r>
            <a:r>
              <a:rPr lang="en-US" sz="1467" dirty="0">
                <a:latin typeface="Arial" panose="020B0604020202020204" pitchFamily="34" charset="0"/>
                <a:cs typeface="Arial" panose="020B0604020202020204" pitchFamily="34" charset="0"/>
              </a:rPr>
              <a:t> One 2014; 9: e100749.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7A7419-2CF7-D68A-473D-1B1C81393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C0A738-0FAB-3A39-9922-D6AADBD3D8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9E9D96D-1137-EA75-62FE-0A9543CCB25A}"/>
              </a:ext>
            </a:extLst>
          </p:cNvPr>
          <p:cNvSpPr txBox="1"/>
          <p:nvPr/>
        </p:nvSpPr>
        <p:spPr>
          <a:xfrm>
            <a:off x="609600" y="341377"/>
            <a:ext cx="1097280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533"/>
              </a:spcAft>
            </a:pPr>
            <a:r>
              <a:rPr sz="2800" b="1" dirty="0">
                <a:solidFill>
                  <a:srgbClr val="05455E"/>
                </a:solidFill>
                <a:latin typeface="Arial"/>
              </a:rPr>
              <a:t>References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5D9AC97-C230-4F16-2844-6EA8A6B25B97}"/>
              </a:ext>
            </a:extLst>
          </p:cNvPr>
          <p:cNvSpPr/>
          <p:nvPr/>
        </p:nvSpPr>
        <p:spPr>
          <a:xfrm>
            <a:off x="633984" y="1072896"/>
            <a:ext cx="1828800" cy="67056"/>
          </a:xfrm>
          <a:prstGeom prst="rect">
            <a:avLst/>
          </a:prstGeom>
          <a:solidFill>
            <a:srgbClr val="0097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E85BF71-7EEB-348E-84B7-7A51108FB2D3}"/>
              </a:ext>
            </a:extLst>
          </p:cNvPr>
          <p:cNvSpPr txBox="1"/>
          <p:nvPr/>
        </p:nvSpPr>
        <p:spPr>
          <a:xfrm>
            <a:off x="670560" y="1341120"/>
            <a:ext cx="10850880" cy="31607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28594" indent="-228594">
              <a:buFont typeface="Arial" panose="020B0604020202020204" pitchFamily="34" charset="0"/>
              <a:buChar char="•"/>
            </a:pPr>
            <a:r>
              <a:rPr lang="en-US" sz="1467" dirty="0">
                <a:latin typeface="Arial" panose="020B0604020202020204" pitchFamily="34" charset="0"/>
                <a:cs typeface="Arial" panose="020B0604020202020204" pitchFamily="34" charset="0"/>
              </a:rPr>
              <a:t>Micallef JM, Kaldor JM, Dore G. Spontaneous viral clearance following acute hepatitis C infection: a systematic review of longitudinal studies. J Viral </a:t>
            </a:r>
            <a:r>
              <a:rPr lang="en-US" sz="1467" dirty="0" err="1">
                <a:latin typeface="Arial" panose="020B0604020202020204" pitchFamily="34" charset="0"/>
                <a:cs typeface="Arial" panose="020B0604020202020204" pitchFamily="34" charset="0"/>
              </a:rPr>
              <a:t>Hepat</a:t>
            </a:r>
            <a:r>
              <a:rPr lang="en-US" sz="1467" dirty="0">
                <a:latin typeface="Arial" panose="020B0604020202020204" pitchFamily="34" charset="0"/>
                <a:cs typeface="Arial" panose="020B0604020202020204" pitchFamily="34" charset="0"/>
              </a:rPr>
              <a:t> 2006; 13: 34–41.</a:t>
            </a:r>
          </a:p>
          <a:p>
            <a:pPr marL="228594" indent="-228594">
              <a:buFont typeface="Arial" panose="020B0604020202020204" pitchFamily="34" charset="0"/>
              <a:buChar char="•"/>
            </a:pPr>
            <a:r>
              <a:rPr lang="en-US" sz="1467" dirty="0">
                <a:latin typeface="Arial" panose="020B0604020202020204" pitchFamily="34" charset="0"/>
                <a:cs typeface="Arial" panose="020B0604020202020204" pitchFamily="34" charset="0"/>
              </a:rPr>
              <a:t>Fasano M, Ieva F, </a:t>
            </a:r>
            <a:r>
              <a:rPr lang="en-US" sz="1467" dirty="0" err="1">
                <a:latin typeface="Arial" panose="020B0604020202020204" pitchFamily="34" charset="0"/>
                <a:cs typeface="Arial" panose="020B0604020202020204" pitchFamily="34" charset="0"/>
              </a:rPr>
              <a:t>Ciarallo</a:t>
            </a:r>
            <a:r>
              <a:rPr lang="en-US" sz="1467" dirty="0">
                <a:latin typeface="Arial" panose="020B0604020202020204" pitchFamily="34" charset="0"/>
                <a:cs typeface="Arial" panose="020B0604020202020204" pitchFamily="34" charset="0"/>
              </a:rPr>
              <a:t> M, </a:t>
            </a:r>
            <a:r>
              <a:rPr lang="en-US" sz="1467" dirty="0" err="1">
                <a:latin typeface="Arial" panose="020B0604020202020204" pitchFamily="34" charset="0"/>
                <a:cs typeface="Arial" panose="020B0604020202020204" pitchFamily="34" charset="0"/>
              </a:rPr>
              <a:t>Caccianotti</a:t>
            </a:r>
            <a:r>
              <a:rPr lang="en-US" sz="1467" dirty="0">
                <a:latin typeface="Arial" panose="020B0604020202020204" pitchFamily="34" charset="0"/>
                <a:cs typeface="Arial" panose="020B0604020202020204" pitchFamily="34" charset="0"/>
              </a:rPr>
              <a:t> B, </a:t>
            </a:r>
            <a:r>
              <a:rPr lang="en-US" sz="1467" dirty="0" err="1">
                <a:latin typeface="Arial" panose="020B0604020202020204" pitchFamily="34" charset="0"/>
                <a:cs typeface="Arial" panose="020B0604020202020204" pitchFamily="34" charset="0"/>
              </a:rPr>
              <a:t>Santantonio</a:t>
            </a:r>
            <a:r>
              <a:rPr lang="en-US" sz="1467" dirty="0">
                <a:latin typeface="Arial" panose="020B0604020202020204" pitchFamily="34" charset="0"/>
                <a:cs typeface="Arial" panose="020B0604020202020204" pitchFamily="34" charset="0"/>
              </a:rPr>
              <a:t> TA. Acute hepatitis C: current status and future perspectives. Viruses 2024; 16: 1739.</a:t>
            </a:r>
          </a:p>
          <a:p>
            <a:pPr marL="228594" indent="-228594">
              <a:buFont typeface="Arial" panose="020B0604020202020204" pitchFamily="34" charset="0"/>
              <a:buChar char="•"/>
            </a:pPr>
            <a:r>
              <a:rPr lang="en-US" sz="1467" dirty="0">
                <a:latin typeface="Arial" panose="020B0604020202020204" pitchFamily="34" charset="0"/>
                <a:cs typeface="Arial" panose="020B0604020202020204" pitchFamily="34" charset="0"/>
              </a:rPr>
              <a:t>Lim AG, Qureshi H, Mahmood H, et al. Curbing the hepatitis C virus epidemic in Pakistan: the impact of scaling up treatment and prevention for achieving elimination. Int J Epidemiol 2018; 47: 550–60.</a:t>
            </a:r>
          </a:p>
          <a:p>
            <a:pPr marL="228594" indent="-228594">
              <a:buFont typeface="Arial" panose="020B0604020202020204" pitchFamily="34" charset="0"/>
              <a:buChar char="•"/>
            </a:pPr>
            <a:r>
              <a:rPr lang="en-US" sz="1467" dirty="0" err="1">
                <a:latin typeface="Arial" panose="020B0604020202020204" pitchFamily="34" charset="0"/>
                <a:cs typeface="Arial" panose="020B0604020202020204" pitchFamily="34" charset="0"/>
              </a:rPr>
              <a:t>Fattovich</a:t>
            </a:r>
            <a:r>
              <a:rPr lang="en-US" sz="1467" dirty="0">
                <a:latin typeface="Arial" panose="020B0604020202020204" pitchFamily="34" charset="0"/>
                <a:cs typeface="Arial" panose="020B0604020202020204" pitchFamily="34" charset="0"/>
              </a:rPr>
              <a:t> G, </a:t>
            </a:r>
            <a:r>
              <a:rPr lang="en-US" sz="1467" dirty="0" err="1">
                <a:latin typeface="Arial" panose="020B0604020202020204" pitchFamily="34" charset="0"/>
                <a:cs typeface="Arial" panose="020B0604020202020204" pitchFamily="34" charset="0"/>
              </a:rPr>
              <a:t>Stroffolini</a:t>
            </a:r>
            <a:r>
              <a:rPr lang="en-US" sz="1467" dirty="0">
                <a:latin typeface="Arial" panose="020B0604020202020204" pitchFamily="34" charset="0"/>
                <a:cs typeface="Arial" panose="020B0604020202020204" pitchFamily="34" charset="0"/>
              </a:rPr>
              <a:t> T, </a:t>
            </a:r>
            <a:r>
              <a:rPr lang="en-US" sz="1467" dirty="0" err="1">
                <a:latin typeface="Arial" panose="020B0604020202020204" pitchFamily="34" charset="0"/>
                <a:cs typeface="Arial" panose="020B0604020202020204" pitchFamily="34" charset="0"/>
              </a:rPr>
              <a:t>Zagni</a:t>
            </a:r>
            <a:r>
              <a:rPr lang="en-US" sz="1467" dirty="0">
                <a:latin typeface="Arial" panose="020B0604020202020204" pitchFamily="34" charset="0"/>
                <a:cs typeface="Arial" panose="020B0604020202020204" pitchFamily="34" charset="0"/>
              </a:rPr>
              <a:t> I, Donato F. Hepatocellular carcinoma in cirrhosis: incidence and risk factors. Gastroenterology 2004; 127: S35–50.</a:t>
            </a:r>
          </a:p>
          <a:p>
            <a:pPr marL="228594" indent="-228594">
              <a:buFont typeface="Arial" panose="020B0604020202020204" pitchFamily="34" charset="0"/>
              <a:buChar char="•"/>
            </a:pPr>
            <a:r>
              <a:rPr lang="en-US" sz="1467" dirty="0">
                <a:latin typeface="Arial" panose="020B0604020202020204" pitchFamily="34" charset="0"/>
                <a:cs typeface="Arial" panose="020B0604020202020204" pitchFamily="34" charset="0"/>
              </a:rPr>
              <a:t>An J, Park DA, Ko MJ, et al. Direct-acting antivirals for HCV treatment in decompensated liver cirrhosis patients: a systematic review and meta-analysis. J Pers Med 2022; 12: 1517.</a:t>
            </a:r>
          </a:p>
          <a:p>
            <a:pPr marL="228594" indent="-228594">
              <a:buFont typeface="Arial" panose="020B0604020202020204" pitchFamily="34" charset="0"/>
              <a:buChar char="•"/>
            </a:pPr>
            <a:r>
              <a:rPr lang="en-US" sz="1467" dirty="0">
                <a:latin typeface="Arial" panose="020B0604020202020204" pitchFamily="34" charset="0"/>
                <a:cs typeface="Arial" panose="020B0604020202020204" pitchFamily="34" charset="0"/>
              </a:rPr>
              <a:t>Morgan RL, Baack B, Smith BD, </a:t>
            </a:r>
            <a:r>
              <a:rPr lang="en-US" sz="1467" dirty="0" err="1">
                <a:latin typeface="Arial" panose="020B0604020202020204" pitchFamily="34" charset="0"/>
                <a:cs typeface="Arial" panose="020B0604020202020204" pitchFamily="34" charset="0"/>
              </a:rPr>
              <a:t>Yartel</a:t>
            </a:r>
            <a:r>
              <a:rPr lang="en-US" sz="1467" dirty="0">
                <a:latin typeface="Arial" panose="020B0604020202020204" pitchFamily="34" charset="0"/>
                <a:cs typeface="Arial" panose="020B0604020202020204" pitchFamily="34" charset="0"/>
              </a:rPr>
              <a:t> A, </a:t>
            </a:r>
            <a:r>
              <a:rPr lang="en-US" sz="1467" dirty="0" err="1">
                <a:latin typeface="Arial" panose="020B0604020202020204" pitchFamily="34" charset="0"/>
                <a:cs typeface="Arial" panose="020B0604020202020204" pitchFamily="34" charset="0"/>
              </a:rPr>
              <a:t>Pitasi</a:t>
            </a:r>
            <a:r>
              <a:rPr lang="en-US" sz="1467" dirty="0">
                <a:latin typeface="Arial" panose="020B0604020202020204" pitchFamily="34" charset="0"/>
                <a:cs typeface="Arial" panose="020B0604020202020204" pitchFamily="34" charset="0"/>
              </a:rPr>
              <a:t> M, Falck-</a:t>
            </a:r>
            <a:r>
              <a:rPr lang="en-US" sz="1467" dirty="0" err="1">
                <a:latin typeface="Arial" panose="020B0604020202020204" pitchFamily="34" charset="0"/>
                <a:cs typeface="Arial" panose="020B0604020202020204" pitchFamily="34" charset="0"/>
              </a:rPr>
              <a:t>Ytter</a:t>
            </a:r>
            <a:r>
              <a:rPr lang="en-US" sz="1467" dirty="0">
                <a:latin typeface="Arial" panose="020B0604020202020204" pitchFamily="34" charset="0"/>
                <a:cs typeface="Arial" panose="020B0604020202020204" pitchFamily="34" charset="0"/>
              </a:rPr>
              <a:t> Y. Eradication of hepatitis C virus infection and the development of hepatocellular carcinoma: a meta-analysis of observational studies. Ann Intern Med 2013; 158: 329–37.</a:t>
            </a:r>
          </a:p>
          <a:p>
            <a:pPr marL="228594" indent="-228594">
              <a:buFont typeface="Arial" panose="020B0604020202020204" pitchFamily="34" charset="0"/>
              <a:buChar char="•"/>
            </a:pPr>
            <a:r>
              <a:rPr lang="en-US" sz="1467" dirty="0">
                <a:latin typeface="Arial" panose="020B0604020202020204" pitchFamily="34" charset="0"/>
                <a:cs typeface="Arial" panose="020B0604020202020204" pitchFamily="34" charset="0"/>
              </a:rPr>
              <a:t>Xiao J, Zhang X, Mao X, Lai S, Li S, Sheng Y. Efficacy and safety of </a:t>
            </a:r>
            <a:r>
              <a:rPr lang="en-US" sz="1467" dirty="0" err="1">
                <a:latin typeface="Arial" panose="020B0604020202020204" pitchFamily="34" charset="0"/>
                <a:cs typeface="Arial" panose="020B0604020202020204" pitchFamily="34" charset="0"/>
              </a:rPr>
              <a:t>velpatasvir</a:t>
            </a:r>
            <a:r>
              <a:rPr lang="en-US" sz="1467" dirty="0">
                <a:latin typeface="Arial" panose="020B0604020202020204" pitchFamily="34" charset="0"/>
                <a:cs typeface="Arial" panose="020B0604020202020204" pitchFamily="34" charset="0"/>
              </a:rPr>
              <a:t> plus sofosbuvir with or without ribavirin in hepatitis C patients with decompensated cirrhosis: a systematic review and meta-analysis. J Viral </a:t>
            </a:r>
            <a:r>
              <a:rPr lang="en-US" sz="1467" dirty="0" err="1">
                <a:latin typeface="Arial" panose="020B0604020202020204" pitchFamily="34" charset="0"/>
                <a:cs typeface="Arial" panose="020B0604020202020204" pitchFamily="34" charset="0"/>
              </a:rPr>
              <a:t>Hepat</a:t>
            </a:r>
            <a:r>
              <a:rPr lang="en-US" sz="1467" dirty="0">
                <a:latin typeface="Arial" panose="020B0604020202020204" pitchFamily="34" charset="0"/>
                <a:cs typeface="Arial" panose="020B0604020202020204" pitchFamily="34" charset="0"/>
              </a:rPr>
              <a:t> 2025; 32: e70078.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59EA7F-24EC-D420-FF4D-4690F4C808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24538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70AF27-4577-6B45-D66D-9D803AC501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1DDA3CD-379B-F946-917A-415AFA65978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54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C705092-D048-965D-AE56-B0C5A25935FE}"/>
              </a:ext>
            </a:extLst>
          </p:cNvPr>
          <p:cNvSpPr txBox="1"/>
          <p:nvPr/>
        </p:nvSpPr>
        <p:spPr>
          <a:xfrm>
            <a:off x="731520" y="2499359"/>
            <a:ext cx="10728960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Extra slides</a:t>
            </a:r>
            <a:endParaRPr lang="en-CN" sz="3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602CE6-9C2F-70CE-1004-A16E61A38E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221330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55B77A-0701-97C3-8A28-A9AFCF4830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AD3DEE7-F0E5-DB1C-FDA2-020E49F55AD7}"/>
              </a:ext>
            </a:extLst>
          </p:cNvPr>
          <p:cNvSpPr txBox="1"/>
          <p:nvPr/>
        </p:nvSpPr>
        <p:spPr>
          <a:xfrm>
            <a:off x="609600" y="341377"/>
            <a:ext cx="1097280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533"/>
              </a:spcAft>
            </a:pPr>
            <a:r>
              <a:rPr lang="en-US" sz="2800" b="1" dirty="0">
                <a:solidFill>
                  <a:srgbClr val="05455E"/>
                </a:solidFill>
                <a:latin typeface="Arial"/>
              </a:rPr>
              <a:t>Model estimate at 2017</a:t>
            </a:r>
            <a:endParaRPr sz="2800" b="1" dirty="0">
              <a:solidFill>
                <a:srgbClr val="05455E"/>
              </a:solidFill>
              <a:latin typeface="Arial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7FA2E4A-01A8-A7F0-755E-F463E4022C59}"/>
              </a:ext>
            </a:extLst>
          </p:cNvPr>
          <p:cNvSpPr/>
          <p:nvPr/>
        </p:nvSpPr>
        <p:spPr>
          <a:xfrm>
            <a:off x="633984" y="1072896"/>
            <a:ext cx="1828800" cy="67056"/>
          </a:xfrm>
          <a:prstGeom prst="rect">
            <a:avLst/>
          </a:prstGeom>
          <a:solidFill>
            <a:srgbClr val="0097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graphicFrame>
        <p:nvGraphicFramePr>
          <p:cNvPr id="10" name="Google Shape;334;p46">
            <a:extLst>
              <a:ext uri="{FF2B5EF4-FFF2-40B4-BE49-F238E27FC236}">
                <a16:creationId xmlns:a16="http://schemas.microsoft.com/office/drawing/2014/main" id="{46D6DD90-E7C3-33E9-EE87-35E71D309548}"/>
              </a:ext>
            </a:extLst>
          </p:cNvPr>
          <p:cNvGraphicFramePr/>
          <p:nvPr/>
        </p:nvGraphicFramePr>
        <p:xfrm>
          <a:off x="682750" y="1212205"/>
          <a:ext cx="10753994" cy="34121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3351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35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83292">
                  <a:extLst>
                    <a:ext uri="{9D8B030D-6E8A-4147-A177-3AD203B41FA5}">
                      <a16:colId xmlns:a16="http://schemas.microsoft.com/office/drawing/2014/main" val="909906734"/>
                    </a:ext>
                  </a:extLst>
                </a:gridCol>
              </a:tblGrid>
              <a:tr h="425281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Stratum</a:t>
                      </a:r>
                      <a:endParaRPr sz="1600" b="1" u="none" strike="noStrike" cap="non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71384" marR="171384" marT="85692" marB="8569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b="1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Total population</a:t>
                      </a:r>
                      <a:r>
                        <a:rPr lang="zh-CN" altLang="en-US" sz="1600" b="1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CN" sz="1600" b="1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(95%</a:t>
                      </a:r>
                      <a:r>
                        <a:rPr lang="zh-CN" altLang="en-US" sz="1600" b="1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CN" sz="1600" b="1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BCI)</a:t>
                      </a:r>
                      <a:endParaRPr sz="1600" b="1" u="none" strike="noStrike" cap="non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71384" marR="171384" marT="85692" marB="8569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HCV cases (95% BCI)</a:t>
                      </a:r>
                      <a:endParaRPr sz="1600" b="1" u="none" strike="noStrike" cap="non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71384" marR="171384" marT="85692" marB="8569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6739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u="none" strike="noStrike" cap="none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Never–incarcerated PWID (D)</a:t>
                      </a:r>
                    </a:p>
                  </a:txBody>
                  <a:tcPr marL="171384" marR="171384" marT="85692" marB="8569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3,734 (3,436–4,069)</a:t>
                      </a:r>
                      <a:endParaRPr sz="1600" b="0" u="none" strike="noStrike" cap="non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71384" marR="171384" marT="85692" marB="8569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975 (869–1,090)</a:t>
                      </a:r>
                      <a:endParaRPr sz="1600" b="0" u="none" strike="noStrike" cap="non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71384" marR="171384" marT="85692" marB="8569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5281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Incarcerated ex–PWID (J)</a:t>
                      </a:r>
                    </a:p>
                  </a:txBody>
                  <a:tcPr marL="171384" marR="171384" marT="85692" marB="8569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6,618 (6,101–7,290)</a:t>
                      </a:r>
                      <a:endParaRPr sz="1600" b="0" u="none" strike="noStrike" cap="non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71384" marR="171384" marT="85692" marB="8569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2,341 (2,118–2,617)</a:t>
                      </a:r>
                      <a:endParaRPr sz="1600" b="0" u="none" strike="noStrike" cap="non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71384" marR="171384" marT="85692" marB="8569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3609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Formerly–incarcerated PWID (F)</a:t>
                      </a:r>
                    </a:p>
                  </a:txBody>
                  <a:tcPr marL="171384" marR="171384" marT="85692" marB="8569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2,954 (2,715–3,264)</a:t>
                      </a:r>
                      <a:endParaRPr sz="1600" b="0" u="none" strike="noStrike" cap="non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71384" marR="171384" marT="85692" marB="8569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1,366 (1,247–1,506)</a:t>
                      </a:r>
                      <a:endParaRPr sz="1600" b="0" u="none" strike="noStrike" cap="non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71384" marR="171384" marT="85692" marB="8569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0415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Formerly–incarcerated ex–PWID (X)</a:t>
                      </a:r>
                    </a:p>
                  </a:txBody>
                  <a:tcPr marL="171384" marR="171384" marT="85692" marB="8569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26,243 (23,717–29,624)</a:t>
                      </a:r>
                      <a:endParaRPr sz="1600" b="0" u="none" strike="noStrike" cap="non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71384" marR="171384" marT="85692" marB="8569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6,342 (5,741–7,100)</a:t>
                      </a:r>
                      <a:endParaRPr sz="1600" b="0" u="none" strike="noStrike" cap="non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71384" marR="171384" marT="85692" marB="8569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041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u="none" strike="noStrike" cap="none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Current PWID (D + F)</a:t>
                      </a:r>
                    </a:p>
                  </a:txBody>
                  <a:tcPr marL="171384" marR="171384" marT="85692" marB="8569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u="none" strike="noStrike" cap="none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6,688 (6,151–7,333)</a:t>
                      </a:r>
                      <a:endParaRPr sz="1600" b="0" u="none" strike="noStrike" cap="none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71384" marR="171384" marT="85692" marB="8569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2,341 (2,116–2,596)</a:t>
                      </a:r>
                      <a:endParaRPr sz="1600" b="0" u="none" strike="noStrike" cap="non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71384" marR="171384" marT="85692" marB="8569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09122847"/>
                  </a:ext>
                </a:extLst>
              </a:tr>
              <a:tr h="50041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Ever-PWID (D + J + F + X)</a:t>
                      </a:r>
                    </a:p>
                  </a:txBody>
                  <a:tcPr marL="171384" marR="171384" marT="85692" marB="8569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39,561 (36,140–44,078)</a:t>
                      </a:r>
                      <a:endParaRPr sz="1600" b="0" u="none" strike="noStrike" cap="non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71384" marR="171384" marT="85692" marB="8569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11,065 (10,006––2,285)</a:t>
                      </a:r>
                      <a:endParaRPr sz="1600" b="0" u="none" strike="noStrike" cap="non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71384" marR="171384" marT="85692" marB="8569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36233403"/>
                  </a:ext>
                </a:extLst>
              </a:tr>
            </a:tbl>
          </a:graphicData>
        </a:graphic>
      </p:graphicFrame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C0EF5F64-0EA8-9AEE-BE39-C04CC65102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26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0E294BC-CF1C-52E4-C748-4349850EA692}"/>
              </a:ext>
            </a:extLst>
          </p:cNvPr>
          <p:cNvSpPr txBox="1"/>
          <p:nvPr/>
        </p:nvSpPr>
        <p:spPr>
          <a:xfrm>
            <a:off x="670559" y="6614252"/>
            <a:ext cx="10850880" cy="1743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533"/>
              </a:spcAft>
            </a:pPr>
            <a:r>
              <a:rPr lang="en-US" sz="1133" b="1" dirty="0">
                <a:solidFill>
                  <a:srgbClr val="595959"/>
                </a:solidFill>
                <a:latin typeface="Arial"/>
              </a:rPr>
              <a:t>NSUM: Network scale–up method; IVDU: Intravenous drug users; PWID: People who inject drugs;</a:t>
            </a:r>
            <a:endParaRPr sz="1133" dirty="0">
              <a:solidFill>
                <a:srgbClr val="595959"/>
              </a:solidFill>
              <a:latin typeface="Arial"/>
            </a:endParaRPr>
          </a:p>
        </p:txBody>
      </p:sp>
      <p:graphicFrame>
        <p:nvGraphicFramePr>
          <p:cNvPr id="6" name="Google Shape;334;p46">
            <a:extLst>
              <a:ext uri="{FF2B5EF4-FFF2-40B4-BE49-F238E27FC236}">
                <a16:creationId xmlns:a16="http://schemas.microsoft.com/office/drawing/2014/main" id="{BF281785-94D6-F9A7-E933-2F41B4994CD4}"/>
              </a:ext>
            </a:extLst>
          </p:cNvPr>
          <p:cNvGraphicFramePr/>
          <p:nvPr/>
        </p:nvGraphicFramePr>
        <p:xfrm>
          <a:off x="682750" y="4685899"/>
          <a:ext cx="10753994" cy="19109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140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884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77826">
                  <a:extLst>
                    <a:ext uri="{9D8B030D-6E8A-4147-A177-3AD203B41FA5}">
                      <a16:colId xmlns:a16="http://schemas.microsoft.com/office/drawing/2014/main" val="909906734"/>
                    </a:ext>
                  </a:extLst>
                </a:gridCol>
                <a:gridCol w="2273686">
                  <a:extLst>
                    <a:ext uri="{9D8B030D-6E8A-4147-A177-3AD203B41FA5}">
                      <a16:colId xmlns:a16="http://schemas.microsoft.com/office/drawing/2014/main" val="1312522873"/>
                    </a:ext>
                  </a:extLst>
                </a:gridCol>
              </a:tblGrid>
              <a:tr h="42528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CN" sz="1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Literature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CN" sz="1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CN" sz="1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Population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CN" sz="1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Results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673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CN" sz="16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Teo et al.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CN" sz="16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2017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CN" sz="16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NSUM estimated IVDU population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CN" sz="1600" b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11,000 (6,500–17,000)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528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CN" sz="16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Quaye et al.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CN" sz="16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2019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CN" sz="16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NSUM PWID population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CN" sz="16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3,470 (1,540–7,830)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360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CN" sz="16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Chaillon et al.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CN" sz="16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calibrated to 2017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CN" sz="1600" b="0" u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Ever–PWID = Current + Former PWID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CN" sz="16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~11,000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7602831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581234-F192-0EA5-6FAE-AE24BC7885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497FA68-7CF2-A685-A1BD-EC8972B3B9C2}"/>
              </a:ext>
            </a:extLst>
          </p:cNvPr>
          <p:cNvSpPr txBox="1"/>
          <p:nvPr/>
        </p:nvSpPr>
        <p:spPr>
          <a:xfrm>
            <a:off x="609600" y="341377"/>
            <a:ext cx="1097280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533"/>
              </a:spcAft>
            </a:pPr>
            <a:r>
              <a:rPr lang="en-US" sz="2800" b="1" dirty="0">
                <a:solidFill>
                  <a:srgbClr val="05455E"/>
                </a:solidFill>
                <a:latin typeface="Arial"/>
              </a:rPr>
              <a:t>Stage-, genotype-, and regimen- specific SVR12 rates</a:t>
            </a:r>
            <a:endParaRPr sz="2800" b="1" dirty="0">
              <a:solidFill>
                <a:srgbClr val="05455E"/>
              </a:solidFill>
              <a:latin typeface="Arial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70096EB-B66C-298B-FFB4-41D3440CB2EF}"/>
              </a:ext>
            </a:extLst>
          </p:cNvPr>
          <p:cNvSpPr/>
          <p:nvPr/>
        </p:nvSpPr>
        <p:spPr>
          <a:xfrm>
            <a:off x="633984" y="1072896"/>
            <a:ext cx="1828800" cy="67056"/>
          </a:xfrm>
          <a:prstGeom prst="rect">
            <a:avLst/>
          </a:prstGeom>
          <a:solidFill>
            <a:srgbClr val="0097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graphicFrame>
        <p:nvGraphicFramePr>
          <p:cNvPr id="10" name="Google Shape;334;p46">
            <a:extLst>
              <a:ext uri="{FF2B5EF4-FFF2-40B4-BE49-F238E27FC236}">
                <a16:creationId xmlns:a16="http://schemas.microsoft.com/office/drawing/2014/main" id="{EA5D64CA-AC33-BA50-B789-6FD03EF01DE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9901634"/>
              </p:ext>
            </p:extLst>
          </p:nvPr>
        </p:nvGraphicFramePr>
        <p:xfrm>
          <a:off x="719002" y="1440584"/>
          <a:ext cx="10753993" cy="441443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473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17173">
                  <a:extLst>
                    <a:ext uri="{9D8B030D-6E8A-4147-A177-3AD203B41FA5}">
                      <a16:colId xmlns:a16="http://schemas.microsoft.com/office/drawing/2014/main" val="3037907996"/>
                    </a:ext>
                  </a:extLst>
                </a:gridCol>
                <a:gridCol w="2618509">
                  <a:extLst>
                    <a:ext uri="{9D8B030D-6E8A-4147-A177-3AD203B41FA5}">
                      <a16:colId xmlns:a16="http://schemas.microsoft.com/office/drawing/2014/main" val="2003208339"/>
                    </a:ext>
                  </a:extLst>
                </a:gridCol>
                <a:gridCol w="17041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66816">
                  <a:extLst>
                    <a:ext uri="{9D8B030D-6E8A-4147-A177-3AD203B41FA5}">
                      <a16:colId xmlns:a16="http://schemas.microsoft.com/office/drawing/2014/main" val="909906734"/>
                    </a:ext>
                  </a:extLst>
                </a:gridCol>
              </a:tblGrid>
              <a:tr h="425281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Genotype</a:t>
                      </a:r>
                      <a:endParaRPr sz="1600" b="1" u="none" strike="noStrike" cap="non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71384" marR="171384" marT="85692" marB="8569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Liver disease stage</a:t>
                      </a:r>
                      <a:endParaRPr sz="1600" b="1" u="none" strike="noStrike" cap="non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71384" marR="171384" marT="85692" marB="8569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Regimen</a:t>
                      </a:r>
                      <a:endParaRPr sz="1600" b="1" u="none" strike="noStrike" cap="non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71384" marR="171384" marT="85692" marB="8569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b="1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SVR</a:t>
                      </a:r>
                      <a:r>
                        <a:rPr lang="en-US" sz="1600" b="1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 rates</a:t>
                      </a:r>
                      <a:endParaRPr sz="1600" b="1" u="none" strike="noStrike" cap="non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71384" marR="171384" marT="85692" marB="8569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Source</a:t>
                      </a:r>
                      <a:endParaRPr sz="1600" b="1" u="none" strike="noStrike" cap="non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71384" marR="171384" marT="85692" marB="8569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9934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u="none" strike="noStrike" cap="none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171384" marR="171384" marT="85692" marB="8569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u="none" strike="noStrike" cap="none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NC/HCC</a:t>
                      </a:r>
                    </a:p>
                  </a:txBody>
                  <a:tcPr marL="171384" marR="171384" marT="85692" marB="8569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u="none" strike="noStrike" cap="none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SOF/VEL</a:t>
                      </a:r>
                    </a:p>
                  </a:txBody>
                  <a:tcPr marL="171384" marR="171384" marT="85692" marB="8569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0.98</a:t>
                      </a:r>
                      <a:endParaRPr sz="1600" b="0" u="none" strike="noStrike" cap="non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71384" marR="171384" marT="85692" marB="8569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u="none" strike="noStrike" cap="none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Pawlotsky</a:t>
                      </a:r>
                      <a:r>
                        <a:rPr lang="en-US" sz="1600" b="0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et al. 2020</a:t>
                      </a:r>
                      <a:endParaRPr sz="1600" b="0" u="none" strike="noStrike" cap="non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71384" marR="171384" marT="85692" marB="8569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5281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Other GT</a:t>
                      </a:r>
                    </a:p>
                  </a:txBody>
                  <a:tcPr marL="171384" marR="171384" marT="85692" marB="8569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u="none" strike="noStrike" cap="none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NC/CC</a:t>
                      </a:r>
                    </a:p>
                  </a:txBody>
                  <a:tcPr marL="171384" marR="171384" marT="85692" marB="8569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u="none" strike="noStrike" cap="none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SOF/VEL</a:t>
                      </a:r>
                    </a:p>
                  </a:txBody>
                  <a:tcPr marL="171384" marR="171384" marT="85692" marB="8569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0.99</a:t>
                      </a:r>
                      <a:endParaRPr sz="1600" b="0" u="none" strike="noStrike" cap="non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71384" marR="171384" marT="85692" marB="8569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u="none" strike="noStrike" cap="none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Pawlotsky</a:t>
                      </a:r>
                      <a:r>
                        <a:rPr lang="en-US" sz="1600" b="0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et al. 2020</a:t>
                      </a:r>
                    </a:p>
                  </a:txBody>
                  <a:tcPr marL="171384" marR="171384" marT="85692" marB="8569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5281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171384" marR="171384" marT="85692" marB="8569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u="none" strike="noStrike" cap="none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DC/HCC</a:t>
                      </a:r>
                    </a:p>
                  </a:txBody>
                  <a:tcPr marL="171384" marR="171384" marT="85692" marB="8569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u="none" strike="noStrike" cap="none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SOF/VEL</a:t>
                      </a:r>
                    </a:p>
                  </a:txBody>
                  <a:tcPr marL="171384" marR="171384" marT="85692" marB="8569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0.45</a:t>
                      </a:r>
                      <a:endParaRPr sz="1600" b="0" u="none" strike="noStrike" cap="non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71384" marR="171384" marT="85692" marB="8569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u="none" strike="noStrike" cap="none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Pawlotsky</a:t>
                      </a:r>
                      <a:r>
                        <a:rPr lang="en-US" sz="1600" b="0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et al. 2020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Xiao et al. 2025</a:t>
                      </a:r>
                    </a:p>
                  </a:txBody>
                  <a:tcPr marL="171384" marR="171384" marT="85692" marB="8569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87745032"/>
                  </a:ext>
                </a:extLst>
              </a:tr>
              <a:tr h="42528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Other GT</a:t>
                      </a:r>
                    </a:p>
                  </a:txBody>
                  <a:tcPr marL="171384" marR="171384" marT="85692" marB="8569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u="none" strike="noStrike" cap="none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DC/HCC</a:t>
                      </a:r>
                    </a:p>
                  </a:txBody>
                  <a:tcPr marL="171384" marR="171384" marT="85692" marB="8569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u="none" strike="noStrike" cap="none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SOF/VEL</a:t>
                      </a:r>
                    </a:p>
                  </a:txBody>
                  <a:tcPr marL="171384" marR="171384" marT="85692" marB="8569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0.90</a:t>
                      </a:r>
                      <a:endParaRPr sz="1600" b="0" u="none" strike="noStrike" cap="non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71384" marR="171384" marT="85692" marB="8569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u="none" strike="noStrike" cap="none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Pawlotsky</a:t>
                      </a:r>
                      <a:r>
                        <a:rPr lang="en-US" sz="1600" b="0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et al. 2020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Xiao et al. 2025</a:t>
                      </a:r>
                    </a:p>
                  </a:txBody>
                  <a:tcPr marL="171384" marR="171384" marT="85692" marB="8569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55286165"/>
                  </a:ext>
                </a:extLst>
              </a:tr>
              <a:tr h="425281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171384" marR="171384" marT="85692" marB="8569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u="none" strike="noStrike" cap="none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DC/HCC</a:t>
                      </a:r>
                    </a:p>
                  </a:txBody>
                  <a:tcPr marL="171384" marR="171384" marT="85692" marB="8569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u="none" strike="noStrike" cap="none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SOF/VEL + RBV</a:t>
                      </a:r>
                    </a:p>
                  </a:txBody>
                  <a:tcPr marL="171384" marR="171384" marT="85692" marB="8569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0.87</a:t>
                      </a:r>
                      <a:endParaRPr sz="1600" b="0" u="none" strike="noStrike" cap="non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71384" marR="171384" marT="85692" marB="8569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u="none" strike="noStrike" cap="none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Pawlotsky</a:t>
                      </a:r>
                      <a:r>
                        <a:rPr lang="en-US" sz="1600" b="0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et al. 2020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Xiao et al. 2025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0" u="none" strike="noStrike" cap="non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71384" marR="171384" marT="85692" marB="8569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71566304"/>
                  </a:ext>
                </a:extLst>
              </a:tr>
              <a:tr h="42528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Other GT</a:t>
                      </a:r>
                    </a:p>
                  </a:txBody>
                  <a:tcPr marL="171384" marR="171384" marT="85692" marB="8569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u="none" strike="noStrike" cap="none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DC/HCC</a:t>
                      </a:r>
                    </a:p>
                  </a:txBody>
                  <a:tcPr marL="171384" marR="171384" marT="85692" marB="8569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u="none" strike="noStrike" cap="none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SOF/VEL + RBV</a:t>
                      </a:r>
                    </a:p>
                  </a:txBody>
                  <a:tcPr marL="171384" marR="171384" marT="85692" marB="8569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0.92</a:t>
                      </a:r>
                      <a:endParaRPr sz="1600" b="0" u="none" strike="noStrike" cap="non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71384" marR="171384" marT="85692" marB="8569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u="none" strike="noStrike" cap="none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Pawlotsky</a:t>
                      </a:r>
                      <a:r>
                        <a:rPr lang="en-US" sz="1600" b="0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et al. 2020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Xiao et al. 2025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0" u="none" strike="noStrike" cap="non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71384" marR="171384" marT="85692" marB="8569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4145044"/>
                  </a:ext>
                </a:extLst>
              </a:tr>
            </a:tbl>
          </a:graphicData>
        </a:graphic>
      </p:graphicFrame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8971F380-7DD6-8D63-DD90-764BB26C9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27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44558C4-1179-F7A0-2693-9C294EE4B16A}"/>
              </a:ext>
            </a:extLst>
          </p:cNvPr>
          <p:cNvSpPr txBox="1"/>
          <p:nvPr/>
        </p:nvSpPr>
        <p:spPr>
          <a:xfrm>
            <a:off x="670559" y="6489560"/>
            <a:ext cx="10850880" cy="3486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533"/>
              </a:spcAft>
            </a:pPr>
            <a:r>
              <a:rPr lang="en-US" sz="1133" b="1" dirty="0">
                <a:solidFill>
                  <a:srgbClr val="595959"/>
                </a:solidFill>
                <a:latin typeface="Arial"/>
              </a:rPr>
              <a:t>NC: Non-cirrhosis; CC: Compensated Cirrhosis; DC: Decompensated Cirrhosis; HCC: Hepatocellular Carcinoma; SVR12: Sustained virological response after 12 weeks; </a:t>
            </a:r>
            <a:endParaRPr sz="1133" dirty="0">
              <a:solidFill>
                <a:srgbClr val="595959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492255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2117</TotalTime>
  <Words>3696</Words>
  <Application>Microsoft Macintosh PowerPoint</Application>
  <PresentationFormat>Widescreen</PresentationFormat>
  <Paragraphs>431</Paragraphs>
  <Slides>27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3" baseType="lpstr">
      <vt:lpstr>Aptos</vt:lpstr>
      <vt:lpstr>Aptos Display</vt:lpstr>
      <vt:lpstr>Arial</vt:lpstr>
      <vt:lpstr>Calibri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 Yichen</dc:creator>
  <cp:lastModifiedBy>He Yichen</cp:lastModifiedBy>
  <cp:revision>284</cp:revision>
  <dcterms:created xsi:type="dcterms:W3CDTF">2026-09-03T06:40:29Z</dcterms:created>
  <dcterms:modified xsi:type="dcterms:W3CDTF">2026-09-18T03:57:20Z</dcterms:modified>
</cp:coreProperties>
</file>