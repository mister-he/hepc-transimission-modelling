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41" r:id="rId3"/>
    <p:sldId id="342" r:id="rId4"/>
    <p:sldId id="276" r:id="rId5"/>
    <p:sldId id="324" r:id="rId6"/>
    <p:sldId id="277" r:id="rId7"/>
    <p:sldId id="325" r:id="rId8"/>
    <p:sldId id="326" r:id="rId9"/>
    <p:sldId id="330" r:id="rId10"/>
    <p:sldId id="278" r:id="rId11"/>
    <p:sldId id="281" r:id="rId12"/>
    <p:sldId id="338" r:id="rId13"/>
    <p:sldId id="327" r:id="rId14"/>
    <p:sldId id="360" r:id="rId15"/>
    <p:sldId id="361" r:id="rId16"/>
    <p:sldId id="350" r:id="rId17"/>
    <p:sldId id="369" r:id="rId18"/>
    <p:sldId id="356" r:id="rId19"/>
    <p:sldId id="359" r:id="rId20"/>
    <p:sldId id="367" r:id="rId21"/>
    <p:sldId id="368" r:id="rId22"/>
    <p:sldId id="353" r:id="rId23"/>
    <p:sldId id="354" r:id="rId24"/>
    <p:sldId id="355" r:id="rId25"/>
    <p:sldId id="297" r:id="rId26"/>
    <p:sldId id="333" r:id="rId27"/>
    <p:sldId id="351" r:id="rId28"/>
    <p:sldId id="362" r:id="rId29"/>
    <p:sldId id="352" r:id="rId30"/>
    <p:sldId id="363" r:id="rId31"/>
    <p:sldId id="364" r:id="rId32"/>
    <p:sldId id="365" r:id="rId33"/>
    <p:sldId id="366" r:id="rId3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78"/>
    <p:restoredTop sz="82623"/>
  </p:normalViewPr>
  <p:slideViewPr>
    <p:cSldViewPr snapToGrid="0">
      <p:cViewPr varScale="1">
        <p:scale>
          <a:sx n="128" d="100"/>
          <a:sy n="128" d="100"/>
        </p:scale>
        <p:origin x="168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81" d="100"/>
          <a:sy n="181" d="100"/>
        </p:scale>
        <p:origin x="634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B88B0-02C0-9249-A501-F5BB6FD2743E}" type="datetimeFigureOut">
              <a:rPr lang="en-CN" smtClean="0"/>
              <a:t>10/2/26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0AD7C-F7FF-D743-9C7F-927D07A9A7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389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1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66AA-D169-7C0A-4BFE-DCE5B309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B5315-88C5-279C-C736-1CC7D666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B997-10C3-0B9E-0B2A-8F687EBC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5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36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319C-A04C-BF04-4F75-37CA00F3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AF3B0-A821-3122-FA16-24DF649FD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E093-A553-15A0-E608-0B46C364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9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6F56-038E-ABAB-47B2-23B0D486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59F7-09B8-BAB3-AA7E-FA8CBC670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03CDE-C7F7-A327-6BE4-5D454242B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42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2970-3B9A-2A36-E897-158C778C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6A0E7-11C5-B732-E413-3C059BD5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1D7F1-3CAF-E77C-1BAF-684789ED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4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AFE5-D5C2-BD6A-5600-3E912947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47C6E-266E-2843-89F3-B39D75600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EB7F-E303-762C-2829-3A051747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11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6011-76E9-10DC-32E0-7003B53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BE48E-78F7-9ABB-6E99-1138BAB7F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8911B-841A-37B2-88BC-C94D84EDC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25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84E3-B3BC-3641-B8A9-353F3A7D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B616C-5100-E7B7-8D4D-0E905CEBC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77521-CD79-D8F5-173E-979B27020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14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A89B-B001-7A4B-E4C6-5EC3AC4A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A02EB-FF8B-4C07-54FE-61A71DD97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CBEEF-8357-2B79-A8DF-EC149B26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15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6708" indent="-28575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SOF/VEL (12 weeks) is considered as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pan-genotypic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DAA treatment regimen according to EASL 2020 and AASLD/IDSA 2024 HCV treatment guideline.*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5395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4CCE-FC75-2373-1D81-561327CF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B023-B4A7-9D9D-A627-65B249CE6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92C8F-FAFF-37C3-71C3-654686564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891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041D-6BA3-027D-FA81-DA462BA4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1BDD5-102B-E8CF-E724-59BAF6F6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83DE0-D4D4-050B-18A1-662152A2B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8B502-0EB6-044C-2815-C96181D4C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6220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69009-460C-273D-AC1C-71A40DEC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B67B4-7FF1-7D02-4FA6-D17409491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1E413-A0E1-6880-EC1C-1AAF7E337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09DD-34A3-C73C-0E37-6DDC69261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1658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37D4-E3EA-D157-7FAC-F6A7A8FD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B802B-7341-A50C-3A00-EE6C2DFBA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EF89A-F9CE-A2EC-DE94-175027985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BEFA6-86BC-E696-CB58-86E5319FB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4552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15A5-8CA7-1514-709A-A8B325D6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CCDEE-FD4C-132F-C23E-5426504D9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5EDAE-FEB0-DE86-14E4-C7CEB8965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A7B8E-DE24-B882-A7FB-EB508F94C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1079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6891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3D8A-5FC2-0425-AB8B-08C380D7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F89E3-1993-0303-7BF7-39C7AEF17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C944C-B97B-6B2B-6551-5511536C9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D0846-4F22-6C63-4273-A075DFC05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54185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7D6D-7F80-1F76-50A3-0164B847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6D457-8D53-3B47-BBBE-770AA2B52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E2D9F-016A-DE8F-F38F-39891E48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935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51B8-5A70-40DB-2D68-66F9ECDD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61F9E-AD9E-553B-4044-FCDB4AF99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F3B6E-377A-38DF-672B-DE82EFA29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9D0E2-C3AA-12D8-F0C9-23A80B4B2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6964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182B8-637E-71A2-F663-D79EE522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F1C1C-C2C1-6541-BD78-13AD828EA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C818C-5A21-AF54-2F46-2AD3C15AC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724D5-D5E7-9F5E-9E57-1F2B7BD77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31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5264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0C95-0505-7CC2-0B24-A5938D96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B713B-ABA8-95E9-30AE-D9D073DF2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5B4DF-E84D-A8F8-7EB1-2A41B20AE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1AD4F-A061-D059-8229-3965BEFE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32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8769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FC21-D841-7BA1-8583-50D76F2F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B49CE-3442-86C6-C160-1618A16E2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8FEDC-A297-AB70-7A6E-3C41E198F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C6F62-93B5-913C-8CE7-A83516A89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33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886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CF51-651E-0621-E537-C502AC317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AD968-4675-E598-5F75-1BCC19A8E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5732-1426-51CD-368D-78417307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601D-2ACA-FEBA-0BFF-9317A86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B26C-D02A-2863-0BA6-084BAE49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67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BBFE-47BE-3C25-A773-A3CBC1EA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A263-5488-7077-D24B-E4F54FA7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E6F9-9510-CFD3-D75B-FF041934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886FE-BAF3-2738-8EA2-C4E327F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EE05-E249-B9E6-7727-1DB8C6EC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356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906C-4CC3-8C0C-EA05-AB1968B0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08894-FE0E-94E4-29F8-33B097DD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D80E-2776-777E-C45C-E7E571B4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60989-66C9-35B8-614E-DC07017D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95FE-4547-57F0-7228-2AD898B6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788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AB8F-9B55-D3D0-22ED-2D59015C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1541-7D83-6B17-C935-BC81FD32E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2AE0-A2A0-F5F8-57AB-C6122F47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80D6C-77F4-87E4-1527-B5FF82F4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6F680-4FC6-020B-CC2A-B7CDC6C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5526E-4600-21E9-08AD-108561DA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98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1EEC-E097-EF53-2900-1706DBB0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2242F-6B18-CE7C-2755-D6F0CEBA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9CA16-4D3D-3A47-7E26-E1E18CB2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DF520-AA16-41E4-1CD6-611DBF4AB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9C53F-B0A5-B4F9-324F-031F2172B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02A22-4656-BEC9-8247-00D58C72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DA6EA-4EEF-7694-796D-E43C810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C53B-2BF0-8856-25F2-9C0E38A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93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CA7-1963-2AA7-A605-7854BA43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F8C7A-613B-7A78-C066-EE4082E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0E58-77A6-ECBA-75FE-E948F629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16527-DA58-C10F-5EC9-FF2E1694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376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1AB0F-0496-B46B-49E2-C17284DA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0F672-E0B9-9D23-3E5B-8407033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0B256-59D6-66C0-1262-AB30DCB9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83396-385B-9C7A-E878-CCE98DF87C19}"/>
              </a:ext>
            </a:extLst>
          </p:cNvPr>
          <p:cNvSpPr txBox="1"/>
          <p:nvPr userDrawn="1"/>
        </p:nvSpPr>
        <p:spPr>
          <a:xfrm>
            <a:off x="10076718" y="0"/>
            <a:ext cx="2170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Classified, don’t share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301B5-7D4D-C427-6552-DEB8963AD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5788" y="63812"/>
            <a:ext cx="210930" cy="21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9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CB02-F986-ED37-B571-87DD2E4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E446-D1CC-AF7C-191C-F8CBEE05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0B107-074D-BC97-CD44-8E22C2ED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36F17-497F-B0AC-5301-5E0BFE98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C5F53-133B-9BFA-78E5-DABECF71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5C658-107F-F23F-CBAF-59C2357E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599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413-3B04-8A65-869E-4006002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17B9F-1F44-A4E4-73F5-4AAEB4B57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C70A-558B-E43D-EB5A-7F4F22D2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DAE0-0386-D4FE-EBDE-D241CC1E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502D2-4349-3DA9-292B-DEAF4107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BEB99-10C3-175A-1DCB-C517D8CD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300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6430-356D-4E18-DCEC-D7C5A72B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B562-CD8E-7573-97A9-09DB1805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313F-9DB5-27B0-CABA-1D214E95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BE4B-32D7-5440-A962-63CD6056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2B98-F6D6-FBD7-6188-CA50F67C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171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E9491-A9F6-C27A-2117-F31D0C4F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141EC-4750-393D-519A-A15383798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2A02-DD9F-20D3-9C9B-5C87C636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538B-AB9D-5AAB-B67C-8847B833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C808-7006-6779-3CD2-826FEEBD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49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5F21B-070D-5136-BC24-6A0BCCC2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66EC8-5770-94D3-24CB-A0EBF515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6C53-3FA6-24B0-D68F-83E2674DC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B3E9-A992-174E-BDC5-AAC3B1511159}" type="datetimeFigureOut">
              <a:rPr lang="en-CN" smtClean="0"/>
              <a:t>10/2/26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F2F42-0315-7016-AF39-881C4CFD6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5437-FAC8-D0C7-770C-8F7860DC5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3664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E4E5C0-319E-C041-8D20-722C462F4447}" type="slidenum">
              <a:rPr lang="en-CN" smtClean="0"/>
              <a:pPr/>
              <a:t>‹#›</a:t>
            </a:fld>
            <a:endParaRPr lang="en-CN" b="1" dirty="0"/>
          </a:p>
        </p:txBody>
      </p:sp>
    </p:spTree>
    <p:extLst>
      <p:ext uri="{BB962C8B-B14F-4D97-AF65-F5344CB8AC3E}">
        <p14:creationId xmlns:p14="http://schemas.microsoft.com/office/powerpoint/2010/main" val="340688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publications/i/item/978924002839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ace-hta.gov.sg/healthcare-professionals/ace-technology-guidance/drug-guidance/direct-acting-antiviral-agents-for-treating-chronic-hepatitis-c/" TargetMode="External"/><Relationship Id="rId4" Type="http://schemas.openxmlformats.org/officeDocument/2006/relationships/hyperlink" Target="https://www.moh.gov.sg/newsroom/speech-by-mdm-rahayu-mahzam--minister-of-state--mddi--and-moh--at-the--educate--test--treat-----mou-signing-ceremony-between-hcsa-highpoint-and-ttsh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hcsa.org.sg/mou-signing-between-hcsa-highpoint-halfway-house-pertapis-halfway-house-selarang-halfway-house-teen-challenge-singapore-and-the-helping-hand-to-strengthen-collaboration-in-the-first-hepatitis-c-el/?utm_source=chatgpt.com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3440" y="1280160"/>
            <a:ext cx="1048512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CN" sz="3200">
                <a:latin typeface="Arial" panose="020B0604020202020204" pitchFamily="34" charset="0"/>
                <a:cs typeface="Arial" panose="020B0604020202020204" pitchFamily="34" charset="0"/>
              </a:rPr>
              <a:t>Hepatitis C Transmission and Progression Among People Who Have Injected Drugs in Singapore: Modelling Treatment for Elimination</a:t>
            </a:r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7824" y="3352800"/>
            <a:ext cx="2682240" cy="6096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53440" y="3718560"/>
            <a:ext cx="1048512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A1A1A"/>
                </a:solidFill>
                <a:latin typeface="Arial"/>
              </a:rPr>
              <a:t>He Yichen</a:t>
            </a:r>
          </a:p>
          <a:p>
            <a:pPr>
              <a:spcAft>
                <a:spcPts val="800"/>
              </a:spcAft>
            </a:pPr>
            <a:r>
              <a:rPr lang="en-US" sz="1867" dirty="0">
                <a:latin typeface="Arial"/>
              </a:rPr>
              <a:t>02 Oct</a:t>
            </a:r>
            <a:r>
              <a:rPr sz="1867" dirty="0">
                <a:latin typeface="Arial"/>
              </a:rPr>
              <a:t> 2026</a:t>
            </a:r>
          </a:p>
          <a:p>
            <a:pPr>
              <a:spcAft>
                <a:spcPts val="800"/>
              </a:spcAft>
            </a:pPr>
            <a:r>
              <a:rPr sz="1733" dirty="0">
                <a:solidFill>
                  <a:srgbClr val="1A1A1A"/>
                </a:solidFill>
                <a:latin typeface="Arial"/>
              </a:rPr>
              <a:t>Supervisor: Dr. </a:t>
            </a:r>
            <a:r>
              <a:rPr sz="1733" dirty="0" err="1">
                <a:solidFill>
                  <a:srgbClr val="1A1A1A"/>
                </a:solidFill>
                <a:latin typeface="Arial"/>
              </a:rPr>
              <a:t>Borame</a:t>
            </a:r>
            <a:r>
              <a:rPr sz="1733" dirty="0">
                <a:solidFill>
                  <a:srgbClr val="1A1A1A"/>
                </a:solidFill>
                <a:latin typeface="Arial"/>
              </a:rPr>
              <a:t> Dickens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A4003-16E5-AA61-FB83-AB3C392C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51B3-D5BD-30F9-410D-3AB0E01F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99D6C-2AA2-AF8C-D496-C70A4724D3E7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Background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B2CDE8-FC7F-6355-C7C0-4D56AE99327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A1D9EC-98B3-D2C7-55A9-CAA6DB21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072C1-2BC7-D17B-5D96-9DF54E0F91EE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Winslow et al. 2007; Hsiang et al. 2022; Wong et al. 2021; Singapore Prison Service.   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06A72-F308-AF35-628F-034076DA968E}"/>
              </a:ext>
            </a:extLst>
          </p:cNvPr>
          <p:cNvSpPr txBox="1"/>
          <p:nvPr/>
        </p:nvSpPr>
        <p:spPr>
          <a:xfrm>
            <a:off x="633985" y="1191907"/>
            <a:ext cx="10948394" cy="5350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Hepatitis C Virus (HCV) infection is a highly prevalent among people who inject drugs (PWIDs) in Singapore.</a:t>
            </a:r>
          </a:p>
          <a:p>
            <a:pPr marL="914377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studies report about 42.5% (36-47%) anti-HCV seroprevalence among PWIDs.*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Effective treatment exists, but linkage to care remains challenging in the community.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Among HCV-positive halfway-house residents, only 48.6% reached confirmatory RNA testing and 12.6% initiated treatment.*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Incarceration provides a high-yield opportunity for treatment delivery.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Unrestricted DAA access increased treatment uptake by 460%, with 99% completion and 99.1% sustained virological response (SVR) among incarcerated HCV patients.*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Repeated prison-community transitions make treatment setting and timing important. 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 recorded 1,152 Drug Rehabilitation Centre (DRC) admissions and 1,241 releases in 2017. And the 2017 DRC release cohort had 45.2% five-year recidivism.*</a:t>
            </a:r>
          </a:p>
        </p:txBody>
      </p:sp>
    </p:spTree>
    <p:extLst>
      <p:ext uri="{BB962C8B-B14F-4D97-AF65-F5344CB8AC3E}">
        <p14:creationId xmlns:p14="http://schemas.microsoft.com/office/powerpoint/2010/main" val="88566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2A2A-B76C-01FD-81AF-DC0016DF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E0CE-0F0B-8B1F-60C5-827AC624A959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Research gap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1FFF1-5FCE-73E4-CC1C-D0C5ED91737A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E3595B-9E35-F4C0-143F-833DADF8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16173-0A42-80AC-48DA-56D8076D5E02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Pawltosky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Hernandez-Con et al. 2023; Goodyear et al. 2021;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04D6A-F357-3826-BA6A-E3090D022744}"/>
              </a:ext>
            </a:extLst>
          </p:cNvPr>
          <p:cNvSpPr txBox="1"/>
          <p:nvPr/>
        </p:nvSpPr>
        <p:spPr>
          <a:xfrm>
            <a:off x="633985" y="1263025"/>
            <a:ext cx="10948394" cy="4363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International HCV models may not capture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Singapore-specific incarceration and reinjection dynamics.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Existing Singapore modelling has not explicitly represented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age-specific prison–community transitions when designing treatment strategies</a:t>
            </a: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Despite highly effective DAAs, it remains unclear who should be treated, where, and at what coverage to achieve sustained </a:t>
            </a:r>
            <a:r>
              <a:rPr lang="en-CN" sz="2400">
                <a:latin typeface="Arial" panose="020B0604020202020204" pitchFamily="34" charset="0"/>
                <a:cs typeface="Arial" panose="020B0604020202020204" pitchFamily="34" charset="0"/>
              </a:rPr>
              <a:t>HCV elimination. </a:t>
            </a: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5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402081"/>
            <a:ext cx="10850880" cy="4027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d</a:t>
            </a:r>
            <a:r>
              <a:rPr sz="2400" dirty="0">
                <a:solidFill>
                  <a:srgbClr val="1A1A1A"/>
                </a:solidFill>
                <a:latin typeface="Arial"/>
              </a:rPr>
              <a:t>evelop a dynamic compartmental model capturing incarceration cycles, HCV transmission, and liver disease progression among PWIDs in Singapore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s</a:t>
            </a:r>
            <a:r>
              <a:rPr sz="2400" dirty="0">
                <a:solidFill>
                  <a:srgbClr val="1A1A1A"/>
                </a:solidFill>
                <a:latin typeface="Arial"/>
              </a:rPr>
              <a:t>imulate treatment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coverage</a:t>
            </a:r>
            <a:r>
              <a:rPr sz="2400" dirty="0">
                <a:solidFill>
                  <a:srgbClr val="1A1A1A"/>
                </a:solidFill>
                <a:latin typeface="Arial"/>
              </a:rPr>
              <a:t> and disease progression under alternative DAA scale</a:t>
            </a:r>
            <a:r>
              <a:rPr lang="en-CN" sz="2400" dirty="0">
                <a:solidFill>
                  <a:srgbClr val="1A1A1A"/>
                </a:solidFill>
                <a:latin typeface="Arial"/>
              </a:rPr>
              <a:t>–</a:t>
            </a:r>
            <a:r>
              <a:rPr sz="2400" dirty="0">
                <a:solidFill>
                  <a:srgbClr val="1A1A1A"/>
                </a:solidFill>
                <a:latin typeface="Arial"/>
              </a:rPr>
              <a:t>up strategies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e</a:t>
            </a:r>
            <a:r>
              <a:rPr sz="2400" dirty="0">
                <a:solidFill>
                  <a:srgbClr val="1A1A1A"/>
                </a:solidFill>
                <a:latin typeface="Arial"/>
              </a:rPr>
              <a:t>stimate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relative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reductions in HCV incidence and advanced liver disease burden (especially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HCC</a:t>
            </a:r>
            <a:r>
              <a:rPr sz="2400" dirty="0">
                <a:solidFill>
                  <a:srgbClr val="1A1A1A"/>
                </a:solidFill>
                <a:latin typeface="Arial"/>
              </a:rPr>
              <a:t>)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attributable to prioritized DAA treatment strategies,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relative to status quo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AB1B0-CF43-91BF-6723-C9294842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F0417-FE5E-E5D1-59A7-06A321312AD0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drugs; DAA: direct acting antiviral; HCC: hepatocellular carcinoma;</a:t>
            </a: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A5F7-0B0F-6DE0-0EC9-9A30409F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6E560-9A57-8948-969F-08FBA0D6BC0B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Compartmental model schematic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4C597-1D10-DF52-53A3-6C3239045CDB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9E466-D7ED-662D-D52A-3B45B07C68E3}"/>
              </a:ext>
            </a:extLst>
          </p:cNvPr>
          <p:cNvSpPr txBox="1"/>
          <p:nvPr/>
        </p:nvSpPr>
        <p:spPr>
          <a:xfrm>
            <a:off x="609600" y="4915282"/>
            <a:ext cx="10850880" cy="1609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Deterministic, discrete–time transmission model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with a daily time step.</a:t>
            </a:r>
            <a:endParaRPr lang="en-US" sz="1867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Six age groups (&lt;20 to 60+), with age progression explicitly modelled.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Age–specific mortality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adjusted by risk ratios for PWIDs</a:t>
            </a:r>
            <a:r>
              <a:rPr lang="en-US" sz="1867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relative to the general population.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Temporal parameters omit for simplicity.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2FDF1-701A-EA55-53AC-0FC92CE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516A-E86E-2E57-8AEE-AB041992777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Mathers et al. 2013;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6ABF7-D6A7-0B9E-5A15-0C907FF85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11" y="1132352"/>
            <a:ext cx="7423858" cy="370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8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C2CAD3-93D7-D572-1542-D38B79D09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11" y="1132352"/>
            <a:ext cx="7423858" cy="37052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Incarceration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00852-2199-200D-4AB7-09F9F3D9AF95}"/>
              </a:ext>
            </a:extLst>
          </p:cNvPr>
          <p:cNvSpPr txBox="1"/>
          <p:nvPr/>
        </p:nvSpPr>
        <p:spPr>
          <a:xfrm>
            <a:off x="609600" y="4915282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All individuals enter the model as uninfected, non–cirrhotic, and never–incarcerated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Only individuals in D and F are assumed susceptible to HCV infection through needle sharing.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After release, individuals either resume injection (F), or permanently cease (X), determined by an age–invariant recidivism probability estimated from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Singapore Changi prison HCV screening data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D443C-F227-07DD-3CB0-787B14294799}"/>
              </a:ext>
            </a:extLst>
          </p:cNvPr>
          <p:cNvSpPr/>
          <p:nvPr/>
        </p:nvSpPr>
        <p:spPr>
          <a:xfrm>
            <a:off x="2043288" y="1199408"/>
            <a:ext cx="4662311" cy="2162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C16843-A108-5645-4B10-4E7A3F51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A6EA4-6715-9070-76E5-4468218097B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C0F7-3E5E-9628-DC39-6AFCB248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B75750-54CB-FCC0-F844-2F7D9823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11" y="1132352"/>
            <a:ext cx="7423858" cy="37052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12B99-4FB3-D6F7-E3EB-1E65190D077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 transmission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FFC39-E603-7CA3-E2ED-D0F6488C5F1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B0D7-C437-D5D2-E685-64BCCE4F1257}"/>
              </a:ext>
            </a:extLst>
          </p:cNvPr>
          <p:cNvSpPr txBox="1"/>
          <p:nvPr/>
        </p:nvSpPr>
        <p:spPr>
          <a:xfrm>
            <a:off x="609600" y="4915281"/>
            <a:ext cx="10972800" cy="1510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solidFill>
                  <a:srgbClr val="1A1A1A"/>
                </a:solidFill>
                <a:latin typeface="Arial"/>
              </a:rPr>
              <a:t>For newly infected individuals in acute stage (A), they will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Either clear infection spontaneously within six months (enter R), or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 to chronic infection (C), followed by sequential progression through later stages of liver disease.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39C6D-27CD-A7C5-B4E4-1529CEFAAC88}"/>
              </a:ext>
            </a:extLst>
          </p:cNvPr>
          <p:cNvSpPr/>
          <p:nvPr/>
        </p:nvSpPr>
        <p:spPr>
          <a:xfrm>
            <a:off x="6737482" y="1139952"/>
            <a:ext cx="3009487" cy="228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C1F4FA-D00C-17F2-6C7D-9A2D6317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B99-94EE-5B6C-3282-05932041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B9D624-3C0A-1959-DC66-7CECEB61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11" y="1132352"/>
            <a:ext cx="7423858" cy="37052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8BB17F-4FF0-220D-1D82-78F7ED7E1E6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Liver disease progression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FF380-0737-FFE5-ED8B-64F790662FD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182E5-C9DC-9D3C-29C9-8E1DF956A260}"/>
              </a:ext>
            </a:extLst>
          </p:cNvPr>
          <p:cNvSpPr/>
          <p:nvPr/>
        </p:nvSpPr>
        <p:spPr>
          <a:xfrm>
            <a:off x="2323111" y="3512841"/>
            <a:ext cx="7423858" cy="1335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F09BA-4C82-6DE1-7587-5A56325E8E4B}"/>
              </a:ext>
            </a:extLst>
          </p:cNvPr>
          <p:cNvSpPr txBox="1"/>
          <p:nvPr/>
        </p:nvSpPr>
        <p:spPr>
          <a:xfrm>
            <a:off x="609600" y="4915281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Direct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progression from compensated cirrhosis to HCC is allowed.*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Progression rates are literature–based and adjusted for Singapore’ high genotype 3 prevalence (~78%).*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HCV–related liver transplantation is excluded due to its rarity in Singapore.*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0DC4D9-B713-2521-D3FA-3794A664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41C97-FC51-39DF-ADBE-4CCEF85C00DE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dirty="0">
                <a:solidFill>
                  <a:srgbClr val="595959"/>
                </a:solidFill>
                <a:latin typeface="Arial"/>
              </a:rPr>
              <a:t>*Zhao et al. 2019;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</p:txBody>
      </p:sp>
    </p:spTree>
    <p:extLst>
      <p:ext uri="{BB962C8B-B14F-4D97-AF65-F5344CB8AC3E}">
        <p14:creationId xmlns:p14="http://schemas.microsoft.com/office/powerpoint/2010/main" val="25804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4AA7-C56E-42BA-82B4-CDF8E2AF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AE40C-B155-847B-7F91-30FF6A2D86E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Some fixed parameters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E850B-27D6-88DA-594F-EE39954DDDB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Background mortality rate for age group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u="none" strike="noStrike" cap="none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oMath>
                          </a14:m>
                          <a:endParaRPr lang="en-US"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92308" r="-95622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2FFC0B-C813-AC8B-11E2-57EF5012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8DCEA-C243-EA68-7B8E-D36DBB652B59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Direct–acting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16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Recidivism and release survival curve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33983" y="4988489"/>
            <a:ext cx="9748267" cy="1326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Estimated from a</a:t>
            </a:r>
            <a:r>
              <a:rPr sz="1867" dirty="0">
                <a:solidFill>
                  <a:srgbClr val="1A1A1A"/>
                </a:solidFill>
                <a:latin typeface="Arial"/>
              </a:rPr>
              <a:t>rrest and release records spanning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Jan 2007 </a:t>
            </a:r>
            <a:r>
              <a:rPr sz="1867" dirty="0">
                <a:solidFill>
                  <a:srgbClr val="1A1A1A"/>
                </a:solidFill>
                <a:latin typeface="Arial"/>
              </a:rPr>
              <a:t>–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Dec</a:t>
            </a:r>
            <a:r>
              <a:rPr sz="1867" dirty="0">
                <a:solidFill>
                  <a:srgbClr val="1A1A1A"/>
                </a:solidFill>
                <a:latin typeface="Arial"/>
              </a:rPr>
              <a:t> 2017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 Singapore prison data.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Recidivism risk after release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peaks at ages 40–49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, while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PWIDs under 20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had the longest community intervals before re–arrest.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9635A8-07C0-0BFE-00CB-CA89FDD4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C3E3E-1F6D-CEAA-CB04-038C0F4F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30" y="1139952"/>
            <a:ext cx="8488539" cy="3890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calibration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E3C242-CEDB-C249-E2FA-77B77C07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3FC52-EADF-4C2C-52C3-8F7E5F3A7FDF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06DFACF-DA8C-FEC5-648B-17274E32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20" y="1139952"/>
            <a:ext cx="8934559" cy="4839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42CF6-3AAA-99E9-39B0-518CD8E4F25E}"/>
              </a:ext>
            </a:extLst>
          </p:cNvPr>
          <p:cNvSpPr txBox="1"/>
          <p:nvPr/>
        </p:nvSpPr>
        <p:spPr>
          <a:xfrm>
            <a:off x="489858" y="5837317"/>
            <a:ext cx="11464018" cy="58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Age-specific HCV seroprevalence and prison population were calibrated against Feb 2014-Dec 2016 Singapore Changi prison HCV screening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B4DA-BE3B-4501-408D-E31C19D1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C3CB6-BD50-E3C2-A385-151661403C53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predictions at 2015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CFD7D-9D82-844E-5035-211F3726F9F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F19596F9-37FB-28DE-F113-A175C6A48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5444500"/>
              </p:ext>
            </p:extLst>
          </p:nvPr>
        </p:nvGraphicFramePr>
        <p:xfrm>
          <a:off x="682750" y="1212205"/>
          <a:ext cx="10753994" cy="341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1924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Stratum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population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(95%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HCV cases (95% 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Never–incarcerated PWID (D)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1,336 (1,201–1,504)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221 (103–212)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Incarcerated PWID (J)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3,174 (2,834–3,611)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1,014 (510–1,331)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PWID (F)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1,452 (1,302–1,641)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612 (317–783)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ex–PWID (X)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14,094 (12,610–15,974)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3,001 (1,464–4,000)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PWID (D + 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2,790 (2,506–3,148)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833 (417–1,093)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122847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(D + J + F + 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20,054 (17,988–22,603)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4,840 (2,395––6,398)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623340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73100D-9D2A-5BC0-2E1A-DE237421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0D744-37AE-4A68-DF37-07EA74BB0634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AD3B7-9D75-214B-44B5-7EF380A161F7}"/>
              </a:ext>
            </a:extLst>
          </p:cNvPr>
          <p:cNvSpPr txBox="1"/>
          <p:nvPr/>
        </p:nvSpPr>
        <p:spPr>
          <a:xfrm>
            <a:off x="682750" y="4647348"/>
            <a:ext cx="10753994" cy="200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Around 2,800 current PWIDs were estimated </a:t>
            </a:r>
            <a:r>
              <a:rPr lang="en-US">
                <a:solidFill>
                  <a:srgbClr val="1A1A1A"/>
                </a:solidFill>
                <a:latin typeface="Arial"/>
              </a:rPr>
              <a:t>in 2015, </a:t>
            </a:r>
            <a:r>
              <a:rPr lang="en-US" dirty="0">
                <a:solidFill>
                  <a:srgbClr val="1A1A1A"/>
                </a:solidFill>
                <a:latin typeface="Arial"/>
              </a:rPr>
              <a:t>with active HCV prevalence of approximately 30%.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Formerly-incarcerated current PWIDs (F) had the highest HCV prevalence (~43%), indicating a high-burden group around the prison-community transition.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Former PWIDs (X) accounted for the largest absolute HCV burden due to much larger population size, leaving a substantial residual community reservoir.</a:t>
            </a:r>
          </a:p>
        </p:txBody>
      </p:sp>
    </p:spTree>
    <p:extLst>
      <p:ext uri="{BB962C8B-B14F-4D97-AF65-F5344CB8AC3E}">
        <p14:creationId xmlns:p14="http://schemas.microsoft.com/office/powerpoint/2010/main" val="162928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90F-234A-CECF-F0AD-3706BC42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664DF-B77F-E519-111D-5E54E016AD1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C0A86-8BD7-7124-CAB1-5B353D47FDA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D832D-4B1C-CDF4-F8AD-093C28B0D6B8}"/>
              </a:ext>
            </a:extLst>
          </p:cNvPr>
          <p:cNvSpPr txBox="1"/>
          <p:nvPr/>
        </p:nvSpPr>
        <p:spPr>
          <a:xfrm>
            <a:off x="633984" y="3526933"/>
            <a:ext cx="10850880" cy="279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lasts 12 weeks, with no immunity assumed</a:t>
            </a:r>
            <a:r>
              <a:rPr lang="zh-CN" alt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recovery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Successful treatment leads to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virological response after 12 weeks (SVR12)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After achieving SVR12: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Progression is assumed to stop in non–cirrhotic PWIDs and slows in cirrhotic PWIDs until reinfection.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Survival improves for DC and HCC stages.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SVR12 rates vary by disease stage and treatment regimen based on clinical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78223-DD87-1033-EAAB-FDBECF8A32E7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 DC: decompensated cirrhosis; HCC: hepatocellular carcinoma;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An et al. 2022;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Pawlotsky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Morgan et al. 2013;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A17F5BE-5212-2038-CB2A-6F7DD8CB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05386-8E10-03D9-9DAB-8BBCE036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213" y="772264"/>
            <a:ext cx="3717573" cy="26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58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6B00-5016-9DC7-5251-EC99EFAF4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A368B-6FF1-422D-E55B-27C150D28D35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Current prison and community initiatives in Singapore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E82E07-4426-7ED3-0625-6317C66EBEEC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3D152-19F9-C5F0-5082-769F73449F91}"/>
              </a:ext>
            </a:extLst>
          </p:cNvPr>
          <p:cNvSpPr txBox="1"/>
          <p:nvPr/>
        </p:nvSpPr>
        <p:spPr>
          <a:xfrm>
            <a:off x="609600" y="1215292"/>
            <a:ext cx="10850880" cy="548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WHO 2030 targets*: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Reduce HCV incidence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HCV-related mortality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65%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relative to 2015 levels.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Prison-based care: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Opt-in HCV screening at prison entry, with unrestricted access to direct-acting antivirals (DAAs) for chronic HCV infection since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Community screening: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HCSA–ETT aims to screen up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600 at-risk individuals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primarily former drug offenders reached through halfway houses, between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August 2025 and December 2026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Treatment support: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MOH’s Drug Advisory Committee recommends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sofosbuvir 400 mg/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100 mg (SOF/VEL)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chronic hepatitis C in accordance with its registered indications.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2728A-2B23-26D8-6ADE-5E98231BB04F}"/>
              </a:ext>
            </a:extLst>
          </p:cNvPr>
          <p:cNvSpPr txBox="1"/>
          <p:nvPr/>
        </p:nvSpPr>
        <p:spPr>
          <a:xfrm>
            <a:off x="670559" y="6401121"/>
            <a:ext cx="1085088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*HCSA: Healthcare Service Act; ETT: Educate, Test, Treat;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WHO targets: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https://www.who.int/publications/i/item/9789240028395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Prison: Wong et al. 2021; Community: 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https://www.moh.gov.sg/newsroom/speech-by-mdm-rahayu-mahzam--minister-of-state--mddi--and-moh--at-the--educate--test--treat-----mou-signing-ceremony-between-hcsa-highpoint-and-ttsh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050" dirty="0">
                <a:solidFill>
                  <a:srgbClr val="595959"/>
                </a:solidFill>
                <a:latin typeface="Arial"/>
                <a:cs typeface="Arial" panose="020B0604020202020204" pitchFamily="34" charset="0"/>
              </a:rPr>
              <a:t>MOH: </a:t>
            </a:r>
            <a:r>
              <a:rPr lang="en-US" sz="1050" dirty="0">
                <a:solidFill>
                  <a:srgbClr val="595959"/>
                </a:solidFill>
                <a:latin typeface="Arial"/>
                <a:cs typeface="Arial" panose="020B0604020202020204" pitchFamily="34" charset="0"/>
                <a:hlinkClick r:id="rId5"/>
              </a:rPr>
              <a:t>https://www.ace-hta.gov.sg/healthcare-professionals/ace-technology-guidance/drug-guidance/direct-acting-antiviral-agents-for-treating-chronic-hepatitis-c/</a:t>
            </a:r>
            <a:r>
              <a:rPr lang="en-US" sz="10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sz="1050" dirty="0">
              <a:solidFill>
                <a:srgbClr val="595959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F9F55A-631B-0F76-C71A-F55DF642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72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0341-2BF6-5361-5122-46D6C073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82EF7-1DC5-1827-FBB3-AA4EF8FB8778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From screening capacity to treatment capacity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A667A-36AE-8491-F03C-AF14854DBE72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7C0B5-8EA7-6A9B-36A6-E9ED11AD8D6F}"/>
              </a:ext>
            </a:extLst>
          </p:cNvPr>
          <p:cNvSpPr txBox="1"/>
          <p:nvPr/>
        </p:nvSpPr>
        <p:spPr>
          <a:xfrm>
            <a:off x="609600" y="1145887"/>
            <a:ext cx="10850880" cy="5522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Halfway houses are not explicitly modelled. Their target population is approximated by previously incarcerated individuals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 (active injecting)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X (former injecting)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the relative contribution of F and X is unknown, we vary the allocation of annual screening capacity between them.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each stratum, the annual treatment-start cap equals its allocated screening capacity multiplied by its chronic HCV prevalence among individuals not currently receiving treatment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example, set screening capacity as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600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2026, assuming PWIDs from F and X are equally distributed (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50% vs. 50%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and current HCV viremic prevalence in F and X are 40% and 20%, then treatment capacity for F and X in 2026 will be: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New treatment starts are allowed until the stratum-specific cap is reached. Further starts are then suspended for the remainder of the year, while ongoing treatment continues.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Treatment-start counts reset each year, and caps are updated using the corresponding prevalence.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E038106-174A-037A-BD48-D4C1C1E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711A35-5534-4AD6-8A39-8411C55EC7E2}"/>
              </a:ext>
            </a:extLst>
          </p:cNvPr>
          <p:cNvGrpSpPr/>
          <p:nvPr/>
        </p:nvGrpSpPr>
        <p:grpSpPr>
          <a:xfrm>
            <a:off x="3278641" y="3226497"/>
            <a:ext cx="5097952" cy="2333069"/>
            <a:chOff x="2563621" y="4388405"/>
            <a:chExt cx="5097952" cy="233306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652CB29-5175-C4A1-0C24-0C0E8CF91459}"/>
                </a:ext>
              </a:extLst>
            </p:cNvPr>
            <p:cNvCxnSpPr>
              <a:cxnSpLocks/>
              <a:stCxn id="5" idx="3"/>
              <a:endCxn id="31" idx="1"/>
            </p:cNvCxnSpPr>
            <p:nvPr/>
          </p:nvCxnSpPr>
          <p:spPr>
            <a:xfrm flipV="1">
              <a:off x="3911157" y="4882160"/>
              <a:ext cx="689812" cy="6481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B016880-11D9-EA72-3A8C-E2B68ED727DA}"/>
                </a:ext>
              </a:extLst>
            </p:cNvPr>
            <p:cNvCxnSpPr>
              <a:cxnSpLocks/>
              <a:stCxn id="5" idx="3"/>
              <a:endCxn id="35" idx="1"/>
            </p:cNvCxnSpPr>
            <p:nvPr/>
          </p:nvCxnSpPr>
          <p:spPr>
            <a:xfrm>
              <a:off x="3911157" y="5530295"/>
              <a:ext cx="689812" cy="697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F60DF82-9B5A-6B85-7616-CEA611A8CDC4}"/>
                </a:ext>
              </a:extLst>
            </p:cNvPr>
            <p:cNvGrpSpPr/>
            <p:nvPr/>
          </p:nvGrpSpPr>
          <p:grpSpPr>
            <a:xfrm>
              <a:off x="2563621" y="5036540"/>
              <a:ext cx="1347536" cy="987509"/>
              <a:chOff x="1986106" y="5323913"/>
              <a:chExt cx="1347536" cy="987509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4723725-FA64-46A4-0355-C2D22975B040}"/>
                  </a:ext>
                </a:extLst>
              </p:cNvPr>
              <p:cNvSpPr/>
              <p:nvPr/>
            </p:nvSpPr>
            <p:spPr>
              <a:xfrm>
                <a:off x="1986106" y="5323913"/>
                <a:ext cx="1347536" cy="9875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/>
                  <a:t>Screening </a:t>
                </a:r>
              </a:p>
              <a:p>
                <a:pPr algn="ctr"/>
                <a:r>
                  <a:rPr lang="en-US" sz="1400" dirty="0"/>
                  <a:t>Capacity</a:t>
                </a:r>
              </a:p>
              <a:p>
                <a:pPr algn="ctr"/>
                <a:endParaRPr lang="en-US" sz="1400" dirty="0"/>
              </a:p>
              <a:p>
                <a:pPr algn="ctr"/>
                <a:r>
                  <a:rPr lang="en-US" sz="1400" dirty="0"/>
                  <a:t>600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D2AB1FE-4B49-E4AA-CEBC-60E901F0C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6106" y="5968920"/>
                <a:ext cx="1347536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10E716F-DDFF-C224-D9D7-7AC1898C07CB}"/>
                </a:ext>
              </a:extLst>
            </p:cNvPr>
            <p:cNvGrpSpPr/>
            <p:nvPr/>
          </p:nvGrpSpPr>
          <p:grpSpPr>
            <a:xfrm>
              <a:off x="4600969" y="4388405"/>
              <a:ext cx="1347536" cy="987509"/>
              <a:chOff x="1986106" y="5323913"/>
              <a:chExt cx="1347536" cy="987509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B43F303B-6131-4FA0-3364-3353662B5C03}"/>
                  </a:ext>
                </a:extLst>
              </p:cNvPr>
              <p:cNvSpPr/>
              <p:nvPr/>
            </p:nvSpPr>
            <p:spPr>
              <a:xfrm>
                <a:off x="1986106" y="5323913"/>
                <a:ext cx="1347536" cy="9875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/>
                  <a:t>Active injecting (F)</a:t>
                </a:r>
              </a:p>
              <a:p>
                <a:pPr algn="ctr"/>
                <a:endParaRPr lang="en-US" sz="1400" dirty="0"/>
              </a:p>
              <a:p>
                <a:pPr algn="ctr"/>
                <a:r>
                  <a:rPr lang="en-US" sz="1200" dirty="0"/>
                  <a:t>600 * 50% = 300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5AD4E70-AB75-658D-C54A-4A30536BA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6106" y="5968920"/>
                <a:ext cx="1347536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624E0F6-24A2-BA19-34B3-D80F53DC45D6}"/>
                </a:ext>
              </a:extLst>
            </p:cNvPr>
            <p:cNvGrpSpPr/>
            <p:nvPr/>
          </p:nvGrpSpPr>
          <p:grpSpPr>
            <a:xfrm>
              <a:off x="4600969" y="5733965"/>
              <a:ext cx="1347536" cy="987509"/>
              <a:chOff x="1986106" y="5323913"/>
              <a:chExt cx="1347536" cy="987509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C3A8989F-19DF-5E1F-F9C1-C4339C7D121D}"/>
                  </a:ext>
                </a:extLst>
              </p:cNvPr>
              <p:cNvSpPr/>
              <p:nvPr/>
            </p:nvSpPr>
            <p:spPr>
              <a:xfrm>
                <a:off x="1986106" y="5323913"/>
                <a:ext cx="1347536" cy="9875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/>
                  <a:t>Former injecting (X)</a:t>
                </a:r>
              </a:p>
              <a:p>
                <a:pPr algn="ctr"/>
                <a:endParaRPr lang="en-US" sz="1400" dirty="0"/>
              </a:p>
              <a:p>
                <a:pPr algn="ctr"/>
                <a:r>
                  <a:rPr lang="en-US" sz="1200" dirty="0"/>
                  <a:t>600 * 50% = 300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F31DD79-75FA-264D-D77C-75EBA4CE3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6106" y="5968920"/>
                <a:ext cx="1347536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1C0175-8BAE-8C04-E9D1-223638665B7A}"/>
                </a:ext>
              </a:extLst>
            </p:cNvPr>
            <p:cNvGrpSpPr/>
            <p:nvPr/>
          </p:nvGrpSpPr>
          <p:grpSpPr>
            <a:xfrm>
              <a:off x="6314037" y="4388405"/>
              <a:ext cx="1347536" cy="987509"/>
              <a:chOff x="1986106" y="5323913"/>
              <a:chExt cx="1347536" cy="987509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7A933EE-2D31-65A5-4080-B66A18E49E1C}"/>
                  </a:ext>
                </a:extLst>
              </p:cNvPr>
              <p:cNvSpPr/>
              <p:nvPr/>
            </p:nvSpPr>
            <p:spPr>
              <a:xfrm>
                <a:off x="1986106" y="5323913"/>
                <a:ext cx="1347536" cy="9875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100" dirty="0"/>
                  <a:t>Active injecting (F) treatment capacity</a:t>
                </a:r>
              </a:p>
              <a:p>
                <a:pPr algn="ctr"/>
                <a:endParaRPr lang="en-US" sz="1200" dirty="0"/>
              </a:p>
              <a:p>
                <a:pPr algn="ctr"/>
                <a:r>
                  <a:rPr lang="en-US" sz="1200" dirty="0"/>
                  <a:t>300 * 40% = 120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F3AC147-6444-558D-028F-86F093B33F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6106" y="6010170"/>
                <a:ext cx="1347536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EF1D8C-D917-E68E-2FBE-94A32D77E225}"/>
                </a:ext>
              </a:extLst>
            </p:cNvPr>
            <p:cNvGrpSpPr/>
            <p:nvPr/>
          </p:nvGrpSpPr>
          <p:grpSpPr>
            <a:xfrm>
              <a:off x="6314037" y="5733965"/>
              <a:ext cx="1347536" cy="987509"/>
              <a:chOff x="1986106" y="5323913"/>
              <a:chExt cx="1347536" cy="987509"/>
            </a:xfrm>
          </p:grpSpPr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266F3DE-DBDF-0080-20D6-A546BF52BCEF}"/>
                  </a:ext>
                </a:extLst>
              </p:cNvPr>
              <p:cNvSpPr/>
              <p:nvPr/>
            </p:nvSpPr>
            <p:spPr>
              <a:xfrm>
                <a:off x="1986106" y="5323913"/>
                <a:ext cx="1347536" cy="9875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100" dirty="0"/>
                  <a:t>Former injecting (X) treatment capacity</a:t>
                </a:r>
              </a:p>
              <a:p>
                <a:pPr algn="ctr"/>
                <a:endParaRPr lang="en-US" sz="1200" dirty="0"/>
              </a:p>
              <a:p>
                <a:pPr algn="ctr"/>
                <a:r>
                  <a:rPr lang="en-US" sz="1200" dirty="0"/>
                  <a:t>300 * 20% = 60</a:t>
                </a: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8363696-A7E2-3400-7B5C-FAF80027E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6106" y="6010170"/>
                <a:ext cx="1347536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3A05570-4B9F-1EAA-FD70-BF907242C9BA}"/>
                </a:ext>
              </a:extLst>
            </p:cNvPr>
            <p:cNvCxnSpPr>
              <a:cxnSpLocks/>
              <a:stCxn id="31" idx="3"/>
              <a:endCxn id="38" idx="1"/>
            </p:cNvCxnSpPr>
            <p:nvPr/>
          </p:nvCxnSpPr>
          <p:spPr>
            <a:xfrm>
              <a:off x="5948505" y="4882160"/>
              <a:ext cx="3655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493D81-4335-213C-8A81-3739A5BE23C9}"/>
                </a:ext>
              </a:extLst>
            </p:cNvPr>
            <p:cNvCxnSpPr>
              <a:cxnSpLocks/>
              <a:stCxn id="35" idx="3"/>
              <a:endCxn id="41" idx="1"/>
            </p:cNvCxnSpPr>
            <p:nvPr/>
          </p:nvCxnSpPr>
          <p:spPr>
            <a:xfrm>
              <a:off x="5948505" y="6227720"/>
              <a:ext cx="3655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600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8D1-6391-4212-96CF-73DF38DF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12D51-7669-0F34-625E-9A49FC73180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Current t</a:t>
            </a:r>
            <a:r>
              <a:rPr sz="2800" b="1" dirty="0">
                <a:solidFill>
                  <a:srgbClr val="05455E"/>
                </a:solidFill>
                <a:latin typeface="Arial"/>
              </a:rPr>
              <a:t>reatment </a:t>
            </a:r>
            <a:r>
              <a:rPr lang="en-US" sz="2800" b="1" dirty="0">
                <a:solidFill>
                  <a:srgbClr val="05455E"/>
                </a:solidFill>
                <a:latin typeface="Arial"/>
              </a:rPr>
              <a:t>scenarios</a:t>
            </a:r>
            <a:r>
              <a:rPr lang="zh-CN" altLang="en-US" sz="2800" b="1" dirty="0">
                <a:solidFill>
                  <a:srgbClr val="05455E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05455E"/>
                </a:solidFill>
                <a:latin typeface="Arial"/>
              </a:rPr>
              <a:t>design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81C83-9EAF-16A6-D973-987784171A3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7" name="Google Shape;334;p46">
            <a:extLst>
              <a:ext uri="{FF2B5EF4-FFF2-40B4-BE49-F238E27FC236}">
                <a16:creationId xmlns:a16="http://schemas.microsoft.com/office/drawing/2014/main" id="{36611379-1CAF-B4F1-1345-F2F9A6B5DD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722739"/>
              </p:ext>
            </p:extLst>
          </p:nvPr>
        </p:nvGraphicFramePr>
        <p:xfrm>
          <a:off x="682751" y="1212205"/>
          <a:ext cx="10826496" cy="4247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(e.g.)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age period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ages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84591"/>
                  </a:ext>
                </a:extLst>
              </a:tr>
              <a:tr h="4747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regimen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SOF/VEL* (12 weeks)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898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 setting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Formerly-Incarcerated (ex-)PWIDs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DAA treatment + delivery cost </a:t>
                      </a:r>
                      <a:b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HCV anti-body/RNA test cost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consultation fee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037034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Screening capacity per year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600, 1000, 2000, 5000, 8000, No cap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27457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Screening capacity distribution for F and X per year 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(50%,50%), (75%, 25%), (25%, 75%)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293740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B97090-3871-1A85-4E91-25EFE494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77281-7915-7DF4-6BA7-C8F9D3724AE2}"/>
              </a:ext>
            </a:extLst>
          </p:cNvPr>
          <p:cNvSpPr txBox="1"/>
          <p:nvPr/>
        </p:nvSpPr>
        <p:spPr>
          <a:xfrm>
            <a:off x="682751" y="6629141"/>
            <a:ext cx="10850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*SOF: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sofosbuvir; VEL: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; DAA: Direct-acting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69A6-EA42-F7E6-569C-0D6339E28EFF}"/>
              </a:ext>
            </a:extLst>
          </p:cNvPr>
          <p:cNvSpPr txBox="1"/>
          <p:nvPr/>
        </p:nvSpPr>
        <p:spPr>
          <a:xfrm>
            <a:off x="670559" y="5600737"/>
            <a:ext cx="10850880" cy="623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Outcomes include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HCV incidence, liver-cirrhosis mortality, total cost, and total number of treatment starts relative to status quo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701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5562-1414-02B5-1E06-CDDE6C87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BC13E-5D44-1AEF-6012-BD8EE4DD78D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Cost table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8D440-E77F-5778-CF84-C34AD85D310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E611F1FA-7CF5-E883-7B73-43FC47C48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367540"/>
              </p:ext>
            </p:extLst>
          </p:nvPr>
        </p:nvGraphicFramePr>
        <p:xfrm>
          <a:off x="719002" y="1339268"/>
          <a:ext cx="10753994" cy="2411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436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(SGD)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 (12 weeks)</a:t>
                      </a:r>
                      <a:endParaRPr lang="en-US" sz="1600" b="0" u="none" strike="noStrike" cap="none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40405.2984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Wong et al. 2019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Anti-body HCV test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25.31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NHG Health Clinic Charges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HCV RNA PCR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313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Parkway 2026 test catalogue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Docter consultation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NHG Health Clinic Charges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B242D47-CD53-6A1A-994F-63919A80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1279E-2955-E10D-B4B4-AC17A24AA954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NHG: National Healthcare Group;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8E25F-693B-CF43-180E-B950C6D025FC}"/>
              </a:ext>
            </a:extLst>
          </p:cNvPr>
          <p:cNvSpPr txBox="1"/>
          <p:nvPr/>
        </p:nvSpPr>
        <p:spPr>
          <a:xfrm>
            <a:off x="670559" y="3834353"/>
            <a:ext cx="10850880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Costs are discounted at 3% annually, using 2026 as the base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HCV antibody and HCV RNA PCR testing costs are included for all PWIDs with a history of HCV infection.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Consultation and treatment Costs are included for all PWIDs with confirmed chronic HCV infection.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budget includes all costs incurred in J (incarcerated), F (active injecting), and X (former injecting) during 2026–2030.</a:t>
            </a:r>
          </a:p>
        </p:txBody>
      </p:sp>
    </p:spTree>
    <p:extLst>
      <p:ext uri="{BB962C8B-B14F-4D97-AF65-F5344CB8AC3E}">
        <p14:creationId xmlns:p14="http://schemas.microsoft.com/office/powerpoint/2010/main" val="1808136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D3DE-3470-9359-BB9E-2B8EE3FE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A13B1E10-2799-D61B-E9D3-569B5737E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4" y="1139952"/>
            <a:ext cx="12178887" cy="55358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C09AB1-731F-0C2F-7B3B-AD3F2686178C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94E53-A8AE-E8A7-02E7-67D6727A845E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 incidence and mortality trajectory (2015-2030)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625AC3-9C51-87E0-9DEA-6108D614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58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7569-FEB2-8256-6DC2-1CFCF11D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B69B74-C2B1-2581-8D5F-A9B823C762E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9C622-9CEF-860C-91FE-FC4617897863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Cumulative cost &amp; treatment starts (2026-2030)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75E6CC-4B73-D2C3-96FE-9A2E9108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0466B6-FF57-E5CA-2FF1-DC725D4C5C79}"/>
              </a:ext>
            </a:extLst>
          </p:cNvPr>
          <p:cNvGrpSpPr/>
          <p:nvPr/>
        </p:nvGrpSpPr>
        <p:grpSpPr>
          <a:xfrm>
            <a:off x="1524733" y="1143917"/>
            <a:ext cx="9142533" cy="5714083"/>
            <a:chOff x="1524733" y="1143917"/>
            <a:chExt cx="9142533" cy="5714083"/>
          </a:xfrm>
        </p:grpSpPr>
        <p:pic>
          <p:nvPicPr>
            <p:cNvPr id="5" name="Picture 4" descr="A graph of different colored squares&#10;&#10;AI-generated content may be incorrect.">
              <a:extLst>
                <a:ext uri="{FF2B5EF4-FFF2-40B4-BE49-F238E27FC236}">
                  <a16:creationId xmlns:a16="http://schemas.microsoft.com/office/drawing/2014/main" id="{943B8504-B258-5A6A-C694-48DFF59EC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733" y="1143917"/>
              <a:ext cx="9142533" cy="57140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BA9DE5-DCFB-BF0A-17A3-D88AB26109AC}"/>
                </a:ext>
              </a:extLst>
            </p:cNvPr>
            <p:cNvSpPr/>
            <p:nvPr/>
          </p:nvSpPr>
          <p:spPr>
            <a:xfrm>
              <a:off x="6675808" y="1320036"/>
              <a:ext cx="1230658" cy="103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242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74E8-D38C-CDF8-D5C3-FE994C93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F4670A-6389-D89D-2F29-B1A4A3436CB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3F689-D9BC-4711-C968-F42E9B924BEA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Annual F/X treatment starts under screening quotas (2026-2030)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22DAC0-9C95-19B0-5A4C-9255E6C2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A336D3D-ED3A-F3F0-E53C-45EEAEB5E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8"/>
          <a:stretch>
            <a:fillRect/>
          </a:stretch>
        </p:blipFill>
        <p:spPr>
          <a:xfrm>
            <a:off x="818147" y="1139952"/>
            <a:ext cx="10555705" cy="570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75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86CC-DC82-D657-35A7-E51ECDA8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81D5A5-F067-2653-311E-F9282708BDE3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24688-D5EC-3C86-6F6E-58265467FF4E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Summary of analysis results (2026-2030)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BC3B34-8213-EAE3-8B21-0C2B80EE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4" name="Google Shape;334;p46">
            <a:extLst>
              <a:ext uri="{FF2B5EF4-FFF2-40B4-BE49-F238E27FC236}">
                <a16:creationId xmlns:a16="http://schemas.microsoft.com/office/drawing/2014/main" id="{652AA09A-D18F-4A8C-8130-0FDB5BC2C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5494004"/>
              </p:ext>
            </p:extLst>
          </p:nvPr>
        </p:nvGraphicFramePr>
        <p:xfrm>
          <a:off x="682754" y="1336606"/>
          <a:ext cx="10826492" cy="4796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279">
                  <a:extLst>
                    <a:ext uri="{9D8B030D-6E8A-4147-A177-3AD203B41FA5}">
                      <a16:colId xmlns:a16="http://schemas.microsoft.com/office/drawing/2014/main" val="955040649"/>
                    </a:ext>
                  </a:extLst>
                </a:gridCol>
                <a:gridCol w="1262398">
                  <a:extLst>
                    <a:ext uri="{9D8B030D-6E8A-4147-A177-3AD203B41FA5}">
                      <a16:colId xmlns:a16="http://schemas.microsoft.com/office/drawing/2014/main" val="3461275794"/>
                    </a:ext>
                  </a:extLst>
                </a:gridCol>
                <a:gridCol w="1880160">
                  <a:extLst>
                    <a:ext uri="{9D8B030D-6E8A-4147-A177-3AD203B41FA5}">
                      <a16:colId xmlns:a16="http://schemas.microsoft.com/office/drawing/2014/main" val="4218974333"/>
                    </a:ext>
                  </a:extLst>
                </a:gridCol>
                <a:gridCol w="1571279">
                  <a:extLst>
                    <a:ext uri="{9D8B030D-6E8A-4147-A177-3AD203B41FA5}">
                      <a16:colId xmlns:a16="http://schemas.microsoft.com/office/drawing/2014/main" val="3053630220"/>
                    </a:ext>
                  </a:extLst>
                </a:gridCol>
                <a:gridCol w="1571279">
                  <a:extLst>
                    <a:ext uri="{9D8B030D-6E8A-4147-A177-3AD203B41FA5}">
                      <a16:colId xmlns:a16="http://schemas.microsoft.com/office/drawing/2014/main" val="4112084692"/>
                    </a:ext>
                  </a:extLst>
                </a:gridCol>
              </a:tblGrid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Incidence decrease (%)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decrease (%)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Targets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(discounted in S$)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F/X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starts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starts</a:t>
                      </a:r>
                      <a:endParaRPr sz="18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J-only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76.0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42.6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17.33m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446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84591"/>
                  </a:ext>
                </a:extLst>
              </a:tr>
              <a:tr h="4747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600/y,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50%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83.6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45.4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22.26m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366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898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5000/y,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25%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93.3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65.1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62.03m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1304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228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8000/y,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25%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94.2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70.8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74.65m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1604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037034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8000/y,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50%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94.2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66.0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63.63m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1355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27457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cap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94.2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74.6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90.96m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1877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</a:t>
                      </a:r>
                      <a:endParaRPr sz="18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835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444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10BE-F1CA-C001-9B7A-0B395891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F28A9C-9067-8E40-34D5-D44558E92CDD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Conclusion (so far)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234E5-611C-BD7C-15F5-ED085FD1D64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BE5220-CFD1-7FB4-584D-0418E165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51D17-824C-92F7-742A-D627A9A0BCCA}"/>
              </a:ext>
            </a:extLst>
          </p:cNvPr>
          <p:cNvSpPr txBox="1"/>
          <p:nvPr/>
        </p:nvSpPr>
        <p:spPr>
          <a:xfrm>
            <a:off x="609599" y="1281195"/>
            <a:ext cx="10196945" cy="461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Mortality is the main barrier.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15 screening scenarios met the incidence target, but only three met both 2030 targets.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and X require complementary strategies.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Screening F supports transmission control, while reaching X’s larger chronic infection burden is essential for reducing deaths.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prioritise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treatment in X.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Prioritising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 excessively leaves screening slots unused and limits mortality benefits in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Lowest-capacity scenario meeting both targets.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5,000 screens/year, allocated 25% to F and 75% to X, narrowly achieved both targets, at S$62.0 million over 2026–2030.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treatment demand in the first year.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Lowest-capacity scenario required approximately 38% of its five-year F/X treatment starts in the first year.</a:t>
            </a:r>
          </a:p>
        </p:txBody>
      </p:sp>
    </p:spTree>
    <p:extLst>
      <p:ext uri="{BB962C8B-B14F-4D97-AF65-F5344CB8AC3E}">
        <p14:creationId xmlns:p14="http://schemas.microsoft.com/office/powerpoint/2010/main" val="4140928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92E7-FD2A-9E96-5BF4-E04D77DE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94BC1-7061-B39F-6D29-13723D33B314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Next steps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7187F-0785-A424-4A50-05CB2ADF873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29890E-532C-46D6-5486-EC86BE7C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0F133-5E6F-79FF-327D-8EA1B29C1DF0}"/>
              </a:ext>
            </a:extLst>
          </p:cNvPr>
          <p:cNvSpPr txBox="1"/>
          <p:nvPr/>
        </p:nvSpPr>
        <p:spPr>
          <a:xfrm>
            <a:off x="609599" y="1281195"/>
            <a:ext cx="10196945" cy="219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Incorporate uncertainty of input parameters and costs.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Additional combinations of screening capacity and F/X distribution still need to be explored to identify the minimum community component required.</a:t>
            </a:r>
          </a:p>
        </p:txBody>
      </p:sp>
    </p:spTree>
    <p:extLst>
      <p:ext uri="{BB962C8B-B14F-4D97-AF65-F5344CB8AC3E}">
        <p14:creationId xmlns:p14="http://schemas.microsoft.com/office/powerpoint/2010/main" val="4051895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0082-3553-ABC2-212F-CFBDDC8D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16474-B910-8372-EDDE-FCC9D2E30463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Limitations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58671-1BFE-9852-8847-829BC8603A5A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1A24EF-FC75-C40A-9FA8-C50CD6FE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7A830-F714-3763-785F-460A20E04D21}"/>
              </a:ext>
            </a:extLst>
          </p:cNvPr>
          <p:cNvSpPr txBox="1"/>
          <p:nvPr/>
        </p:nvSpPr>
        <p:spPr>
          <a:xfrm>
            <a:off x="609599" y="1281195"/>
            <a:ext cx="10196945" cy="561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Costs are based on publicly available proxy prices rather than verified healthcare-payer costs.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model excludes the general population and cannot directly establish whether Singapore achieves national HCV elimination.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Costs are not adjusted for inflation, which may underestimate future budget requirements.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Screening is assumed to be representative within each stratum, with complete linkage of detected chronic infections to treatment.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134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341120"/>
            <a:ext cx="10850880" cy="4289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Chaillon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Thurairajah PH, Hsiang JC, Martin N. What is required for achieving HCV elimination in Singapore? A modeling study. J Hepatol 2020; 73: S818.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Zhao Y, Thurairajah PH, Kumar R, Tan J, Teo EK, Hsiang JC. Novel non-invasive score to predict cirrhosis in the era of hepatitis C elimination: A population study of ex-substance users in Singapore. Hepatobiliary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Pancreat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Dis Int 2019; 18: 143–8.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Zhu RX, Seto W-K, Lai C-L, Yuen M-F. Epidemiology of hepatocellular carcinoma in the Asia-Pacific region. Gut Liver 2016; 10. DOI:10.5009/gnl15257.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Ashtari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S. Hepatocellular carcinoma in Asia: prevention strategy and planning. World J Hepatol 2015; 7: 1708.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Wu Y-J, Xu M-Y, Lu L-G. Clinical advances in fibrosis progression of chronic hepatitis B and C. J Clin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Hepatol 2014; 2: 222–7.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Pawlotsky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J-M, Negro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Aghemo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et al. EASL recommendations on treatment of hepatitis C: final update of the series. J Hepatol 2020; 73: 1170–218.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Hernandez-Con P, Wilson DL, Tang H, et al. Hepatitis C cascade of care in the direct-acting antivirals era: a meta-analysis. Am J Prev Med 2023; 65: 1153–62.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Goodyear T, Brown H, Browne AJ, Hoong P, Ti L, Knight R. “I want to get better, but…”: identifying the perceptions and experiences of people who inject drugs with respect to evolving hepatitis C virus treatments. Int J Equity Health 2021; 20: 81.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Mathers BM, Degenhardt L,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Bucello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C, Lemon J,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Wiessing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Hickman M. Mortality among people who inject drugs: a systematic review and meta-analysis. Bull World Health Organ 2013; 91: 102–23.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Boelen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Teutsch S, Wilson DP, et al. Per-event probability of hepatitis C infection during sharing of injecting equipment.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PLoS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One 2014; 9: e100749.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A7419-2CF7-D68A-473D-1B1C8139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A738-0FAB-3A39-9922-D6AADBD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9D96D-1137-EA75-62FE-0A9543CCB25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9AC97-C230-4F16-2844-6EA8A6B25B9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5BF71-7EEB-348E-84B7-7A51108FB2D3}"/>
              </a:ext>
            </a:extLst>
          </p:cNvPr>
          <p:cNvSpPr txBox="1"/>
          <p:nvPr/>
        </p:nvSpPr>
        <p:spPr>
          <a:xfrm>
            <a:off x="670560" y="1341120"/>
            <a:ext cx="10850880" cy="3160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Micallef JM, Kaldor JM, Dore G. Spontaneous viral clearance following acute hepatitis C infection: a systematic review of longitudinal studies.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2006; 13: 34–41.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Fasano M, Ieva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Ciarallo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Caccianotti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B,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Santantonio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TA. Acute hepatitis C: current status and future perspectives. Viruses 2024; 16: 1739.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Lim AG, Qureshi H, Mahmood H, et al. Curbing the hepatitis C virus epidemic in Pakistan: the impact of scaling up treatment and prevention for achieving elimination. Int J Epidemiol 2018; 47: 550–60.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Fattovich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G,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Stroffolini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Zagni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I, Donato F. Hepatocellular carcinoma in cirrhosis: incidence and risk factors. Gastroenterology 2004; 127: S35–50.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An J, Park DA, Ko MJ, et al. Direct-acting antivirals for HCV treatment in decompensated liver cirrhosis patients: a systematic review and meta-analysis. J Pers Med 2022; 12: 1517.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Morgan RL, Baack B, Smith BD,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Yartel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Pitasi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Falck-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Ytter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Y. Eradication of hepatitis C virus infection and the development of hepatocellular carcinoma: a meta-analysis of observational studies. Ann Intern Med 2013; 158: 329–37.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Xiao J, Zhang X, Mao X, Lai S, Li S, Sheng Y. Efficacy and safety of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plus sofosbuvir with or without ribavirin in hepatitis C patients with decompensated cirrhosis: a systematic review and meta-analysis.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2025; 32: e70078.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EA7F-24EC-D420-FF4D-4690F4C8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0AF27-4577-6B45-D66D-9D803AC5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DA3CD-379B-F946-917A-415AFA6597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05092-D048-965D-AE56-B0C5A25935FE}"/>
              </a:ext>
            </a:extLst>
          </p:cNvPr>
          <p:cNvSpPr txBox="1"/>
          <p:nvPr/>
        </p:nvSpPr>
        <p:spPr>
          <a:xfrm>
            <a:off x="731520" y="2499359"/>
            <a:ext cx="107289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 slides</a:t>
            </a:r>
            <a:endParaRPr lang="en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02CE6-9C2F-70CE-1004-A16E61A3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13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054298-04B1-9724-0A1D-D13B3796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2F25C9-6C2C-929D-9C88-8C7364941C7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Why annual treatment starts so low?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03658-F11A-8CDB-C1CB-4751E038CD8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5BE20-9D3D-282D-0F40-BE950C8D747D}"/>
              </a:ext>
            </a:extLst>
          </p:cNvPr>
          <p:cNvSpPr txBox="1"/>
          <p:nvPr/>
        </p:nvSpPr>
        <p:spPr>
          <a:xfrm>
            <a:off x="670560" y="1341120"/>
            <a:ext cx="10850880" cy="4001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 treatment starts reflect limited screening coverage, rather than few remaining HCV infections.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2030, X still contains approximately 1,123 chronically infected individuals among 14,516 eligible for screening. Screening 300 people yields an annual treatment cap of only 300 × 1,123 / 14,516 ≈ 23 starts.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 contributes approximately 7 additional starts, bringing the combined F/X total to around 30 starts that year.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Although the HCSA–ETT study reported 37.3% HCV antibody positivity, this includes past infections and does not represent the proportion with current chronic infection eligible for treatment.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D4649-4210-C699-6AAD-ACB75564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0E740-4779-5F71-23CC-8FC1222D8B33}"/>
              </a:ext>
            </a:extLst>
          </p:cNvPr>
          <p:cNvSpPr txBox="1"/>
          <p:nvPr/>
        </p:nvSpPr>
        <p:spPr>
          <a:xfrm>
            <a:off x="670559" y="6489560"/>
            <a:ext cx="10850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Yew et al. 2024;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https://hcsa.org.sg/mou-signing-between-hcsa-highpoint-halfway-house-pertapis-halfway-house-selarang-halfway-house-teen-challenge-singapore-and-the-helping-hand-to-strengthen-collaboration-in-the-first-hepatitis-c-el/</a:t>
            </a:r>
            <a:r>
              <a:rPr lang="en-US" sz="1133" b="1" dirty="0">
                <a:solidFill>
                  <a:srgbClr val="595959"/>
                </a:solidFill>
                <a:latin typeface="Arial"/>
              </a:rPr>
              <a:t> 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730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581234-F192-0EA5-6FAE-AE24BC78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7FA68-7CF2-A685-A1BD-EC8972B3B9C2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Stage-, genotype-, and regimen- specific SVR12 rates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096EB-B66C-298B-FFB4-41D3440CB2E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EA5D64CA-AC33-BA50-B789-6FD03EF01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01634"/>
              </p:ext>
            </p:extLst>
          </p:nvPr>
        </p:nvGraphicFramePr>
        <p:xfrm>
          <a:off x="719002" y="1440584"/>
          <a:ext cx="10753993" cy="4414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173">
                  <a:extLst>
                    <a:ext uri="{9D8B030D-6E8A-4147-A177-3AD203B41FA5}">
                      <a16:colId xmlns:a16="http://schemas.microsoft.com/office/drawing/2014/main" val="3037907996"/>
                    </a:ext>
                  </a:extLst>
                </a:gridCol>
                <a:gridCol w="2618509">
                  <a:extLst>
                    <a:ext uri="{9D8B030D-6E8A-4147-A177-3AD203B41FA5}">
                      <a16:colId xmlns:a16="http://schemas.microsoft.com/office/drawing/2014/main" val="2003208339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816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Genotype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Liver disease stage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Regimen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SVR</a:t>
                      </a: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rates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NC/CC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745032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286165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 + RBV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1566304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 + RBV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145044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971F380-7DD6-8D63-DD90-764BB26C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558C4-1179-F7A0-2693-9C294EE4B16A}"/>
              </a:ext>
            </a:extLst>
          </p:cNvPr>
          <p:cNvSpPr txBox="1"/>
          <p:nvPr/>
        </p:nvSpPr>
        <p:spPr>
          <a:xfrm>
            <a:off x="670559" y="6489560"/>
            <a:ext cx="1085088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NC: Non-cirrhosis; CC: Compensated Cirrhosis; DC: Decompensated Cirrhosis; HCC: Hepatocellular Carcinoma; SVR12: Sustained virological response after 12 weeks; 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9225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3C2A39-56D5-F632-9A98-DB4BFA62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B581FE-8806-0B97-08BF-C57CCD5CE22A}"/>
              </a:ext>
            </a:extLst>
          </p:cNvPr>
          <p:cNvGrpSpPr/>
          <p:nvPr/>
        </p:nvGrpSpPr>
        <p:grpSpPr>
          <a:xfrm>
            <a:off x="2462784" y="427037"/>
            <a:ext cx="7772400" cy="6477000"/>
            <a:chOff x="2462784" y="1139952"/>
            <a:chExt cx="7772400" cy="6477000"/>
          </a:xfrm>
        </p:grpSpPr>
        <p:pic>
          <p:nvPicPr>
            <p:cNvPr id="5" name="Picture 4" descr="A green and orange rectangular boxes with numbers&#10;&#10;AI-generated content may be incorrect.">
              <a:extLst>
                <a:ext uri="{FF2B5EF4-FFF2-40B4-BE49-F238E27FC236}">
                  <a16:creationId xmlns:a16="http://schemas.microsoft.com/office/drawing/2014/main" id="{AB5D684A-38BA-EEEC-90E3-0F64E6BA1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2784" y="1139952"/>
              <a:ext cx="7772400" cy="6477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FE8B18-0B3D-CEAD-6814-F35B4E51EB65}"/>
                </a:ext>
              </a:extLst>
            </p:cNvPr>
            <p:cNvSpPr/>
            <p:nvPr/>
          </p:nvSpPr>
          <p:spPr>
            <a:xfrm>
              <a:off x="3121335" y="1189408"/>
              <a:ext cx="3726352" cy="2337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9A3033A-010D-6E0B-F932-A45C9238479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09D75-90A8-DA3F-7E6A-CE8CC8C8BA45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2030 WHO HCV elimination target attainment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83909C-86F2-8B45-7921-8FFB6EEC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98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B86D17-D056-7E97-4245-09B410AE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B3D4E4-E727-D71B-687F-CAFFFAC560C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E4DCF-8E69-CDDD-E895-22108A38976E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2026-2030 J/F/X cost components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716DB2-177F-E3BA-46F8-ECE20005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72F655-2098-F971-0D21-08E6D2C6A50C}"/>
              </a:ext>
            </a:extLst>
          </p:cNvPr>
          <p:cNvGrpSpPr/>
          <p:nvPr/>
        </p:nvGrpSpPr>
        <p:grpSpPr>
          <a:xfrm>
            <a:off x="1807464" y="1139952"/>
            <a:ext cx="8577072" cy="5718048"/>
            <a:chOff x="1731264" y="1139952"/>
            <a:chExt cx="7772400" cy="5181600"/>
          </a:xfrm>
        </p:grpSpPr>
        <p:pic>
          <p:nvPicPr>
            <p:cNvPr id="6" name="Picture 5" descr="A group of blue and green bars&#10;&#10;AI-generated content may be incorrect.">
              <a:extLst>
                <a:ext uri="{FF2B5EF4-FFF2-40B4-BE49-F238E27FC236}">
                  <a16:creationId xmlns:a16="http://schemas.microsoft.com/office/drawing/2014/main" id="{25CE5C27-4DAA-9A66-BC3C-0BE8282BD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1264" y="1139952"/>
              <a:ext cx="7772400" cy="51816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9F3520-D9AA-A74A-25C2-E3B70A759162}"/>
                </a:ext>
              </a:extLst>
            </p:cNvPr>
            <p:cNvSpPr/>
            <p:nvPr/>
          </p:nvSpPr>
          <p:spPr>
            <a:xfrm>
              <a:off x="1911302" y="1139952"/>
              <a:ext cx="1491916" cy="193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4782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BA8E3E-8675-50B4-16C7-9FC695B7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A41DFB-E45C-C56C-3802-694C47B611C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7CAD9-1B0A-37FD-A769-8158B9F04F42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2026-2030 discounted cost composition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7BB008-CDC6-7F02-DD3D-C8DA560A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CA44E-DE8C-466C-9F2B-5F08E8209580}"/>
              </a:ext>
            </a:extLst>
          </p:cNvPr>
          <p:cNvGrpSpPr/>
          <p:nvPr/>
        </p:nvGrpSpPr>
        <p:grpSpPr>
          <a:xfrm>
            <a:off x="0" y="1319426"/>
            <a:ext cx="12192000" cy="3530599"/>
            <a:chOff x="0" y="1649434"/>
            <a:chExt cx="12192000" cy="3530599"/>
          </a:xfrm>
        </p:grpSpPr>
        <p:pic>
          <p:nvPicPr>
            <p:cNvPr id="5" name="Picture 4" descr="A diagram of a pie chart&#10;&#10;AI-generated content may be incorrect.">
              <a:extLst>
                <a:ext uri="{FF2B5EF4-FFF2-40B4-BE49-F238E27FC236}">
                  <a16:creationId xmlns:a16="http://schemas.microsoft.com/office/drawing/2014/main" id="{9C61FEE9-8F95-30CE-7B23-F97B76877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649434"/>
              <a:ext cx="12192000" cy="353059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D65F49-54F5-414A-7018-607537E587BD}"/>
                </a:ext>
              </a:extLst>
            </p:cNvPr>
            <p:cNvSpPr/>
            <p:nvPr/>
          </p:nvSpPr>
          <p:spPr>
            <a:xfrm>
              <a:off x="0" y="1835675"/>
              <a:ext cx="3630099" cy="4400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901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095DAE-FBF8-0470-6FAA-C6D048FE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1A6F13-CD76-4031-6967-34AD0A708A5C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118FC3-387F-38D9-867A-C09067CA2CDE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2026-2030 cumulative F/X treatment starts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3986F96-F6E1-62A9-A819-AE6E4824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387E5D-61F4-7924-FEAD-B004E57B6BD0}"/>
              </a:ext>
            </a:extLst>
          </p:cNvPr>
          <p:cNvGrpSpPr/>
          <p:nvPr/>
        </p:nvGrpSpPr>
        <p:grpSpPr>
          <a:xfrm>
            <a:off x="940342" y="1139952"/>
            <a:ext cx="10311315" cy="5728507"/>
            <a:chOff x="940342" y="1139952"/>
            <a:chExt cx="10311315" cy="5728507"/>
          </a:xfrm>
        </p:grpSpPr>
        <p:pic>
          <p:nvPicPr>
            <p:cNvPr id="6" name="Picture 5" descr="A graph of a graph&#10;&#10;AI-generated content may be incorrect.">
              <a:extLst>
                <a:ext uri="{FF2B5EF4-FFF2-40B4-BE49-F238E27FC236}">
                  <a16:creationId xmlns:a16="http://schemas.microsoft.com/office/drawing/2014/main" id="{20743F58-AA4E-96F6-49A2-4E14EC4E7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342" y="1139952"/>
              <a:ext cx="10311315" cy="572850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A130EB-8C43-B62C-BFAB-C998927570FF}"/>
                </a:ext>
              </a:extLst>
            </p:cNvPr>
            <p:cNvSpPr/>
            <p:nvPr/>
          </p:nvSpPr>
          <p:spPr>
            <a:xfrm>
              <a:off x="1216908" y="1139952"/>
              <a:ext cx="2069432" cy="1319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368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3184</Words>
  <Application>Microsoft Macintosh PowerPoint</Application>
  <PresentationFormat>Widescreen</PresentationFormat>
  <Paragraphs>405</Paragraphs>
  <Slides>33</Slides>
  <Notes>23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Yichen</dc:creator>
  <cp:lastModifiedBy>He Yichen</cp:lastModifiedBy>
  <cp:revision>428</cp:revision>
  <dcterms:created xsi:type="dcterms:W3CDTF">2026-09-03T06:40:29Z</dcterms:created>
  <dcterms:modified xsi:type="dcterms:W3CDTF">2026-10-02T04:15:11Z</dcterms:modified>
</cp:coreProperties>
</file>