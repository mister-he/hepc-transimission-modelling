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341" r:id="rId3"/>
    <p:sldId id="342" r:id="rId4"/>
    <p:sldId id="276" r:id="rId5"/>
    <p:sldId id="324" r:id="rId6"/>
    <p:sldId id="277" r:id="rId7"/>
    <p:sldId id="325" r:id="rId8"/>
    <p:sldId id="326" r:id="rId9"/>
    <p:sldId id="330" r:id="rId10"/>
    <p:sldId id="278" r:id="rId11"/>
    <p:sldId id="281" r:id="rId12"/>
    <p:sldId id="338" r:id="rId13"/>
    <p:sldId id="327" r:id="rId14"/>
    <p:sldId id="350" r:id="rId15"/>
    <p:sldId id="345" r:id="rId16"/>
    <p:sldId id="347" r:id="rId17"/>
    <p:sldId id="348" r:id="rId18"/>
    <p:sldId id="339" r:id="rId19"/>
    <p:sldId id="336" r:id="rId20"/>
    <p:sldId id="297" r:id="rId21"/>
    <p:sldId id="333" r:id="rId2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2"/>
    <p:restoredTop sz="92534"/>
  </p:normalViewPr>
  <p:slideViewPr>
    <p:cSldViewPr snapToGrid="0">
      <p:cViewPr>
        <p:scale>
          <a:sx n="106" d="100"/>
          <a:sy n="106" d="100"/>
        </p:scale>
        <p:origin x="1112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81" d="100"/>
          <a:sy n="181" d="100"/>
        </p:scale>
        <p:origin x="634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B88B0-02C0-9249-A501-F5BB6FD2743E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0AD7C-F7FF-D743-9C7F-927D07A9A7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389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1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66AA-D169-7C0A-4BFE-DCE5B309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B5315-88C5-279C-C736-1CC7D666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B997-10C3-0B9E-0B2A-8F687EBC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5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36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319C-A04C-BF04-4F75-37CA00F3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AF3B0-A821-3122-FA16-24DF649FD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E093-A553-15A0-E608-0B46C364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9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6F56-038E-ABAB-47B2-23B0D486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59F7-09B8-BAB3-AA7E-FA8CBC670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03CDE-C7F7-A327-6BE4-5D454242B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42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2970-3B9A-2A36-E897-158C778C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6A0E7-11C5-B732-E413-3C059BD5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1D7F1-3CAF-E77C-1BAF-684789ED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4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AFE5-D5C2-BD6A-5600-3E912947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47C6E-266E-2843-89F3-B39D75600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EB7F-E303-762C-2829-3A051747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ever-PWID -&gt; not/currently incarcerated</a:t>
            </a:r>
          </a:p>
        </p:txBody>
      </p:sp>
    </p:spTree>
    <p:extLst>
      <p:ext uri="{BB962C8B-B14F-4D97-AF65-F5344CB8AC3E}">
        <p14:creationId xmlns:p14="http://schemas.microsoft.com/office/powerpoint/2010/main" val="1020411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6011-76E9-10DC-32E0-7003B53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BE48E-78F7-9ABB-6E99-1138BAB7F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8911B-841A-37B2-88BC-C94D84EDC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25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Community: screening is a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8842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0746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symptomatic (3rd row)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8059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41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CF51-651E-0621-E537-C502AC317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AD968-4675-E598-5F75-1BCC19A8E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5732-1426-51CD-368D-78417307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601D-2ACA-FEBA-0BFF-9317A86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B26C-D02A-2863-0BA6-084BAE49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67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BBFE-47BE-3C25-A773-A3CBC1EA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A263-5488-7077-D24B-E4F54FA7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E6F9-9510-CFD3-D75B-FF041934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886FE-BAF3-2738-8EA2-C4E327F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EE05-E249-B9E6-7727-1DB8C6EC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356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906C-4CC3-8C0C-EA05-AB1968B0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08894-FE0E-94E4-29F8-33B097DD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D80E-2776-777E-C45C-E7E571B4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60989-66C9-35B8-614E-DC07017D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95FE-4547-57F0-7228-2AD898B6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788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AB8F-9B55-D3D0-22ED-2D59015C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1541-7D83-6B17-C935-BC81FD32E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2AE0-A2A0-F5F8-57AB-C6122F47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80D6C-77F4-87E4-1527-B5FF82F4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6F680-4FC6-020B-CC2A-B7CDC6C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5526E-4600-21E9-08AD-108561DA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98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1EEC-E097-EF53-2900-1706DBB0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2242F-6B18-CE7C-2755-D6F0CEBA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9CA16-4D3D-3A47-7E26-E1E18CB2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DF520-AA16-41E4-1CD6-611DBF4AB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9C53F-B0A5-B4F9-324F-031F2172B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02A22-4656-BEC9-8247-00D58C72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DA6EA-4EEF-7694-796D-E43C810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C53B-2BF0-8856-25F2-9C0E38A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93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CA7-1963-2AA7-A605-7854BA43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F8C7A-613B-7A78-C066-EE4082E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0E58-77A6-ECBA-75FE-E948F629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16527-DA58-C10F-5EC9-FF2E1694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376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1AB0F-0496-B46B-49E2-C17284DA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0F672-E0B9-9D23-3E5B-8407033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0B256-59D6-66C0-1262-AB30DCB9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809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CB02-F986-ED37-B571-87DD2E4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E446-D1CC-AF7C-191C-F8CBEE05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0B107-074D-BC97-CD44-8E22C2ED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36F17-497F-B0AC-5301-5E0BFE98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C5F53-133B-9BFA-78E5-DABECF71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5C658-107F-F23F-CBAF-59C2357E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599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413-3B04-8A65-869E-4006002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17B9F-1F44-A4E4-73F5-4AAEB4B57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C70A-558B-E43D-EB5A-7F4F22D2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DAE0-0386-D4FE-EBDE-D241CC1E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502D2-4349-3DA9-292B-DEAF4107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BEB99-10C3-175A-1DCB-C517D8CD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300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6430-356D-4E18-DCEC-D7C5A72B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B562-CD8E-7573-97A9-09DB1805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313F-9DB5-27B0-CABA-1D214E95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BE4B-32D7-5440-A962-63CD6056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2B98-F6D6-FBD7-6188-CA50F67C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171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E9491-A9F6-C27A-2117-F31D0C4F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141EC-4750-393D-519A-A15383798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2A02-DD9F-20D3-9C9B-5C87C636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538B-AB9D-5AAB-B67C-8847B833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C808-7006-6779-3CD2-826FEEBD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49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5F21B-070D-5136-BC24-6A0BCCC2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66EC8-5770-94D3-24CB-A0EBF515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6C53-3FA6-24B0-D68F-83E2674DC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B3E9-A992-174E-BDC5-AAC3B1511159}" type="datetimeFigureOut">
              <a:rPr lang="en-CN" smtClean="0"/>
              <a:t>2026/9/11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F2F42-0315-7016-AF39-881C4CFD6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5437-FAC8-D0C7-770C-8F7860DC5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3664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E4E5C0-319E-C041-8D20-722C462F4447}" type="slidenum">
              <a:rPr lang="en-CN" smtClean="0"/>
              <a:pPr/>
              <a:t>‹#›</a:t>
            </a:fld>
            <a:endParaRPr lang="en-CN" b="1" dirty="0"/>
          </a:p>
        </p:txBody>
      </p:sp>
    </p:spTree>
    <p:extLst>
      <p:ext uri="{BB962C8B-B14F-4D97-AF65-F5344CB8AC3E}">
        <p14:creationId xmlns:p14="http://schemas.microsoft.com/office/powerpoint/2010/main" val="340688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499359"/>
            <a:ext cx="1072896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Hepatitis C Transmission and Progression Among People Who Have Injected Drugs in Singapore: Modelling Treatment for Elimination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77B23-E9B0-87FC-5B69-8A07D970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51B3-D5BD-30F9-410D-3AB0E01F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99D6C-2AA2-AF8C-D496-C70A4724D3E7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Background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B2CDE8-FC7F-6355-C7C0-4D56AE99327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A1D9EC-98B3-D2C7-55A9-CAA6DB21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072C1-2BC7-D17B-5D96-9DF54E0F91EE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Winslow et al. 2007; Hsiang et al. 2022; Wong et al. 2021; Singapore Prison Service.   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06A72-F308-AF35-628F-034076DA968E}"/>
              </a:ext>
            </a:extLst>
          </p:cNvPr>
          <p:cNvSpPr txBox="1"/>
          <p:nvPr/>
        </p:nvSpPr>
        <p:spPr>
          <a:xfrm>
            <a:off x="633985" y="1139952"/>
            <a:ext cx="10948394" cy="5257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Hepatitis C Virus (HCV) burden is highly concentrated among people who inject drugs (PWID)</a:t>
            </a:r>
          </a:p>
          <a:p>
            <a:pPr marL="914377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studies report about 42.5% (36-47%) anti-HCV seroprevalence among PWIDs.*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Effective treatment exists, but linkage to care remains a major barrier.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Among HCV-positive halfway-house residents, only 48.6% reached confirmatory RNA testing and 12.6% initiated treatment.*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Incarceration provides a high-yield treatment opportunity.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Unrestricted DAA access increased treatment uptake by 460%, with 99% completion and 99.1% sustained virological response (SVR) among incarcerated HCV patients.*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Repeated prison-community transitions make intervention timing important. 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 recorded 1,152 Drug Rehabilitation Centre (DRC) admissions and 1,241 releases in 2017. And the 2017 DRC release cohort had 45.2% five-year recidivism.*</a:t>
            </a:r>
          </a:p>
        </p:txBody>
      </p:sp>
    </p:spTree>
    <p:extLst>
      <p:ext uri="{BB962C8B-B14F-4D97-AF65-F5344CB8AC3E}">
        <p14:creationId xmlns:p14="http://schemas.microsoft.com/office/powerpoint/2010/main" val="88566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2A2A-B76C-01FD-81AF-DC0016DF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E0CE-0F0B-8B1F-60C5-827AC624A959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Research gap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1FFF1-5FCE-73E4-CC1C-D0C5ED91737A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E3595B-9E35-F4C0-143F-833DADF8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16173-0A42-80AC-48DA-56D8076D5E02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Pawltosky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Hernandez-Con et al. 2023; Goodyear et al. 2021;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04D6A-F357-3826-BA6A-E3090D022744}"/>
              </a:ext>
            </a:extLst>
          </p:cNvPr>
          <p:cNvSpPr txBox="1"/>
          <p:nvPr/>
        </p:nvSpPr>
        <p:spPr>
          <a:xfrm>
            <a:off x="633985" y="1263025"/>
            <a:ext cx="10948394" cy="4363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International HCV models may not capture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Singapore-specific incarceration and reinjection dynamics.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Existing Singapore modelling has not explicitly represented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age-specific prison–community transitions when designing treatment strategies</a:t>
            </a: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Despite highly effective DAAs, it remains unclear who should be treated, where, and at what coverage to achieve sustained HCV elimination. </a:t>
            </a:r>
          </a:p>
        </p:txBody>
      </p:sp>
    </p:spTree>
    <p:extLst>
      <p:ext uri="{BB962C8B-B14F-4D97-AF65-F5344CB8AC3E}">
        <p14:creationId xmlns:p14="http://schemas.microsoft.com/office/powerpoint/2010/main" val="165845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402081"/>
            <a:ext cx="10850880" cy="451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d</a:t>
            </a:r>
            <a:r>
              <a:rPr sz="2400" dirty="0">
                <a:solidFill>
                  <a:srgbClr val="1A1A1A"/>
                </a:solidFill>
                <a:latin typeface="Arial"/>
              </a:rPr>
              <a:t>evelop a dynamic compartmental model capturing incarceration cycles, HCV transmission, and liver disease progression among PWIDs in Singapore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s</a:t>
            </a:r>
            <a:r>
              <a:rPr sz="2400" dirty="0">
                <a:solidFill>
                  <a:srgbClr val="1A1A1A"/>
                </a:solidFill>
                <a:latin typeface="Arial"/>
              </a:rPr>
              <a:t>imulate treatment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coverage</a:t>
            </a:r>
            <a:r>
              <a:rPr sz="2400" dirty="0">
                <a:solidFill>
                  <a:srgbClr val="1A1A1A"/>
                </a:solidFill>
                <a:latin typeface="Arial"/>
              </a:rPr>
              <a:t> and disease progression under alternative DAA scale</a:t>
            </a:r>
            <a:r>
              <a:rPr lang="en-CN" sz="2400" dirty="0">
                <a:solidFill>
                  <a:srgbClr val="1A1A1A"/>
                </a:solidFill>
                <a:latin typeface="Arial"/>
              </a:rPr>
              <a:t>–</a:t>
            </a:r>
            <a:r>
              <a:rPr sz="2400" dirty="0">
                <a:solidFill>
                  <a:srgbClr val="1A1A1A"/>
                </a:solidFill>
                <a:latin typeface="Arial"/>
              </a:rPr>
              <a:t>up strategies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  <a:endParaRPr sz="2400" dirty="0">
              <a:solidFill>
                <a:srgbClr val="1A1A1A"/>
              </a:solidFill>
              <a:latin typeface="Arial"/>
            </a:endParaRPr>
          </a:p>
          <a:p>
            <a:pPr marL="548626" indent="-243834">
              <a:lnSpc>
                <a:spcPct val="105000"/>
              </a:lnSpc>
              <a:spcAft>
                <a:spcPts val="1067"/>
              </a:spcAft>
              <a:buChar char="–"/>
            </a:pPr>
            <a:r>
              <a:rPr sz="2133" dirty="0">
                <a:solidFill>
                  <a:srgbClr val="1A1A1A"/>
                </a:solidFill>
                <a:latin typeface="Arial"/>
              </a:rPr>
              <a:t>Prioriti</a:t>
            </a:r>
            <a:r>
              <a:rPr lang="en-US" sz="2133" dirty="0">
                <a:solidFill>
                  <a:srgbClr val="1A1A1A"/>
                </a:solidFill>
                <a:latin typeface="Arial"/>
              </a:rPr>
              <a:t>z</a:t>
            </a:r>
            <a:r>
              <a:rPr sz="2133" dirty="0">
                <a:solidFill>
                  <a:srgbClr val="1A1A1A"/>
                </a:solidFill>
                <a:latin typeface="Arial"/>
              </a:rPr>
              <a:t>ing individuals by incarceration status, disease eligibility, and age group</a:t>
            </a:r>
            <a:r>
              <a:rPr lang="en-US" sz="2133" dirty="0">
                <a:solidFill>
                  <a:srgbClr val="1A1A1A"/>
                </a:solidFill>
                <a:latin typeface="Arial"/>
              </a:rPr>
              <a:t>.</a:t>
            </a:r>
            <a:endParaRPr sz="2133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e</a:t>
            </a:r>
            <a:r>
              <a:rPr sz="2400" dirty="0">
                <a:solidFill>
                  <a:srgbClr val="1A1A1A"/>
                </a:solidFill>
                <a:latin typeface="Arial"/>
              </a:rPr>
              <a:t>stimate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relative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reductions in HCV incidence and advanced liver disease burden (especially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HCC</a:t>
            </a:r>
            <a:r>
              <a:rPr sz="2400" dirty="0">
                <a:solidFill>
                  <a:srgbClr val="1A1A1A"/>
                </a:solidFill>
                <a:latin typeface="Arial"/>
              </a:rPr>
              <a:t>)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attributable to prioritized DAA treatment strategies,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relative to status quo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AB1B0-CF43-91BF-6723-C9294842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F0417-FE5E-E5D1-59A7-06A321312AD0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drugs; DAA: direct acting antiviral; HCC: hepatocellular carcinoma;</a:t>
            </a: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A5F7-0B0F-6DE0-0EC9-9A30409F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6E560-9A57-8948-969F-08FBA0D6BC0B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Compartmental model schematic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4C597-1D10-DF52-53A3-6C3239045CDB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8DE2FC64-ADD5-85FC-9640-54B1AB3E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9E466-D7ED-662D-D52A-3B45B07C68E3}"/>
              </a:ext>
            </a:extLst>
          </p:cNvPr>
          <p:cNvSpPr txBox="1"/>
          <p:nvPr/>
        </p:nvSpPr>
        <p:spPr>
          <a:xfrm>
            <a:off x="609600" y="4915282"/>
            <a:ext cx="10850880" cy="1609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Deterministic, discrete–time transmission model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with a daily time step.</a:t>
            </a:r>
            <a:endParaRPr lang="en-US" sz="1867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Six age groups (&lt;20 to 60+), with age progression explicitly modelled.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Age–specific mortality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adjusted by risk ratios for PWIDs</a:t>
            </a:r>
            <a:r>
              <a:rPr lang="en-US" sz="1867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relative to the general population.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Temporal parameters omit for simplicity.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2FDF1-701A-EA55-53AC-0FC92CE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516A-E86E-2E57-8AEE-AB041992777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Mathers et al. 2013;</a:t>
            </a:r>
          </a:p>
        </p:txBody>
      </p:sp>
    </p:spTree>
    <p:extLst>
      <p:ext uri="{BB962C8B-B14F-4D97-AF65-F5344CB8AC3E}">
        <p14:creationId xmlns:p14="http://schemas.microsoft.com/office/powerpoint/2010/main" val="276848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Incarceration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CCEBAB6D-0209-CB98-A1AD-A8704C90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00852-2199-200D-4AB7-09F9F3D9AF95}"/>
              </a:ext>
            </a:extLst>
          </p:cNvPr>
          <p:cNvSpPr txBox="1"/>
          <p:nvPr/>
        </p:nvSpPr>
        <p:spPr>
          <a:xfrm>
            <a:off x="609600" y="4915282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All individuals enter the model as uninfected, non–cirrhotic, and never–incarcerated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Only individuals in D and F are assumed susceptible to HCV infection through needle sharing.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After release, individuals either resume injection (F), or permanently cease (X), determined by an age–invariant recidivism probability estimated from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Singapore Changi prison HCV screening data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D443C-F227-07DD-3CB0-787B14294799}"/>
              </a:ext>
            </a:extLst>
          </p:cNvPr>
          <p:cNvSpPr/>
          <p:nvPr/>
        </p:nvSpPr>
        <p:spPr>
          <a:xfrm>
            <a:off x="2034192" y="1139952"/>
            <a:ext cx="4671408" cy="2221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C16843-A108-5645-4B10-4E7A3F51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A6EA4-6715-9070-76E5-4468218097B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C0F7-3E5E-9628-DC39-6AFCB248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ig4.png">
            <a:extLst>
              <a:ext uri="{FF2B5EF4-FFF2-40B4-BE49-F238E27FC236}">
                <a16:creationId xmlns:a16="http://schemas.microsoft.com/office/drawing/2014/main" id="{E74AA227-F1D8-7CDC-8A08-F1C9A4DC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12B99-4FB3-D6F7-E3EB-1E65190D077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 transmission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FFC39-E603-7CA3-E2ED-D0F6488C5F1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B0D7-C437-D5D2-E685-64BCCE4F1257}"/>
              </a:ext>
            </a:extLst>
          </p:cNvPr>
          <p:cNvSpPr txBox="1"/>
          <p:nvPr/>
        </p:nvSpPr>
        <p:spPr>
          <a:xfrm>
            <a:off x="609600" y="4915281"/>
            <a:ext cx="10972800" cy="1510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solidFill>
                  <a:srgbClr val="1A1A1A"/>
                </a:solidFill>
                <a:latin typeface="Arial"/>
              </a:rPr>
              <a:t>For newly infected individuals in acute stage (A), they will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Either clear infection spontaneously within six months (back to U), or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 to chronic infection (C), followed by sequential progression through later stages of liver disease.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39C6D-27CD-A7C5-B4E4-1529CEFAAC88}"/>
              </a:ext>
            </a:extLst>
          </p:cNvPr>
          <p:cNvSpPr/>
          <p:nvPr/>
        </p:nvSpPr>
        <p:spPr>
          <a:xfrm>
            <a:off x="6737482" y="1139952"/>
            <a:ext cx="3287297" cy="228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C1F4FA-D00C-17F2-6C7D-9A2D6317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B99-94EE-5B6C-3282-05932041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8BB17F-4FF0-220D-1D82-78F7ED7E1E6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Liver disease progression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FF380-0737-FFE5-ED8B-64F790662FD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FB5766CB-8332-ACFC-ECF9-7CAF6000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C182E5-C9DC-9D3C-29C9-8E1DF956A260}"/>
              </a:ext>
            </a:extLst>
          </p:cNvPr>
          <p:cNvSpPr/>
          <p:nvPr/>
        </p:nvSpPr>
        <p:spPr>
          <a:xfrm>
            <a:off x="2115630" y="3512841"/>
            <a:ext cx="8142796" cy="1335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F09BA-4C82-6DE1-7587-5A56325E8E4B}"/>
              </a:ext>
            </a:extLst>
          </p:cNvPr>
          <p:cNvSpPr txBox="1"/>
          <p:nvPr/>
        </p:nvSpPr>
        <p:spPr>
          <a:xfrm>
            <a:off x="609600" y="4915281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Direct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progression from compensated cirrhosis to HCC is allowed.*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Progression rates are literature–based and adjusted for Singapore’ high genotype 3 prevalence (~78%).*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HCV–related liver transplantation is excluded due to its rarity in Singapore.*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0DC4D9-B713-2521-D3FA-3794A664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41C97-FC51-39DF-ADBE-4CCEF85C00DE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dirty="0">
                <a:solidFill>
                  <a:srgbClr val="595959"/>
                </a:solidFill>
                <a:latin typeface="Arial"/>
              </a:rPr>
              <a:t>*Zhao et al. 2019;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</p:txBody>
      </p:sp>
    </p:spTree>
    <p:extLst>
      <p:ext uri="{BB962C8B-B14F-4D97-AF65-F5344CB8AC3E}">
        <p14:creationId xmlns:p14="http://schemas.microsoft.com/office/powerpoint/2010/main" val="25804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4AA7-C56E-42BA-82B4-CDF8E2AF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AE40C-B155-847B-7F91-30FF6A2D86E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Some fixed parameters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E850B-27D6-88DA-594F-EE39954DDDB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Background mortality rate for age group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u="none" strike="noStrike" cap="none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oMath>
                          </a14:m>
                          <a:endParaRPr lang="en-US"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92308" r="-95622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2FFC0B-C813-AC8B-11E2-57EF5012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8DCEA-C243-EA68-7B8E-D36DBB652B59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Direct–acting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16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Recidivism and release survival curve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33983" y="4988489"/>
            <a:ext cx="9748267" cy="1326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Estimated from a</a:t>
            </a:r>
            <a:r>
              <a:rPr sz="1867" dirty="0">
                <a:solidFill>
                  <a:srgbClr val="1A1A1A"/>
                </a:solidFill>
                <a:latin typeface="Arial"/>
              </a:rPr>
              <a:t>rrest and release records spanning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Jan 2007 </a:t>
            </a:r>
            <a:r>
              <a:rPr sz="1867" dirty="0">
                <a:solidFill>
                  <a:srgbClr val="1A1A1A"/>
                </a:solidFill>
                <a:latin typeface="Arial"/>
              </a:rPr>
              <a:t>–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Dec</a:t>
            </a:r>
            <a:r>
              <a:rPr sz="1867" dirty="0">
                <a:solidFill>
                  <a:srgbClr val="1A1A1A"/>
                </a:solidFill>
                <a:latin typeface="Arial"/>
              </a:rPr>
              <a:t> 2017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 Singapore prison data.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Recidivism risk after release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peaks at ages 40–49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, while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PWIDs under 20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had the longest community intervals before re–arrest.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9635A8-07C0-0BFE-00CB-CA89FDD4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EC729-9C00-BC05-4E0A-6C37F828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94" y="1164627"/>
            <a:ext cx="8287011" cy="3798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calibration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42CF6-3AAA-99E9-39B0-518CD8E4F25E}"/>
              </a:ext>
            </a:extLst>
          </p:cNvPr>
          <p:cNvSpPr txBox="1"/>
          <p:nvPr/>
        </p:nvSpPr>
        <p:spPr>
          <a:xfrm>
            <a:off x="6096000" y="3094189"/>
            <a:ext cx="4910269" cy="118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Transmission parameters are currently being calibrated so that model–predicted HCV prevalence among PWIDs in prison aligns with observed values.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E3C242-CEDB-C249-E2FA-77B77C07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3FC52-EADF-4C2C-52C3-8F7E5F3A7FDF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B103F-EC10-BB54-AA85-264E48475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" y="1139951"/>
            <a:ext cx="5198225" cy="57180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B4DA-BE3B-4501-408D-E31C19D1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C3CB6-BD50-E3C2-A385-151661403C53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predictions at 2017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CFD7D-9D82-844E-5035-211F3726F9F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F19596F9-37FB-28DE-F113-A175C6A48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508504"/>
              </p:ext>
            </p:extLst>
          </p:nvPr>
        </p:nvGraphicFramePr>
        <p:xfrm>
          <a:off x="682750" y="1212205"/>
          <a:ext cx="10753994" cy="341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1924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Stratum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population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(95%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HCV cases (95% 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Never–incarcerated PWID (D)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3,734 (3,436–4,069)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975 (869–1,090)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Incarcerated ex–PWID (J)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6,618 (6,101–7,290)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(2,118–2,617)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PWID (F)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2,954 (2,715–3,264)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1,366 (1,247–1,506)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ex–PWID (X)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26,243 (23,717–29,624)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6,342 (5,741–7,100)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PWID (D + 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6,688 (6,151–7,333)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(2,116–2,596)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122847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(D + J + F + 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39,561 (36,140–44,078)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11,065 (10,006––12,285)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623340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73100D-9D2A-5BC0-2E1A-DE237421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0D744-37AE-4A68-DF37-07EA74BB0634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AD3B7-9D75-214B-44B5-7EF380A161F7}"/>
              </a:ext>
            </a:extLst>
          </p:cNvPr>
          <p:cNvSpPr txBox="1"/>
          <p:nvPr/>
        </p:nvSpPr>
        <p:spPr>
          <a:xfrm>
            <a:off x="682750" y="4901968"/>
            <a:ext cx="10753994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About 39,600 ever-PWIDs were estimated in 2017, including around 6,700 current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About 11,100 active HCV infections were estimated among ever-PWIDs (28% prevalence), while the prevalence is higher among current PWIDs (35.0%).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Formerly incarcerated ex-PWIDs accounted for roughly 57% of all HCV infections. </a:t>
            </a:r>
          </a:p>
        </p:txBody>
      </p:sp>
    </p:spTree>
    <p:extLst>
      <p:ext uri="{BB962C8B-B14F-4D97-AF65-F5344CB8AC3E}">
        <p14:creationId xmlns:p14="http://schemas.microsoft.com/office/powerpoint/2010/main" val="162928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90F-234A-CECF-F0AD-3706BC42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664DF-B77F-E519-111D-5E54E016AD1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C0A86-8BD7-7124-CAB1-5B353D47FDA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D832D-4B1C-CDF4-F8AD-093C28B0D6B8}"/>
              </a:ext>
            </a:extLst>
          </p:cNvPr>
          <p:cNvSpPr txBox="1"/>
          <p:nvPr/>
        </p:nvSpPr>
        <p:spPr>
          <a:xfrm>
            <a:off x="633984" y="3526933"/>
            <a:ext cx="10850880" cy="279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lasts 12 weeks, with no immunity assumed</a:t>
            </a:r>
            <a:r>
              <a:rPr lang="zh-CN" alt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recovery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Successful treatment leads to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virological response after 12 weeks (SVR12)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After achieving SVR12: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Progression is assumed to stop in non–cirrhotic PWIDs and slows in cirrhotic PWIDs until reinfection.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Survival improves for DC and HCC stages.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SVR12 rates vary by disease stage and treatment regimen based on clinical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78223-DD87-1033-EAAB-FDBECF8A32E7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 DC: decompensated cirrhosis; HCC: hepatocellular carcinoma;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An et al. 2022;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Pawlotsky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Morgan et al. 2013;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9231BE-56BE-E0F7-5424-38507523CE92}"/>
              </a:ext>
            </a:extLst>
          </p:cNvPr>
          <p:cNvGrpSpPr/>
          <p:nvPr/>
        </p:nvGrpSpPr>
        <p:grpSpPr>
          <a:xfrm>
            <a:off x="4354990" y="870192"/>
            <a:ext cx="3408869" cy="2460877"/>
            <a:chOff x="5671079" y="854964"/>
            <a:chExt cx="2556652" cy="18456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9CAA0B-9494-7F9C-D31B-F25D4935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6431" y="906460"/>
              <a:ext cx="2501300" cy="176972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00E89A-A602-8D40-DE34-E93DD9CF433B}"/>
                </a:ext>
              </a:extLst>
            </p:cNvPr>
            <p:cNvSpPr/>
            <p:nvPr/>
          </p:nvSpPr>
          <p:spPr>
            <a:xfrm>
              <a:off x="5671079" y="854964"/>
              <a:ext cx="2556652" cy="184565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400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A17F5BE-5212-2038-CB2A-6F7DD8CB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58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8D1-6391-4212-96CF-73DF38DF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12D51-7669-0F34-625E-9A49FC73180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Future t</a:t>
            </a:r>
            <a:r>
              <a:rPr sz="2800" b="1" dirty="0">
                <a:solidFill>
                  <a:srgbClr val="05455E"/>
                </a:solidFill>
                <a:latin typeface="Arial"/>
              </a:rPr>
              <a:t>reatment </a:t>
            </a:r>
            <a:r>
              <a:rPr lang="en-US" sz="2800" b="1" dirty="0">
                <a:solidFill>
                  <a:srgbClr val="05455E"/>
                </a:solidFill>
                <a:latin typeface="Arial"/>
              </a:rPr>
              <a:t>scenarios</a:t>
            </a:r>
            <a:r>
              <a:rPr lang="zh-CN" altLang="en-US" sz="2800" b="1" dirty="0">
                <a:solidFill>
                  <a:srgbClr val="05455E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05455E"/>
                </a:solidFill>
                <a:latin typeface="Arial"/>
              </a:rPr>
              <a:t>design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81C83-9EAF-16A6-D973-987784171A3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95AD5-217D-C4A9-5190-F9C05E5774F7}"/>
              </a:ext>
            </a:extLst>
          </p:cNvPr>
          <p:cNvSpPr txBox="1"/>
          <p:nvPr/>
        </p:nvSpPr>
        <p:spPr>
          <a:xfrm>
            <a:off x="633984" y="5176855"/>
            <a:ext cx="10850880" cy="665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Outcomes include </a:t>
            </a: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HCV incidence, cumulative infections, DC/HCC incidence, and HCC mortality, compared with no treatment</a:t>
            </a:r>
            <a:r>
              <a:rPr lang="en-US" sz="2133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7" name="Google Shape;334;p46">
            <a:extLst>
              <a:ext uri="{FF2B5EF4-FFF2-40B4-BE49-F238E27FC236}">
                <a16:creationId xmlns:a16="http://schemas.microsoft.com/office/drawing/2014/main" id="{36611379-1CAF-B4F1-1345-F2F9A6B5DD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511194"/>
              </p:ext>
            </p:extLst>
          </p:nvPr>
        </p:nvGraphicFramePr>
        <p:xfrm>
          <a:off x="682751" y="1212205"/>
          <a:ext cx="10826496" cy="2545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(e.g.)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Disease–stage–specific recruitment rates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1%-15% (D/F/X); 10-100% (J)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 setting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prison–, community–, mixed–based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regimen choice for DC/HCC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SOF/VEL+RBV, SOF/VEL*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minimum age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40, 50, 60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B97090-3871-1A85-4E91-25EFE494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77281-7915-7DF4-6BA7-C8F9D3724AE2}"/>
              </a:ext>
            </a:extLst>
          </p:cNvPr>
          <p:cNvSpPr txBox="1"/>
          <p:nvPr/>
        </p:nvSpPr>
        <p:spPr>
          <a:xfrm>
            <a:off x="670559" y="6614251"/>
            <a:ext cx="10850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*SOF: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sofosbuvir; VEL: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; RBV: ribavirin; DC: decompensated cirrhosis; HCC: hepatocellular carcinoma; 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Xiao et al. 2025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69A6-EA42-F7E6-569C-0D6339E28EFF}"/>
              </a:ext>
            </a:extLst>
          </p:cNvPr>
          <p:cNvSpPr txBox="1"/>
          <p:nvPr/>
        </p:nvSpPr>
        <p:spPr>
          <a:xfrm>
            <a:off x="682751" y="3785805"/>
            <a:ext cx="10850880" cy="436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Note: SOF/VEL is considered as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pan-genotypic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DAA treatment regimen according to European Association for the Study of the Liver (EASL) 2020 HCV treatment guideline. 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01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FFE1-78CA-D8E8-A3E4-939092DC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10A99-5F07-ABAF-4CCF-6B2F312B89ED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Age group targeting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BDD17-DC3B-3615-A7ED-1F2E2E1EFBFC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33C7ED-7D38-027F-31C2-CA1DFF38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0AD4A6-13BA-7395-DF7B-B9E696C33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90962"/>
            <a:ext cx="5350794" cy="59670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5A185A-F99F-1786-79BC-1477BAE8F014}"/>
              </a:ext>
            </a:extLst>
          </p:cNvPr>
          <p:cNvSpPr txBox="1"/>
          <p:nvPr/>
        </p:nvSpPr>
        <p:spPr>
          <a:xfrm>
            <a:off x="6761186" y="890962"/>
            <a:ext cx="4031860" cy="219021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40+: Only PWID aged 40+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50+: Only PWID aged 50+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60+: Only PWID aged 60+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(D+F+X)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6CA7A-2411-E55B-CDAC-45DFC051A391}"/>
              </a:ext>
            </a:extLst>
          </p:cNvPr>
          <p:cNvSpPr txBox="1"/>
          <p:nvPr/>
        </p:nvSpPr>
        <p:spPr>
          <a:xfrm>
            <a:off x="6761186" y="3372865"/>
            <a:ext cx="5126014" cy="334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Age ≥40 targeting substantially reduced HCV burden, but did not achieve elimination.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Benefits decreased rapidly with higher age thresholds; age ≥60 targeting had minimal impact.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Higher community treatment coverage produced substantially larger gains than increasing prison coverage alone.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1600" u="sng" dirty="0">
                <a:latin typeface="Arial" panose="020B0604020202020204" pitchFamily="34" charset="0"/>
                <a:cs typeface="Arial" panose="020B0604020202020204" pitchFamily="34" charset="0"/>
              </a:rPr>
              <a:t>Age restriction is a major barrier to elimination.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964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12FF-07D5-F461-484C-E25DE4A3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6BD2AF-362B-4E3E-23AE-2BCCF47F82C1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Treatment regimen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D3559-2BFA-6B17-6D07-7896DA8345A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79429B-1E6F-528B-871C-71E592CB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E7296-6AAF-60B0-AF21-75D43F30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72263"/>
            <a:ext cx="4284960" cy="60863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D04BFC-DB33-7AF5-685F-AA83EC61A965}"/>
              </a:ext>
            </a:extLst>
          </p:cNvPr>
          <p:cNvCxnSpPr/>
          <p:nvPr/>
        </p:nvCxnSpPr>
        <p:spPr>
          <a:xfrm>
            <a:off x="1246187" y="1262915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16224-90E2-FEE7-9D6F-37FB18F54EDE}"/>
              </a:ext>
            </a:extLst>
          </p:cNvPr>
          <p:cNvCxnSpPr/>
          <p:nvPr/>
        </p:nvCxnSpPr>
        <p:spPr>
          <a:xfrm>
            <a:off x="1246187" y="2692492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A49A58-9545-B17E-16C7-4B92EF97DC5D}"/>
              </a:ext>
            </a:extLst>
          </p:cNvPr>
          <p:cNvCxnSpPr/>
          <p:nvPr/>
        </p:nvCxnSpPr>
        <p:spPr>
          <a:xfrm>
            <a:off x="1246187" y="3688372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7EECA2-844C-B9A5-CB8A-24B244B40004}"/>
              </a:ext>
            </a:extLst>
          </p:cNvPr>
          <p:cNvCxnSpPr/>
          <p:nvPr/>
        </p:nvCxnSpPr>
        <p:spPr>
          <a:xfrm>
            <a:off x="1246187" y="4845708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66D87B-0D95-272E-B465-C1ED969AAF3C}"/>
              </a:ext>
            </a:extLst>
          </p:cNvPr>
          <p:cNvCxnSpPr/>
          <p:nvPr/>
        </p:nvCxnSpPr>
        <p:spPr>
          <a:xfrm>
            <a:off x="1246187" y="5962302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70CBD5D-13D8-4ABF-B8CE-B6A63F65D10D}"/>
              </a:ext>
            </a:extLst>
          </p:cNvPr>
          <p:cNvSpPr txBox="1"/>
          <p:nvPr/>
        </p:nvSpPr>
        <p:spPr>
          <a:xfrm>
            <a:off x="6095999" y="872711"/>
            <a:ext cx="5126013" cy="204915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SOF/VEL + RBV: Add ribavirin (RBV) for advanced liver disease stages (DC/HCC)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SOF/VEL: standard pan-genotypic treatment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(D+F+X)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97ADE-9C0E-2CA1-E05A-3FF9BE38F01B}"/>
              </a:ext>
            </a:extLst>
          </p:cNvPr>
          <p:cNvSpPr txBox="1"/>
          <p:nvPr/>
        </p:nvSpPr>
        <p:spPr>
          <a:xfrm>
            <a:off x="6096000" y="3097153"/>
            <a:ext cx="5126014" cy="359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Adding RBV provided only a marginal additional reduction in HCV infections compared with SOF/VEL alone. 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Population-level impact was driven primarily by treatment coverage rather than regimen choice.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Intensifying the regimen alone could not compensate for low treatment coverage.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1600" u="sng" dirty="0">
                <a:latin typeface="Arial" panose="020B0604020202020204" pitchFamily="34" charset="0"/>
                <a:cs typeface="Arial" panose="020B0604020202020204" pitchFamily="34" charset="0"/>
              </a:rPr>
              <a:t>HCV elimination is an access problem more than an efficacy problem.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F6D8-874F-78C1-D34F-543009C7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34B72-367A-32E9-481F-7B728433B186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Liver disease stage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171BA-BBB2-4A07-B379-7F2786268F58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F46C-9EF7-6A8E-465E-47A29A3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CCB220-2CB7-163C-5982-E98CA56F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4" y="818300"/>
            <a:ext cx="5457235" cy="6085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31BE65-8258-A05D-BC80-79639B98C78F}"/>
              </a:ext>
            </a:extLst>
          </p:cNvPr>
          <p:cNvSpPr txBox="1"/>
          <p:nvPr/>
        </p:nvSpPr>
        <p:spPr>
          <a:xfrm>
            <a:off x="6438732" y="802244"/>
            <a:ext cx="5119284" cy="25251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(D+F+X)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Google Shape;334;p46">
            <a:extLst>
              <a:ext uri="{FF2B5EF4-FFF2-40B4-BE49-F238E27FC236}">
                <a16:creationId xmlns:a16="http://schemas.microsoft.com/office/drawing/2014/main" id="{41736745-E174-E639-1F31-D6CC99532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130617"/>
              </p:ext>
            </p:extLst>
          </p:nvPr>
        </p:nvGraphicFramePr>
        <p:xfrm>
          <a:off x="6505716" y="1012659"/>
          <a:ext cx="4967416" cy="1417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sz="12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(NC, CC, DC, HCC)</a:t>
                      </a:r>
                      <a:endParaRPr sz="12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 stage coverage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(1.0, 1.0, 1.0, 1.0)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Transmission priority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(1.0, 1.0, 0.4, 0.3)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Advanced-disease priority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</a:t>
                      </a:r>
                      <a:r>
                        <a:rPr lang="en-US" altLang="zh-CN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0.</a:t>
                      </a:r>
                      <a:r>
                        <a:rPr lang="en-US" altLang="zh-CN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0.8, 1.0)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DA4057-AE3C-A248-F209-EF00B799E8C9}"/>
              </a:ext>
            </a:extLst>
          </p:cNvPr>
          <p:cNvSpPr txBox="1"/>
          <p:nvPr/>
        </p:nvSpPr>
        <p:spPr>
          <a:xfrm>
            <a:off x="6438732" y="3530579"/>
            <a:ext cx="5126014" cy="27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lvl="0" indent="-3429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Equal-stage coverage and transmission-priority strategies produced very similar reductions in HCV infections. </a:t>
            </a:r>
          </a:p>
          <a:p>
            <a:pPr marL="342900" lvl="0" indent="-3429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Advanced-disease prioritisation was substantially less effective for HCV elimination. </a:t>
            </a:r>
          </a:p>
          <a:p>
            <a:pPr marL="342900" lvl="0" indent="-3429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HCV elimination requires high treatment coverage in NC/CC, where most infections occur.</a:t>
            </a:r>
          </a:p>
          <a:p>
            <a:pPr marL="342900" lvl="0" indent="-3429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1400" u="sng" dirty="0">
                <a:latin typeface="Arial" panose="020B0604020202020204" pitchFamily="34" charset="0"/>
                <a:cs typeface="Arial" panose="020B0604020202020204" pitchFamily="34" charset="0"/>
              </a:rPr>
              <a:t>Broad access to treatment in early</a:t>
            </a:r>
            <a:r>
              <a:rPr lang="en-US" altLang="zh-CN" sz="1400" u="sng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CN" sz="1400" u="sng" dirty="0">
                <a:latin typeface="Arial" panose="020B0604020202020204" pitchFamily="34" charset="0"/>
                <a:cs typeface="Arial" panose="020B0604020202020204" pitchFamily="34" charset="0"/>
              </a:rPr>
              <a:t>disease stage (NC/CC) is essential.</a:t>
            </a:r>
          </a:p>
        </p:txBody>
      </p:sp>
    </p:spTree>
    <p:extLst>
      <p:ext uri="{BB962C8B-B14F-4D97-AF65-F5344CB8AC3E}">
        <p14:creationId xmlns:p14="http://schemas.microsoft.com/office/powerpoint/2010/main" val="842880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FF0D-8CA3-CD63-3FDF-81EAAC91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4495F-6A56-D48E-194F-683D7E9B7940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Delivery settings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B745A-859F-5C16-E00E-C848130A478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8A6050-1EF2-8B66-7E3C-3A2E89F7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DFF83-ECA1-D259-6400-347BD60D3216}"/>
              </a:ext>
            </a:extLst>
          </p:cNvPr>
          <p:cNvSpPr txBox="1"/>
          <p:nvPr/>
        </p:nvSpPr>
        <p:spPr>
          <a:xfrm>
            <a:off x="8321040" y="3440746"/>
            <a:ext cx="3261360" cy="325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Prison-based treatment was highly effective in rapidly reducing HCV infections across strata. </a:t>
            </a:r>
          </a:p>
          <a:p>
            <a:pPr marL="228600" lvl="0" indent="-228600">
              <a:buAutoNum type="arabicPeriod"/>
            </a:pPr>
            <a:endParaRPr lang="en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However, residual infections remained after prison treatment alone, particularly in the community. </a:t>
            </a:r>
          </a:p>
          <a:p>
            <a:pPr marL="228600" lvl="0" indent="-228600">
              <a:buAutoNum type="arabicPeriod"/>
            </a:pPr>
            <a:endParaRPr lang="en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Adding community treatment provided further reductions and helped move the population closer to elimination.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0000"/>
              </a:lnSpc>
              <a:spcAft>
                <a:spcPts val="1067"/>
              </a:spcAft>
            </a:pPr>
            <a:r>
              <a:rPr lang="en-CN" sz="1200" u="sng" dirty="0">
                <a:latin typeface="Arial" panose="020B0604020202020204" pitchFamily="34" charset="0"/>
                <a:cs typeface="Arial" panose="020B0604020202020204" pitchFamily="34" charset="0"/>
              </a:rPr>
              <a:t>Prison-based treatment should be the core intervention, with community treatment used to address residual HCV burden.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5E17C3-252A-C0C8-5602-DA1D35570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0386"/>
            <a:ext cx="8098440" cy="5398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904AB-B29C-3EB1-4B6F-96B813CD0DAE}"/>
              </a:ext>
            </a:extLst>
          </p:cNvPr>
          <p:cNvSpPr txBox="1"/>
          <p:nvPr/>
        </p:nvSpPr>
        <p:spPr>
          <a:xfrm>
            <a:off x="8321040" y="1458910"/>
            <a:ext cx="3236976" cy="137922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D/J/F/X: Only treat PWIDs within the stratum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Total: Coverage applied to D/F/X with 100% treatment coverage for J</a:t>
            </a:r>
          </a:p>
        </p:txBody>
      </p:sp>
    </p:spTree>
    <p:extLst>
      <p:ext uri="{BB962C8B-B14F-4D97-AF65-F5344CB8AC3E}">
        <p14:creationId xmlns:p14="http://schemas.microsoft.com/office/powerpoint/2010/main" val="122357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0D31-239B-5B49-B641-830359E9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3688F-9925-A513-FEFF-BEE188DFD9E2}"/>
              </a:ext>
            </a:extLst>
          </p:cNvPr>
          <p:cNvSpPr txBox="1"/>
          <p:nvPr/>
        </p:nvSpPr>
        <p:spPr>
          <a:xfrm>
            <a:off x="609600" y="341376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400" b="1" dirty="0">
                <a:solidFill>
                  <a:srgbClr val="05455E"/>
                </a:solidFill>
                <a:latin typeface="Arial"/>
              </a:rPr>
              <a:t>DC/HCC cases &amp; deaths under different delivery settings &amp; coverage</a:t>
            </a:r>
            <a:endParaRPr sz="24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EDE1BC-4711-833F-311E-AA53046AE092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77DFA1-BE89-1EA8-C937-E30220D3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45A51-99E5-3488-2F19-DD0353FA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444"/>
            <a:ext cx="8655340" cy="52684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94DEA5-B14C-5CD0-CDED-21F461125B60}"/>
              </a:ext>
            </a:extLst>
          </p:cNvPr>
          <p:cNvSpPr txBox="1"/>
          <p:nvPr/>
        </p:nvSpPr>
        <p:spPr>
          <a:xfrm>
            <a:off x="8657858" y="3425506"/>
            <a:ext cx="2924542" cy="325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Prison-based treatment substantially reduced DC, HCC, and advanced-stage deaths. </a:t>
            </a:r>
          </a:p>
          <a:p>
            <a:pPr marL="228600" lvl="0" indent="-228600">
              <a:buAutoNum type="arabicPeriod"/>
            </a:pPr>
            <a:endParaRPr lang="en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Higher treatment coverage produced larger health gains and faster reductions in severe liver outcomes.</a:t>
            </a:r>
          </a:p>
          <a:p>
            <a:pPr marL="228600" lvl="0" indent="-228600">
              <a:buAutoNum type="arabicPeriod"/>
            </a:pPr>
            <a:endParaRPr lang="en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More intensive treatment did not necessarily require more treatment initiations long term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0000"/>
              </a:lnSpc>
              <a:spcAft>
                <a:spcPts val="1067"/>
              </a:spcAft>
            </a:pPr>
            <a:r>
              <a:rPr lang="en-CN" sz="1200" u="sng" dirty="0">
                <a:latin typeface="Arial" panose="020B0604020202020204" pitchFamily="34" charset="0"/>
                <a:cs typeface="Arial" panose="020B0604020202020204" pitchFamily="34" charset="0"/>
              </a:rPr>
              <a:t>Early treatment scale-up can both improve health outcomes and reduce long-term treatment burden.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08B5B-CF67-E564-5CC9-CB3D8DC8BB19}"/>
              </a:ext>
            </a:extLst>
          </p:cNvPr>
          <p:cNvSpPr txBox="1"/>
          <p:nvPr/>
        </p:nvSpPr>
        <p:spPr>
          <a:xfrm>
            <a:off x="8655340" y="1458910"/>
            <a:ext cx="2902676" cy="157312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D/J/F/X: Only treat PWIDs within the stratum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Total: Coverage applied to D/F/X with 100% treatment coverage for J</a:t>
            </a:r>
          </a:p>
        </p:txBody>
      </p:sp>
    </p:spTree>
    <p:extLst>
      <p:ext uri="{BB962C8B-B14F-4D97-AF65-F5344CB8AC3E}">
        <p14:creationId xmlns:p14="http://schemas.microsoft.com/office/powerpoint/2010/main" val="223835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341120"/>
            <a:ext cx="10850880" cy="4289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Chaillon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Thurairajah PH, Hsiang JC, Martin N. What is required for achieving HCV elimination in Singapore? A modeling study. J Hepatol 2020; 73: S818.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Zhao Y, Thurairajah PH, Kumar R, Tan J, Teo EK, Hsiang JC. Novel non-invasive score to predict cirrhosis in the era of hepatitis C elimination: A population study of ex-substance users in Singapore. Hepatobiliary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Pancreat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Dis Int 2019; 18: 143–8.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Zhu RX, Seto W-K, Lai C-L, Yuen M-F. Epidemiology of hepatocellular carcinoma in the Asia-Pacific region. Gut Liver 2016; 10. DOI:10.5009/gnl15257.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Ashtari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S. Hepatocellular carcinoma in Asia: prevention strategy and planning. World J Hepatol 2015; 7: 1708.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Wu Y-J, Xu M-Y, Lu L-G. Clinical advances in fibrosis progression of chronic hepatitis B and C. J Clin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Hepatol 2014; 2: 222–7.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Pawlotsky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J-M, Negro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Aghemo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et al. EASL recommendations on treatment of hepatitis C: final update of the series. J Hepatol 2020; 73: 1170–218.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Hernandez-Con P, Wilson DL, Tang H, et al. Hepatitis C cascade of care in the direct-acting antivirals era: a meta-analysis. Am J Prev Med 2023; 65: 1153–62.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Goodyear T, Brown H, Browne AJ, Hoong P, Ti L, Knight R. “I want to get better, but…”: identifying the perceptions and experiences of people who inject drugs with respect to evolving hepatitis C virus treatments. Int J Equity Health 2021; 20: 81.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Mathers BM, Degenhardt L,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Bucello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C, Lemon J,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Wiessing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Hickman M. Mortality among people who inject drugs: a systematic review and meta-analysis. Bull World Health Organ 2013; 91: 102–23.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Boelen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Teutsch S, Wilson DP, et al. Per-event probability of hepatitis C infection during sharing of injecting equipment.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PLoS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One 2014; 9: e100749.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A7419-2CF7-D68A-473D-1B1C8139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A738-0FAB-3A39-9922-D6AADBD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9D96D-1137-EA75-62FE-0A9543CCB25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9AC97-C230-4F16-2844-6EA8A6B25B9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5BF71-7EEB-348E-84B7-7A51108FB2D3}"/>
              </a:ext>
            </a:extLst>
          </p:cNvPr>
          <p:cNvSpPr txBox="1"/>
          <p:nvPr/>
        </p:nvSpPr>
        <p:spPr>
          <a:xfrm>
            <a:off x="670560" y="1341120"/>
            <a:ext cx="10850880" cy="3160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Micallef JM, Kaldor JM, Dore G. Spontaneous viral clearance following acute hepatitis C infection: a systematic review of longitudinal studies.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2006; 13: 34–41.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Fasano M, Ieva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Ciarallo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Caccianotti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B,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Santantonio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TA. Acute hepatitis C: current status and future perspectives. Viruses 2024; 16: 1739.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Lim AG, Qureshi H, Mahmood H, et al. Curbing the hepatitis C virus epidemic in Pakistan: the impact of scaling up treatment and prevention for achieving elimination. Int J Epidemiol 2018; 47: 550–60.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Fattovich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G,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Stroffolini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Zagni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I, Donato F. Hepatocellular carcinoma in cirrhosis: incidence and risk factors. Gastroenterology 2004; 127: S35–50.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An J, Park DA, Ko MJ, et al. Direct-acting antivirals for HCV treatment in decompensated liver cirrhosis patients: a systematic review and meta-analysis. J Pers Med 2022; 12: 1517.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Morgan RL, Baack B, Smith BD,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Yartel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Pitasi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Falck-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Ytter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Y. Eradication of hepatitis C virus infection and the development of hepatocellular carcinoma: a meta-analysis of observational studies. Ann Intern Med 2013; 158: 329–37.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Xiao J, Zhang X, Mao X, Lai S, Li S, Sheng Y. Efficacy and safety of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plus sofosbuvir with or without ribavirin in hepatitis C patients with decompensated cirrhosis: a systematic review and meta-analysis.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2025; 32: e70078.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EA7F-24EC-D420-FF4D-4690F4C8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2489</Words>
  <Application>Microsoft Macintosh PowerPoint</Application>
  <PresentationFormat>Widescreen</PresentationFormat>
  <Paragraphs>264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Yichen</dc:creator>
  <cp:lastModifiedBy>He Yichen</cp:lastModifiedBy>
  <cp:revision>195</cp:revision>
  <dcterms:created xsi:type="dcterms:W3CDTF">2026-09-03T06:40:29Z</dcterms:created>
  <dcterms:modified xsi:type="dcterms:W3CDTF">2026-09-11T08:22:27Z</dcterms:modified>
</cp:coreProperties>
</file>