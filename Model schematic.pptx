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18"/>
    <p:restoredTop sz="97823"/>
  </p:normalViewPr>
  <p:slideViewPr>
    <p:cSldViewPr snapToGrid="0">
      <p:cViewPr>
        <p:scale>
          <a:sx n="125" d="100"/>
          <a:sy n="125" d="100"/>
        </p:scale>
        <p:origin x="96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1EDD4-0C1B-F208-9587-009DEFD0C2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6C5E8-C0D4-EAB6-FC96-B99ACB14F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90C64-F3C5-4007-17EE-C8161226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589BD-BF3B-246F-F221-6C797ED1B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DF304-932E-45BB-3258-7E5B06D4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2AF20-FC3D-3AE9-7EF6-29C0C8CD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3F88-99D6-A118-3B55-735F0982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DD9F-75A3-E70B-519C-FADCC7C5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B8F97-2451-452F-408D-769B7881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468CE-1343-020B-DB65-6D38DB3B5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3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5CC00-90FD-C5CA-B854-E8CC9080D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8E058-CF29-ED07-015E-032DDDE56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B4B8A-0A0A-537C-4D3A-CD60AD00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476D2-DFEA-83B3-CF9D-963578520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C1865-2CE6-B308-72D6-D6B09FDE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22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C0B5-6197-9537-7CFD-F711A41A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E34BF-45DC-D824-A2AA-C1708B3A5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A2D7D-53C5-0584-CB88-4C2C92438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6D846-FD75-B165-F5AA-4F7DBA19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64368-8569-41A3-CC1B-2EB16B8BE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F04D3-52F1-C9B0-B8B9-31FA233AC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813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D16E7-07A6-07B0-D68E-C698F0628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183881-5B70-3581-74F3-76DF8668E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BE583-0842-6F3F-6E6D-BF7D53B49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0A5369-71E4-D49C-8FD6-0594B5603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682C7F-12E2-48A0-9C92-1B0B08528D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609D73-8314-1B9D-9988-1D0BA9C11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E112B4-42FE-56AC-6FF5-D62FF4574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818570-C160-1886-6487-219609903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08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5B32-820E-4097-EA4C-8A3474F99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EC8D5-D24C-BBB8-08B1-D80EDB56D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7BF5AB-FF44-3120-022B-AD54EA4E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1CADBE-A6C1-CBD5-E782-C64F590A5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07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70893-2252-FFD6-B159-4074FB04D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3AC1C2-E0CC-7190-8074-8625A57B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A62917-2266-0574-5916-184F4A87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91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A6068-612D-2DC2-01EC-4B3D1700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CC35E-9031-884E-2D3B-92076577F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F1AE16-C9F3-0768-B447-53A59B5BE1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B2AD7-AEC7-29BA-94A9-AC484D52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085EE-0817-CBC7-D084-617264D2B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31474-62C6-5ECE-20BC-6741E590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75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EDB-7C03-D89B-8DBC-772EA3E12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303D7E-90DA-7628-DA9E-C5B2200D33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336241-490B-BC48-F719-FE2975A51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4D8E0-7573-BC47-D449-845FAE38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66FA64-4E74-BF2C-5B57-93FF17C00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4B389D-3425-CC89-CE0B-700D0646A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46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703-B0FD-E721-0D3B-9C0324957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BF690-4C99-6865-83DC-8286843A8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22E50A-F731-35EF-838A-0D566E60E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E0E34-59CB-7ED3-6946-E1E387CF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B9F96-3698-6CC1-EA2B-2F8EC566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F3DED-F8AF-B9E6-1C00-136191AB0F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A2D782-271D-EB4A-F503-F9ED835B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EA5D7-24C5-1D1A-3466-AAAD1F3E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B966-6AFE-3F8A-9766-CC93A1AF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C2FEA-0AA4-20BD-2709-8B1EFF482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02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AB9C1-42B3-9FE9-C449-D7382622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51185-5A92-EA18-DFB1-63A5C3841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CF2A-8165-BF1C-39FD-75D2AB192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CD6CCD-50EB-0843-8C90-55A06B658EEA}" type="datetimeFigureOut">
              <a:rPr lang="en-US" smtClean="0"/>
              <a:t>4/23/26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C61E-B353-9C92-B928-B77A1290E7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965C7-3DAB-CF59-DB9A-43AC1F59E4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95C215-1180-C844-BE2C-A36A0A49D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57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88018857-26DE-FCDE-16C5-122BADD43C58}"/>
              </a:ext>
            </a:extLst>
          </p:cNvPr>
          <p:cNvGrpSpPr/>
          <p:nvPr/>
        </p:nvGrpSpPr>
        <p:grpSpPr>
          <a:xfrm>
            <a:off x="2455200" y="1441588"/>
            <a:ext cx="6490737" cy="2068369"/>
            <a:chOff x="1471519" y="429950"/>
            <a:chExt cx="6490737" cy="206836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D653E7B-EDD0-77AE-51CE-8AA6112E426E}"/>
                </a:ext>
              </a:extLst>
            </p:cNvPr>
            <p:cNvSpPr/>
            <p:nvPr/>
          </p:nvSpPr>
          <p:spPr>
            <a:xfrm>
              <a:off x="1471519" y="896233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Never Incarcerated PWID (D)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9844E7-9540-E3AC-BF93-3910B9C71C1B}"/>
                </a:ext>
              </a:extLst>
            </p:cNvPr>
            <p:cNvSpPr/>
            <p:nvPr/>
          </p:nvSpPr>
          <p:spPr>
            <a:xfrm>
              <a:off x="4001427" y="896233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Currently Incarcerated Ex-PWID (J)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041BFD32-1EFE-6BC5-FF1F-6A4D9B19CCF2}"/>
                </a:ext>
              </a:extLst>
            </p:cNvPr>
            <p:cNvSpPr/>
            <p:nvPr/>
          </p:nvSpPr>
          <p:spPr>
            <a:xfrm>
              <a:off x="6531335" y="429950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Formerly Incarcerated PWID (F)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CA5B2CD-C485-3480-BC8E-46542ED96A56}"/>
                </a:ext>
              </a:extLst>
            </p:cNvPr>
            <p:cNvSpPr/>
            <p:nvPr/>
          </p:nvSpPr>
          <p:spPr>
            <a:xfrm>
              <a:off x="6531334" y="1565753"/>
              <a:ext cx="1430921" cy="932566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Ex-PWID (X)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A8A19BD-FD31-2903-FC14-E9F33F686746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2902440" y="1362516"/>
              <a:ext cx="10989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79607AF-73EA-1DCF-9A03-259F107FFF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2345" y="1064234"/>
              <a:ext cx="1098987" cy="4662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8C838BB7-DAE8-D83C-8D39-C00317912B10}"/>
                </a:ext>
              </a:extLst>
            </p:cNvPr>
            <p:cNvCxnSpPr/>
            <p:nvPr/>
          </p:nvCxnSpPr>
          <p:spPr>
            <a:xfrm flipH="1">
              <a:off x="5403117" y="860997"/>
              <a:ext cx="1098987" cy="4363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94D6F8-8451-89C2-B0EA-BAE3EF66BC1F}"/>
                </a:ext>
              </a:extLst>
            </p:cNvPr>
            <p:cNvCxnSpPr>
              <a:cxnSpLocks/>
            </p:cNvCxnSpPr>
            <p:nvPr/>
          </p:nvCxnSpPr>
          <p:spPr>
            <a:xfrm>
              <a:off x="5432345" y="1530517"/>
              <a:ext cx="1069759" cy="4315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EA21999C-211C-8849-F77F-3D39DA2BDC76}"/>
              </a:ext>
            </a:extLst>
          </p:cNvPr>
          <p:cNvSpPr/>
          <p:nvPr/>
        </p:nvSpPr>
        <p:spPr>
          <a:xfrm>
            <a:off x="4985108" y="4390534"/>
            <a:ext cx="1430921" cy="93256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Death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BF5CEE7-EE0D-7D45-12BD-B1DA1B36362F}"/>
              </a:ext>
            </a:extLst>
          </p:cNvPr>
          <p:cNvCxnSpPr>
            <a:stCxn id="5" idx="2"/>
            <a:endCxn id="42" idx="0"/>
          </p:cNvCxnSpPr>
          <p:nvPr/>
        </p:nvCxnSpPr>
        <p:spPr>
          <a:xfrm>
            <a:off x="3170661" y="2840437"/>
            <a:ext cx="2529908" cy="15500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1068303-5A2A-4DE6-E242-2FD485D6C3A1}"/>
              </a:ext>
            </a:extLst>
          </p:cNvPr>
          <p:cNvCxnSpPr>
            <a:stCxn id="6" idx="2"/>
            <a:endCxn id="42" idx="0"/>
          </p:cNvCxnSpPr>
          <p:nvPr/>
        </p:nvCxnSpPr>
        <p:spPr>
          <a:xfrm>
            <a:off x="5700569" y="2840437"/>
            <a:ext cx="0" cy="15500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E6045F1-5633-6798-C628-1924A77D49F4}"/>
              </a:ext>
            </a:extLst>
          </p:cNvPr>
          <p:cNvCxnSpPr>
            <a:stCxn id="10" idx="2"/>
            <a:endCxn id="42" idx="0"/>
          </p:cNvCxnSpPr>
          <p:nvPr/>
        </p:nvCxnSpPr>
        <p:spPr>
          <a:xfrm flipH="1">
            <a:off x="5700569" y="3509957"/>
            <a:ext cx="2529907" cy="880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BD059FAF-83F6-1419-20AA-9BC758023217}"/>
              </a:ext>
            </a:extLst>
          </p:cNvPr>
          <p:cNvCxnSpPr>
            <a:stCxn id="7" idx="3"/>
            <a:endCxn id="42" idx="3"/>
          </p:cNvCxnSpPr>
          <p:nvPr/>
        </p:nvCxnSpPr>
        <p:spPr>
          <a:xfrm flipH="1">
            <a:off x="6416029" y="1907871"/>
            <a:ext cx="2529908" cy="2948946"/>
          </a:xfrm>
          <a:prstGeom prst="bentConnector3">
            <a:avLst>
              <a:gd name="adj1" fmla="val -903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A7A4915-91AE-B290-8566-B5E8330B2316}"/>
              </a:ext>
            </a:extLst>
          </p:cNvPr>
          <p:cNvSpPr txBox="1"/>
          <p:nvPr/>
        </p:nvSpPr>
        <p:spPr>
          <a:xfrm>
            <a:off x="154382" y="226319"/>
            <a:ext cx="4042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Incarceration dynamics</a:t>
            </a:r>
          </a:p>
        </p:txBody>
      </p:sp>
    </p:spTree>
    <p:extLst>
      <p:ext uri="{BB962C8B-B14F-4D97-AF65-F5344CB8AC3E}">
        <p14:creationId xmlns:p14="http://schemas.microsoft.com/office/powerpoint/2010/main" val="3942779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09D7D8-A89F-39B4-38AA-AC4294A10199}"/>
              </a:ext>
            </a:extLst>
          </p:cNvPr>
          <p:cNvGrpSpPr/>
          <p:nvPr/>
        </p:nvGrpSpPr>
        <p:grpSpPr>
          <a:xfrm>
            <a:off x="154382" y="1075731"/>
            <a:ext cx="11918051" cy="4548359"/>
            <a:chOff x="0" y="669035"/>
            <a:chExt cx="13008584" cy="496454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DF54F6C-5266-D8CE-E1C4-215EBBC5A1A3}"/>
                </a:ext>
              </a:extLst>
            </p:cNvPr>
            <p:cNvGrpSpPr/>
            <p:nvPr/>
          </p:nvGrpSpPr>
          <p:grpSpPr>
            <a:xfrm>
              <a:off x="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E3F73723-2FC5-6911-F9A2-69E3748E28D7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E91EC6D5-1803-3CBF-3D3F-2221526491B9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6041FCCD-89FA-8B3F-72E4-65433EBA49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B0C960F-3041-58B6-1AE3-D872BBD42FA5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4C1D1F5D-E587-CA69-9396-650D74B6BB95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630E32AD-FB42-F308-9FA5-2436B2A81C07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7359F486-7181-2C4C-0773-A7C0CC79E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FA4A93FD-DACA-77D9-3CB9-AEAEA4C0731D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D6490AD6-2F0A-6A8E-94F2-1738661B575C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E70215DA-8F47-4972-7920-587CF445AA61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CD62E138-E84B-5F44-A7EE-0D3D73D484AA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>
                  <a:extLst>
                    <a:ext uri="{FF2B5EF4-FFF2-40B4-BE49-F238E27FC236}">
                      <a16:creationId xmlns:a16="http://schemas.microsoft.com/office/drawing/2014/main" id="{9AAD420B-9D8B-1984-5396-FE2ECEEF1B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>
                  <a:extLst>
                    <a:ext uri="{FF2B5EF4-FFF2-40B4-BE49-F238E27FC236}">
                      <a16:creationId xmlns:a16="http://schemas.microsoft.com/office/drawing/2014/main" id="{D3C23DEC-0BF8-6E96-8013-2DAEE4C40D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8A7D14F2-D565-2A11-B71F-9D9BA73B7361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1F5A395-278B-04BE-A47C-E5E67BF00367}"/>
                  </a:ext>
                </a:extLst>
              </p:cNvPr>
              <p:cNvSpPr txBox="1"/>
              <p:nvPr/>
            </p:nvSpPr>
            <p:spPr>
              <a:xfrm>
                <a:off x="1365215" y="1252603"/>
                <a:ext cx="2085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Non-Cirrhosis (NC)</a:t>
                </a:r>
              </a:p>
            </p:txBody>
          </p:sp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C3D7EB5D-329A-E04C-9548-3FB99024F8B4}"/>
                </a:ext>
              </a:extLst>
            </p:cNvPr>
            <p:cNvCxnSpPr>
              <a:cxnSpLocks/>
              <a:stCxn id="6" idx="3"/>
              <a:endCxn id="35" idx="1"/>
            </p:cNvCxnSpPr>
            <p:nvPr/>
          </p:nvCxnSpPr>
          <p:spPr>
            <a:xfrm>
              <a:off x="2235895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E58B6F-F3BC-988A-29BD-6D26CA964090}"/>
                </a:ext>
              </a:extLst>
            </p:cNvPr>
            <p:cNvGrpSpPr/>
            <p:nvPr/>
          </p:nvGrpSpPr>
          <p:grpSpPr>
            <a:xfrm>
              <a:off x="3269395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82F546E-EFA3-3C58-81B8-80D6B2EFFFA2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33" name="Rounded Rectangle 32">
                  <a:extLst>
                    <a:ext uri="{FF2B5EF4-FFF2-40B4-BE49-F238E27FC236}">
                      <a16:creationId xmlns:a16="http://schemas.microsoft.com/office/drawing/2014/main" id="{9F23EA1E-5BA9-E504-27B8-0D5610A9DC53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9EA4C211-8290-C111-D662-8DADA6FD48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Rounded Rectangle 34">
                  <a:extLst>
                    <a:ext uri="{FF2B5EF4-FFF2-40B4-BE49-F238E27FC236}">
                      <a16:creationId xmlns:a16="http://schemas.microsoft.com/office/drawing/2014/main" id="{49183545-D84C-C451-15EE-E9E3CCCDA858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36" name="Rounded Rectangle 35">
                  <a:extLst>
                    <a:ext uri="{FF2B5EF4-FFF2-40B4-BE49-F238E27FC236}">
                      <a16:creationId xmlns:a16="http://schemas.microsoft.com/office/drawing/2014/main" id="{64FCF7B3-5AB8-D846-CAE9-F86B15F0A343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37" name="Rounded Rectangle 36">
                  <a:extLst>
                    <a:ext uri="{FF2B5EF4-FFF2-40B4-BE49-F238E27FC236}">
                      <a16:creationId xmlns:a16="http://schemas.microsoft.com/office/drawing/2014/main" id="{E9CC3CE1-659B-5D58-FED4-E258DEFE0468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6A503462-1E93-24A2-CF11-DDDCD97324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0EAED448-FDF6-3785-B25A-B33C90FE8790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Arrow Connector 39">
                  <a:extLst>
                    <a:ext uri="{FF2B5EF4-FFF2-40B4-BE49-F238E27FC236}">
                      <a16:creationId xmlns:a16="http://schemas.microsoft.com/office/drawing/2014/main" id="{F29F6C97-A2A2-A3E3-EC69-17E80291DC41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09A1530A-9219-319E-D5E1-36007E336F27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A039DEC0-E888-682E-7C65-1D1F70BFE9F1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E750131B-B53C-94A1-B36B-6E324690D7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B975D9CF-D720-2109-F7BE-F37A88E25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B289963A-7E31-1798-D7DF-ABD9CEDAF624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6A6B708-359A-43B3-7FFD-824D069BC289}"/>
                  </a:ext>
                </a:extLst>
              </p:cNvPr>
              <p:cNvSpPr txBox="1"/>
              <p:nvPr/>
            </p:nvSpPr>
            <p:spPr>
              <a:xfrm>
                <a:off x="880883" y="1252603"/>
                <a:ext cx="30544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Compensated Cirrhosis (CC)</a:t>
                </a:r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2618FBA1-702B-8D93-9F53-5DDFCC1C5ADC}"/>
                </a:ext>
              </a:extLst>
            </p:cNvPr>
            <p:cNvGrpSpPr/>
            <p:nvPr/>
          </p:nvGrpSpPr>
          <p:grpSpPr>
            <a:xfrm>
              <a:off x="6538790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145A2C9-196F-3808-9564-9FCD19293E5A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83" name="Rounded Rectangle 82">
                  <a:extLst>
                    <a:ext uri="{FF2B5EF4-FFF2-40B4-BE49-F238E27FC236}">
                      <a16:creationId xmlns:a16="http://schemas.microsoft.com/office/drawing/2014/main" id="{922EC8B2-74EC-932F-997C-C674CCA7D244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2B5AE4FB-2F65-B94C-F4B9-ADF7D46C0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5" name="Rounded Rectangle 84">
                  <a:extLst>
                    <a:ext uri="{FF2B5EF4-FFF2-40B4-BE49-F238E27FC236}">
                      <a16:creationId xmlns:a16="http://schemas.microsoft.com/office/drawing/2014/main" id="{3AA1659A-6FD4-FF21-8E7D-81066E427A9D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86" name="Rounded Rectangle 85">
                  <a:extLst>
                    <a:ext uri="{FF2B5EF4-FFF2-40B4-BE49-F238E27FC236}">
                      <a16:creationId xmlns:a16="http://schemas.microsoft.com/office/drawing/2014/main" id="{C8E47F66-3058-CC4F-52B8-36EA06ACE3F0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771924CB-3B2C-A548-0432-F92DF8F52287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88" name="Straight Arrow Connector 87">
                  <a:extLst>
                    <a:ext uri="{FF2B5EF4-FFF2-40B4-BE49-F238E27FC236}">
                      <a16:creationId xmlns:a16="http://schemas.microsoft.com/office/drawing/2014/main" id="{842953D9-4E2C-EC8B-827F-BFFAF2897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Arrow Connector 88">
                  <a:extLst>
                    <a:ext uri="{FF2B5EF4-FFF2-40B4-BE49-F238E27FC236}">
                      <a16:creationId xmlns:a16="http://schemas.microsoft.com/office/drawing/2014/main" id="{843D389D-46EA-244D-6722-A35F9F13B05C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02CC4661-946C-C586-687C-4F8086E4234E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Arrow Connector 90">
                  <a:extLst>
                    <a:ext uri="{FF2B5EF4-FFF2-40B4-BE49-F238E27FC236}">
                      <a16:creationId xmlns:a16="http://schemas.microsoft.com/office/drawing/2014/main" id="{5BEADE14-C7D8-B0FA-EB21-797E2433AA02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Arrow Connector 91">
                  <a:extLst>
                    <a:ext uri="{FF2B5EF4-FFF2-40B4-BE49-F238E27FC236}">
                      <a16:creationId xmlns:a16="http://schemas.microsoft.com/office/drawing/2014/main" id="{3311630B-3C8B-50C3-A8B8-9501C25A6707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Arrow Connector 92">
                  <a:extLst>
                    <a:ext uri="{FF2B5EF4-FFF2-40B4-BE49-F238E27FC236}">
                      <a16:creationId xmlns:a16="http://schemas.microsoft.com/office/drawing/2014/main" id="{7AE56C3D-123F-BC83-DE50-0F84BFD3CC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Arrow Connector 93">
                  <a:extLst>
                    <a:ext uri="{FF2B5EF4-FFF2-40B4-BE49-F238E27FC236}">
                      <a16:creationId xmlns:a16="http://schemas.microsoft.com/office/drawing/2014/main" id="{1AD917E6-2F05-F5D3-A57C-F111CCC8D1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BE8A10DA-1FAF-E5AA-B826-A7334783703D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2B20A6B-8A1D-B807-6696-F4EEA7BDE95F}"/>
                  </a:ext>
                </a:extLst>
              </p:cNvPr>
              <p:cNvSpPr txBox="1"/>
              <p:nvPr/>
            </p:nvSpPr>
            <p:spPr>
              <a:xfrm>
                <a:off x="1006292" y="1225105"/>
                <a:ext cx="2782764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Decompensated Cirrhosis </a:t>
                </a:r>
              </a:p>
              <a:p>
                <a:pPr algn="ctr"/>
                <a:r>
                  <a:rPr lang="en-US" sz="1600" dirty="0"/>
                  <a:t>(DC)</a:t>
                </a:r>
              </a:p>
            </p:txBody>
          </p:sp>
        </p:grp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977574D5-331A-6C50-B74F-81982F3F1B67}"/>
                </a:ext>
              </a:extLst>
            </p:cNvPr>
            <p:cNvCxnSpPr>
              <a:cxnSpLocks/>
              <a:stCxn id="85" idx="3"/>
              <a:endCxn id="102" idx="1"/>
            </p:cNvCxnSpPr>
            <p:nvPr/>
          </p:nvCxnSpPr>
          <p:spPr>
            <a:xfrm>
              <a:off x="8774685" y="47609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5B896F87-FC41-0F16-2FAA-3C86F55D4BD8}"/>
                </a:ext>
              </a:extLst>
            </p:cNvPr>
            <p:cNvGrpSpPr/>
            <p:nvPr/>
          </p:nvGrpSpPr>
          <p:grpSpPr>
            <a:xfrm>
              <a:off x="9808184" y="1224419"/>
              <a:ext cx="3200400" cy="4409162"/>
              <a:chOff x="807929" y="1133605"/>
              <a:chExt cx="3200400" cy="4409162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C25FEC93-B144-3E8F-45A5-860F0537E641}"/>
                  </a:ext>
                </a:extLst>
              </p:cNvPr>
              <p:cNvGrpSpPr/>
              <p:nvPr/>
            </p:nvGrpSpPr>
            <p:grpSpPr>
              <a:xfrm>
                <a:off x="976451" y="1906666"/>
                <a:ext cx="2894380" cy="3150404"/>
                <a:chOff x="1383547" y="879532"/>
                <a:chExt cx="2894380" cy="3150404"/>
              </a:xfrm>
            </p:grpSpPr>
            <p:sp>
              <p:nvSpPr>
                <p:cNvPr id="100" name="Rounded Rectangle 99">
                  <a:extLst>
                    <a:ext uri="{FF2B5EF4-FFF2-40B4-BE49-F238E27FC236}">
                      <a16:creationId xmlns:a16="http://schemas.microsoft.com/office/drawing/2014/main" id="{56DFD9D8-A8BB-2C7C-3287-5FFD6B7DA210}"/>
                    </a:ext>
                  </a:extLst>
                </p:cNvPr>
                <p:cNvSpPr/>
                <p:nvPr/>
              </p:nvSpPr>
              <p:spPr>
                <a:xfrm>
                  <a:off x="2185502" y="8795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Susceptible (u)</a:t>
                  </a:r>
                </a:p>
              </p:txBody>
            </p:sp>
            <p:cxnSp>
              <p:nvCxnSpPr>
                <p:cNvPr id="101" name="Straight Arrow Connector 100">
                  <a:extLst>
                    <a:ext uri="{FF2B5EF4-FFF2-40B4-BE49-F238E27FC236}">
                      <a16:creationId xmlns:a16="http://schemas.microsoft.com/office/drawing/2014/main" id="{5934EF06-277B-9662-9085-7F82D3F3C9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2575" y="165343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Rounded Rectangle 101">
                  <a:extLst>
                    <a:ext uri="{FF2B5EF4-FFF2-40B4-BE49-F238E27FC236}">
                      <a16:creationId xmlns:a16="http://schemas.microsoft.com/office/drawing/2014/main" id="{F02638E2-DE2A-1F84-309E-939A6E9881BF}"/>
                    </a:ext>
                  </a:extLst>
                </p:cNvPr>
                <p:cNvSpPr/>
                <p:nvPr/>
              </p:nvSpPr>
              <p:spPr>
                <a:xfrm>
                  <a:off x="2185502" y="325603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Chronic infection (c)</a:t>
                  </a:r>
                </a:p>
              </p:txBody>
            </p:sp>
            <p:sp>
              <p:nvSpPr>
                <p:cNvPr id="103" name="Rounded Rectangle 102">
                  <a:extLst>
                    <a:ext uri="{FF2B5EF4-FFF2-40B4-BE49-F238E27FC236}">
                      <a16:creationId xmlns:a16="http://schemas.microsoft.com/office/drawing/2014/main" id="{9579AD6F-4F47-8595-BE03-A0D02AE533C2}"/>
                    </a:ext>
                  </a:extLst>
                </p:cNvPr>
                <p:cNvSpPr/>
                <p:nvPr/>
              </p:nvSpPr>
              <p:spPr>
                <a:xfrm>
                  <a:off x="1383547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Acute infection (a)</a:t>
                  </a:r>
                </a:p>
              </p:txBody>
            </p:sp>
            <p:sp>
              <p:nvSpPr>
                <p:cNvPr id="104" name="Rounded Rectangle 103">
                  <a:extLst>
                    <a:ext uri="{FF2B5EF4-FFF2-40B4-BE49-F238E27FC236}">
                      <a16:creationId xmlns:a16="http://schemas.microsoft.com/office/drawing/2014/main" id="{860BC869-BF2B-4EE7-6864-0B978906EAA5}"/>
                    </a:ext>
                  </a:extLst>
                </p:cNvPr>
                <p:cNvSpPr/>
                <p:nvPr/>
              </p:nvSpPr>
              <p:spPr>
                <a:xfrm>
                  <a:off x="3012509" y="2067782"/>
                  <a:ext cx="1265418" cy="773904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Treatment (t)</a:t>
                  </a:r>
                </a:p>
              </p:txBody>
            </p:sp>
            <p:cxnSp>
              <p:nvCxnSpPr>
                <p:cNvPr id="105" name="Straight Arrow Connector 104">
                  <a:extLst>
                    <a:ext uri="{FF2B5EF4-FFF2-40B4-BE49-F238E27FC236}">
                      <a16:creationId xmlns:a16="http://schemas.microsoft.com/office/drawing/2014/main" id="{89F5B6CF-D978-A516-78A8-D2B65551D2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4662" y="2841686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63BFF0D9-5C07-763F-B74D-0212D815338D}"/>
                    </a:ext>
                  </a:extLst>
                </p:cNvPr>
                <p:cNvCxnSpPr/>
                <p:nvPr/>
              </p:nvCxnSpPr>
              <p:spPr>
                <a:xfrm flipV="1">
                  <a:off x="3175348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Arrow Connector 106">
                  <a:extLst>
                    <a:ext uri="{FF2B5EF4-FFF2-40B4-BE49-F238E27FC236}">
                      <a16:creationId xmlns:a16="http://schemas.microsoft.com/office/drawing/2014/main" id="{B37B93F6-23FE-A8F4-A8A2-4BC742011F14}"/>
                    </a:ext>
                  </a:extLst>
                </p:cNvPr>
                <p:cNvCxnSpPr/>
                <p:nvPr/>
              </p:nvCxnSpPr>
              <p:spPr>
                <a:xfrm flipV="1">
                  <a:off x="3175348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Arrow Connector 107">
                  <a:extLst>
                    <a:ext uri="{FF2B5EF4-FFF2-40B4-BE49-F238E27FC236}">
                      <a16:creationId xmlns:a16="http://schemas.microsoft.com/office/drawing/2014/main" id="{CA5FDB12-269F-AA96-4E02-845C19DEBFCD}"/>
                    </a:ext>
                  </a:extLst>
                </p:cNvPr>
                <p:cNvCxnSpPr/>
                <p:nvPr/>
              </p:nvCxnSpPr>
              <p:spPr>
                <a:xfrm flipV="1">
                  <a:off x="2294351" y="1648160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Arrow Connector 108">
                  <a:extLst>
                    <a:ext uri="{FF2B5EF4-FFF2-40B4-BE49-F238E27FC236}">
                      <a16:creationId xmlns:a16="http://schemas.microsoft.com/office/drawing/2014/main" id="{CB8CC350-7F2F-53CC-2578-ABFD82158C5E}"/>
                    </a:ext>
                  </a:extLst>
                </p:cNvPr>
                <p:cNvCxnSpPr/>
                <p:nvPr/>
              </p:nvCxnSpPr>
              <p:spPr>
                <a:xfrm flipV="1">
                  <a:off x="2294351" y="2835916"/>
                  <a:ext cx="0" cy="4196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Arrow Connector 109">
                  <a:extLst>
                    <a:ext uri="{FF2B5EF4-FFF2-40B4-BE49-F238E27FC236}">
                      <a16:creationId xmlns:a16="http://schemas.microsoft.com/office/drawing/2014/main" id="{11B458AA-3B6A-ACA0-8E9C-87F7E90A6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1659643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Arrow Connector 110">
                  <a:extLst>
                    <a:ext uri="{FF2B5EF4-FFF2-40B4-BE49-F238E27FC236}">
                      <a16:creationId xmlns:a16="http://schemas.microsoft.com/office/drawing/2014/main" id="{43654A4A-D8DC-0F79-EBAD-329DE8449A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4010" y="2841192"/>
                  <a:ext cx="0" cy="41434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96429BE9-1409-1C66-0270-AE8A37C7DFE1}"/>
                  </a:ext>
                </a:extLst>
              </p:cNvPr>
              <p:cNvSpPr/>
              <p:nvPr/>
            </p:nvSpPr>
            <p:spPr>
              <a:xfrm>
                <a:off x="807929" y="1133605"/>
                <a:ext cx="3200400" cy="440916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36B5BBCF-DE13-5919-DD89-214650F773A8}"/>
                  </a:ext>
                </a:extLst>
              </p:cNvPr>
              <p:cNvSpPr txBox="1"/>
              <p:nvPr/>
            </p:nvSpPr>
            <p:spPr>
              <a:xfrm>
                <a:off x="1028759" y="1225103"/>
                <a:ext cx="2811179" cy="6382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Hepatocellular Carcinoma </a:t>
                </a:r>
              </a:p>
              <a:p>
                <a:pPr algn="ctr"/>
                <a:r>
                  <a:rPr lang="en-US" sz="1600" dirty="0"/>
                  <a:t>(HCC)</a:t>
                </a:r>
              </a:p>
            </p:txBody>
          </p:sp>
        </p:grp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95BA144-AB2F-4454-DC7F-E7C0C9FF2802}"/>
                </a:ext>
              </a:extLst>
            </p:cNvPr>
            <p:cNvCxnSpPr>
              <a:cxnSpLocks/>
              <a:stCxn id="35" idx="3"/>
              <a:endCxn id="85" idx="1"/>
            </p:cNvCxnSpPr>
            <p:nvPr/>
          </p:nvCxnSpPr>
          <p:spPr>
            <a:xfrm>
              <a:off x="5505290" y="47609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CD9BAECF-CCF6-DA9A-43D2-500A46D8ED67}"/>
                </a:ext>
              </a:extLst>
            </p:cNvPr>
            <p:cNvCxnSpPr>
              <a:cxnSpLocks/>
              <a:stCxn id="33" idx="3"/>
              <a:endCxn id="83" idx="1"/>
            </p:cNvCxnSpPr>
            <p:nvPr/>
          </p:nvCxnSpPr>
          <p:spPr>
            <a:xfrm>
              <a:off x="5505290" y="2384432"/>
              <a:ext cx="200397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1DA3D75A-1984-45B1-9A3C-7599C7C83574}"/>
                </a:ext>
              </a:extLst>
            </p:cNvPr>
            <p:cNvCxnSpPr>
              <a:cxnSpLocks/>
              <a:stCxn id="83" idx="3"/>
              <a:endCxn id="100" idx="1"/>
            </p:cNvCxnSpPr>
            <p:nvPr/>
          </p:nvCxnSpPr>
          <p:spPr>
            <a:xfrm>
              <a:off x="8774685" y="2384432"/>
              <a:ext cx="20039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2578CE54-F3A1-E70C-8EB9-A0163777C742}"/>
                </a:ext>
              </a:extLst>
            </p:cNvPr>
            <p:cNvCxnSpPr>
              <a:stCxn id="35" idx="2"/>
              <a:endCxn id="102" idx="2"/>
            </p:cNvCxnSpPr>
            <p:nvPr/>
          </p:nvCxnSpPr>
          <p:spPr>
            <a:xfrm rot="16200000" flipH="1">
              <a:off x="8141975" y="1878489"/>
              <a:ext cx="12700" cy="6538789"/>
            </a:xfrm>
            <a:prstGeom prst="bentConnector3">
              <a:avLst>
                <a:gd name="adj1" fmla="val 5065976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Elbow Connector 123">
              <a:extLst>
                <a:ext uri="{FF2B5EF4-FFF2-40B4-BE49-F238E27FC236}">
                  <a16:creationId xmlns:a16="http://schemas.microsoft.com/office/drawing/2014/main" id="{1A57A054-3F0A-313B-4889-8A62A55BE057}"/>
                </a:ext>
              </a:extLst>
            </p:cNvPr>
            <p:cNvCxnSpPr>
              <a:stCxn id="33" idx="0"/>
              <a:endCxn id="99" idx="2"/>
            </p:cNvCxnSpPr>
            <p:nvPr/>
          </p:nvCxnSpPr>
          <p:spPr>
            <a:xfrm rot="5400000" flipH="1" flipV="1">
              <a:off x="8131953" y="-1305169"/>
              <a:ext cx="43279" cy="6562021"/>
            </a:xfrm>
            <a:prstGeom prst="bentConnector3">
              <a:avLst>
                <a:gd name="adj1" fmla="val 2151134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4828A13-0ABB-4092-4FE7-E2461035A995}"/>
                </a:ext>
              </a:extLst>
            </p:cNvPr>
            <p:cNvSpPr txBox="1"/>
            <p:nvPr/>
          </p:nvSpPr>
          <p:spPr>
            <a:xfrm>
              <a:off x="6916941" y="669035"/>
              <a:ext cx="31312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Slower progression rate if SVR</a:t>
              </a:r>
            </a:p>
          </p:txBody>
        </p: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5BCA5D06-19FA-9CCA-BCE2-4FC84B9D4434}"/>
              </a:ext>
            </a:extLst>
          </p:cNvPr>
          <p:cNvSpPr txBox="1"/>
          <p:nvPr/>
        </p:nvSpPr>
        <p:spPr>
          <a:xfrm>
            <a:off x="154382" y="226319"/>
            <a:ext cx="6315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HCV transmission dynamics for PWID</a:t>
            </a:r>
          </a:p>
        </p:txBody>
      </p:sp>
    </p:spTree>
    <p:extLst>
      <p:ext uri="{BB962C8B-B14F-4D97-AF65-F5344CB8AC3E}">
        <p14:creationId xmlns:p14="http://schemas.microsoft.com/office/powerpoint/2010/main" val="3200166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253337-2A5D-0A43-89AA-03B7013F6D49}"/>
              </a:ext>
            </a:extLst>
          </p:cNvPr>
          <p:cNvSpPr txBox="1"/>
          <p:nvPr/>
        </p:nvSpPr>
        <p:spPr>
          <a:xfrm>
            <a:off x="0" y="2457569"/>
            <a:ext cx="1232760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Drug abusers inflow age group distribution + absolute figure -&gt; don’t know</a:t>
            </a:r>
          </a:p>
          <a:p>
            <a:r>
              <a:rPr lang="en-US" dirty="0"/>
              <a:t>2. Lack HCC-specific SVR rates incurred by SOF/VEL</a:t>
            </a:r>
          </a:p>
          <a:p>
            <a:r>
              <a:rPr lang="en-US" dirty="0"/>
              <a:t>3. Don’t know proportion of taking RBV in DC</a:t>
            </a:r>
          </a:p>
          <a:p>
            <a:r>
              <a:rPr lang="en-US" dirty="0"/>
              <a:t>4. Should we split HCC into several stages (active + inactive)? And also add liver transplantation? </a:t>
            </a:r>
          </a:p>
          <a:p>
            <a:r>
              <a:rPr lang="en-US" dirty="0"/>
              <a:t>5. Genotype distribution</a:t>
            </a:r>
          </a:p>
          <a:p>
            <a:r>
              <a:rPr lang="en-US" dirty="0"/>
              <a:t>6. Opioid Substitution Therapy (OST) and Needle and Syringe </a:t>
            </a:r>
            <a:r>
              <a:rPr lang="en-US" dirty="0" err="1"/>
              <a:t>Programmes</a:t>
            </a:r>
            <a:r>
              <a:rPr lang="en-US" dirty="0"/>
              <a:t> (NSPs) -&gt; only in some correctional facilities now</a:t>
            </a:r>
          </a:p>
        </p:txBody>
      </p:sp>
    </p:spTree>
    <p:extLst>
      <p:ext uri="{BB962C8B-B14F-4D97-AF65-F5344CB8AC3E}">
        <p14:creationId xmlns:p14="http://schemas.microsoft.com/office/powerpoint/2010/main" val="943708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208</Words>
  <Application>Microsoft Macintosh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 Yichen</dc:creator>
  <cp:lastModifiedBy>He Yichen</cp:lastModifiedBy>
  <cp:revision>2</cp:revision>
  <dcterms:created xsi:type="dcterms:W3CDTF">2026-04-14T05:33:56Z</dcterms:created>
  <dcterms:modified xsi:type="dcterms:W3CDTF">2026-04-23T03:52:06Z</dcterms:modified>
</cp:coreProperties>
</file>