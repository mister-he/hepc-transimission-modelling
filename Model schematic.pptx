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38"/>
    <p:restoredTop sz="97823"/>
  </p:normalViewPr>
  <p:slideViewPr>
    <p:cSldViewPr snapToGrid="0">
      <p:cViewPr varScale="1">
        <p:scale>
          <a:sx n="223" d="100"/>
          <a:sy n="223" d="100"/>
        </p:scale>
        <p:origin x="192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1EDD4-0C1B-F208-9587-009DEFD0C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96C5E8-C0D4-EAB6-FC96-B99ACB14F6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90C64-F3C5-4007-17EE-C81612265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D6CCD-50EB-0843-8C90-55A06B658EEA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589BD-BF3B-246F-F221-6C797ED1B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DF304-932E-45BB-3258-7E5B06D49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5C215-1180-C844-BE2C-A36A0A49D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187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2AF20-FC3D-3AE9-7EF6-29C0C8CD4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93F88-99D6-A118-3B55-735F0982C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8DD9F-75A3-E70B-519C-FADCC7C5E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D6CCD-50EB-0843-8C90-55A06B658EEA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B8F97-2451-452F-408D-769B78812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468CE-1343-020B-DB65-6D38DB3B5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5C215-1180-C844-BE2C-A36A0A49D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537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5CC00-90FD-C5CA-B854-E8CC9080D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A8E058-CF29-ED07-015E-032DDDE56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B4B8A-0A0A-537C-4D3A-CD60AD00B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D6CCD-50EB-0843-8C90-55A06B658EEA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476D2-DFEA-83B3-CF9D-963578520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C1865-2CE6-B308-72D6-D6B09FDE0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5C215-1180-C844-BE2C-A36A0A49D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922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6C0B5-6197-9537-7CFD-F711A41A1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E34BF-45DC-D824-A2AA-C1708B3A5D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5A2D7D-53C5-0584-CB88-4C2C924383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36D846-FD75-B165-F5AA-4F7DBA196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D6CCD-50EB-0843-8C90-55A06B658EEA}" type="datetimeFigureOut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64368-8569-41A3-CC1B-2EB16B8BE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7F04D3-52F1-C9B0-B8B9-31FA233AC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5C215-1180-C844-BE2C-A36A0A49D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813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D16E7-07A6-07B0-D68E-C698F062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183881-5B70-3581-74F3-76DF8668E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0BE583-0842-6F3F-6E6D-BF7D53B495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0A5369-71E4-D49C-8FD6-0594B56038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682C7F-12E2-48A0-9C92-1B0B08528D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609D73-8314-1B9D-9988-1D0BA9C11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D6CCD-50EB-0843-8C90-55A06B658EEA}" type="datetimeFigureOut">
              <a:rPr lang="en-US" smtClean="0"/>
              <a:t>8/28/26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E112B4-42FE-56AC-6FF5-D62FF4574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8570-C160-1886-6487-219609903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5C215-1180-C844-BE2C-A36A0A49D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508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95B32-820E-4097-EA4C-8A3474F99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6EC8D5-D24C-BBB8-08B1-D80EDB56D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D6CCD-50EB-0843-8C90-55A06B658EEA}" type="datetimeFigureOut">
              <a:rPr lang="en-US" smtClean="0"/>
              <a:t>8/28/26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7BF5AB-FF44-3120-022B-AD54EA4E1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1CADBE-A6C1-CBD5-E782-C64F590A5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5C215-1180-C844-BE2C-A36A0A49D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073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170893-2252-FFD6-B159-4074FB04D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D6CCD-50EB-0843-8C90-55A06B658EEA}" type="datetimeFigureOut">
              <a:rPr lang="en-US" smtClean="0"/>
              <a:t>8/28/26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3AC1C2-E0CC-7190-8074-8625A57B0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A62917-2266-0574-5916-184F4A877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5C215-1180-C844-BE2C-A36A0A49D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91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A6068-612D-2DC2-01EC-4B3D17009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CC35E-9031-884E-2D3B-92076577F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F1AE16-C9F3-0768-B447-53A59B5BE1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0B2AD7-AEC7-29BA-94A9-AC484D527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D6CCD-50EB-0843-8C90-55A06B658EEA}" type="datetimeFigureOut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9085EE-0817-CBC7-D084-617264D2B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031474-62C6-5ECE-20BC-6741E590F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5C215-1180-C844-BE2C-A36A0A49D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975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77EDB-7C03-D89B-8DBC-772EA3E12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303D7E-90DA-7628-DA9E-C5B2200D33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336241-490B-BC48-F719-FE2975A515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14D8E0-7573-BC47-D449-845FAE388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D6CCD-50EB-0843-8C90-55A06B658EEA}" type="datetimeFigureOut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66FA64-4E74-BF2C-5B57-93FF17C00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4B389D-3425-CC89-CE0B-700D0646A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5C215-1180-C844-BE2C-A36A0A49D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463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91703-B0FD-E721-0D3B-9C0324957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3BF690-4C99-6865-83DC-8286843A8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2E50A-F731-35EF-838A-0D566E60E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D6CCD-50EB-0843-8C90-55A06B658EEA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E0E34-59CB-7ED3-6946-E1E387CF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B9F96-3698-6CC1-EA2B-2F8EC5660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5C215-1180-C844-BE2C-A36A0A49D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457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1F3DED-F8AF-B9E6-1C00-136191AB0F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A2D782-271D-EB4A-F503-F9ED835BE8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EA5D7-24C5-1D1A-3466-AAAD1F3E6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D6CCD-50EB-0843-8C90-55A06B658EEA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6B966-6AFE-3F8A-9766-CC93A1AF5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C2FEA-0AA4-20BD-2709-8B1EFF482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5C215-1180-C844-BE2C-A36A0A49D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802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DAB9C1-42B3-9FE9-C449-D7382622B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51185-5A92-EA18-DFB1-63A5C3841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3CF2A-8165-BF1C-39FD-75D2AB1926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CD6CCD-50EB-0843-8C90-55A06B658EEA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8C61E-B353-9C92-B928-B77A1290E7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965C7-3DAB-CF59-DB9A-43AC1F59E4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95C215-1180-C844-BE2C-A36A0A49D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578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>
            <a:extLst>
              <a:ext uri="{FF2B5EF4-FFF2-40B4-BE49-F238E27FC236}">
                <a16:creationId xmlns:a16="http://schemas.microsoft.com/office/drawing/2014/main" id="{1A7A4915-91AE-B290-8566-B5E8330B2316}"/>
              </a:ext>
            </a:extLst>
          </p:cNvPr>
          <p:cNvSpPr txBox="1"/>
          <p:nvPr/>
        </p:nvSpPr>
        <p:spPr>
          <a:xfrm>
            <a:off x="1930341" y="551441"/>
            <a:ext cx="29388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Incarceration dynamics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A9343D-C0C3-CEA6-25FC-FE5C6314916E}"/>
              </a:ext>
            </a:extLst>
          </p:cNvPr>
          <p:cNvSpPr txBox="1"/>
          <p:nvPr/>
        </p:nvSpPr>
        <p:spPr>
          <a:xfrm>
            <a:off x="6818879" y="555026"/>
            <a:ext cx="45670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HCV transmission dynamics for PWID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EA3E0A-575A-3D2A-F08A-D85697F47EBF}"/>
              </a:ext>
            </a:extLst>
          </p:cNvPr>
          <p:cNvSpPr txBox="1"/>
          <p:nvPr/>
        </p:nvSpPr>
        <p:spPr>
          <a:xfrm>
            <a:off x="4520216" y="4357401"/>
            <a:ext cx="31515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Liver disease progression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43503F6-D4F8-E837-9DE0-4A53E598C1DA}"/>
              </a:ext>
            </a:extLst>
          </p:cNvPr>
          <p:cNvGrpSpPr/>
          <p:nvPr/>
        </p:nvGrpSpPr>
        <p:grpSpPr>
          <a:xfrm>
            <a:off x="323101" y="5172746"/>
            <a:ext cx="11213111" cy="601347"/>
            <a:chOff x="242011" y="2431357"/>
            <a:chExt cx="11213111" cy="601347"/>
          </a:xfrm>
        </p:grpSpPr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05B3D97F-CA06-D52E-2F06-CB2AF7E48FF9}"/>
                </a:ext>
              </a:extLst>
            </p:cNvPr>
            <p:cNvSpPr/>
            <p:nvPr/>
          </p:nvSpPr>
          <p:spPr>
            <a:xfrm>
              <a:off x="242011" y="2437706"/>
              <a:ext cx="2195226" cy="59499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Non-Cirrhosis (NC)</a:t>
              </a:r>
            </a:p>
          </p:txBody>
        </p: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5831B9D4-5FE6-83C2-40C5-02502F512605}"/>
                </a:ext>
              </a:extLst>
            </p:cNvPr>
            <p:cNvSpPr/>
            <p:nvPr/>
          </p:nvSpPr>
          <p:spPr>
            <a:xfrm>
              <a:off x="3247973" y="2437706"/>
              <a:ext cx="2195226" cy="59499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Compensated Cirrhosis (CC)</a:t>
              </a:r>
            </a:p>
          </p:txBody>
        </p:sp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1077FA6D-8C49-4348-A870-91516F3B8983}"/>
                </a:ext>
              </a:extLst>
            </p:cNvPr>
            <p:cNvSpPr/>
            <p:nvPr/>
          </p:nvSpPr>
          <p:spPr>
            <a:xfrm>
              <a:off x="6253935" y="2437706"/>
              <a:ext cx="2195226" cy="59499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Decompensated Cirrhosis (DC)</a:t>
              </a: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CE5D6A7B-C6B2-406E-BA62-FE4216F8AED6}"/>
                </a:ext>
              </a:extLst>
            </p:cNvPr>
            <p:cNvSpPr/>
            <p:nvPr/>
          </p:nvSpPr>
          <p:spPr>
            <a:xfrm>
              <a:off x="9259896" y="2437706"/>
              <a:ext cx="2195226" cy="59499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Hepatocellular Carcinoma (HCC)</a:t>
              </a:r>
            </a:p>
          </p:txBody>
        </p:sp>
        <p:cxnSp>
          <p:nvCxnSpPr>
            <p:cNvPr id="29" name="Elbow Connector 28">
              <a:extLst>
                <a:ext uri="{FF2B5EF4-FFF2-40B4-BE49-F238E27FC236}">
                  <a16:creationId xmlns:a16="http://schemas.microsoft.com/office/drawing/2014/main" id="{2CA958DD-313B-96E5-43C3-7A5A8C6BC80E}"/>
                </a:ext>
              </a:extLst>
            </p:cNvPr>
            <p:cNvCxnSpPr>
              <a:cxnSpLocks/>
              <a:stCxn id="26" idx="0"/>
              <a:endCxn id="28" idx="0"/>
            </p:cNvCxnSpPr>
            <p:nvPr/>
          </p:nvCxnSpPr>
          <p:spPr>
            <a:xfrm rot="5400000" flipH="1" flipV="1">
              <a:off x="7351547" y="-568255"/>
              <a:ext cx="12700" cy="6011923"/>
            </a:xfrm>
            <a:prstGeom prst="bentConnector3">
              <a:avLst>
                <a:gd name="adj1" fmla="val 1800000"/>
              </a:avLst>
            </a:prstGeom>
            <a:ln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786248E0-35F9-4438-CE3F-4D578DED2FD1}"/>
                </a:ext>
              </a:extLst>
            </p:cNvPr>
            <p:cNvCxnSpPr>
              <a:stCxn id="25" idx="3"/>
              <a:endCxn id="26" idx="1"/>
            </p:cNvCxnSpPr>
            <p:nvPr/>
          </p:nvCxnSpPr>
          <p:spPr>
            <a:xfrm>
              <a:off x="2437237" y="2735205"/>
              <a:ext cx="81073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1786ACE1-B0D6-D41B-0BE4-CEC898B78AA9}"/>
                </a:ext>
              </a:extLst>
            </p:cNvPr>
            <p:cNvCxnSpPr>
              <a:cxnSpLocks/>
              <a:stCxn id="26" idx="3"/>
              <a:endCxn id="27" idx="1"/>
            </p:cNvCxnSpPr>
            <p:nvPr/>
          </p:nvCxnSpPr>
          <p:spPr>
            <a:xfrm>
              <a:off x="5443199" y="2735205"/>
              <a:ext cx="81073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591F550D-AFED-2E9D-E2E5-4C83B53D378E}"/>
                </a:ext>
              </a:extLst>
            </p:cNvPr>
            <p:cNvCxnSpPr>
              <a:cxnSpLocks/>
              <a:stCxn id="27" idx="3"/>
              <a:endCxn id="28" idx="1"/>
            </p:cNvCxnSpPr>
            <p:nvPr/>
          </p:nvCxnSpPr>
          <p:spPr>
            <a:xfrm>
              <a:off x="8449161" y="2735205"/>
              <a:ext cx="81073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0" name="Curved Connector 69">
            <a:extLst>
              <a:ext uri="{FF2B5EF4-FFF2-40B4-BE49-F238E27FC236}">
                <a16:creationId xmlns:a16="http://schemas.microsoft.com/office/drawing/2014/main" id="{2DA06626-387C-09E3-BA3A-B012FFDB05DE}"/>
              </a:ext>
            </a:extLst>
          </p:cNvPr>
          <p:cNvCxnSpPr>
            <a:cxnSpLocks/>
          </p:cNvCxnSpPr>
          <p:nvPr/>
        </p:nvCxnSpPr>
        <p:spPr>
          <a:xfrm rot="16200000" flipH="1">
            <a:off x="7459291" y="5746335"/>
            <a:ext cx="273788" cy="339422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5D409464-2C46-8B96-26B0-D88D7D9238E1}"/>
                  </a:ext>
                </a:extLst>
              </p:cNvPr>
              <p:cNvSpPr txBox="1"/>
              <p:nvPr/>
            </p:nvSpPr>
            <p:spPr>
              <a:xfrm>
                <a:off x="7685178" y="5863215"/>
                <a:ext cx="9853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𝐷𝐶</m:t>
                          </m:r>
                        </m:sub>
                      </m:sSub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5D409464-2C46-8B96-26B0-D88D7D9238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5178" y="5863215"/>
                <a:ext cx="985309" cy="369332"/>
              </a:xfrm>
              <a:prstGeom prst="rect">
                <a:avLst/>
              </a:prstGeom>
              <a:blipFill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Curved Connector 71">
            <a:extLst>
              <a:ext uri="{FF2B5EF4-FFF2-40B4-BE49-F238E27FC236}">
                <a16:creationId xmlns:a16="http://schemas.microsoft.com/office/drawing/2014/main" id="{CF7AC566-439B-0BEA-4CAF-8263A3EF9023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478673" y="5741276"/>
            <a:ext cx="273788" cy="339422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783980BE-DBC6-5F49-2385-8CA6FA4FF44E}"/>
                  </a:ext>
                </a:extLst>
              </p:cNvPr>
              <p:cNvSpPr txBox="1"/>
              <p:nvPr/>
            </p:nvSpPr>
            <p:spPr>
              <a:xfrm>
                <a:off x="10704560" y="5858156"/>
                <a:ext cx="10721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𝐻𝐶𝐶</m:t>
                          </m:r>
                        </m:sub>
                      </m:sSub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783980BE-DBC6-5F49-2385-8CA6FA4FF4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4560" y="5858156"/>
                <a:ext cx="1072108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2" name="Group 111">
            <a:extLst>
              <a:ext uri="{FF2B5EF4-FFF2-40B4-BE49-F238E27FC236}">
                <a16:creationId xmlns:a16="http://schemas.microsoft.com/office/drawing/2014/main" id="{26943030-4BAD-C002-0641-09328B95D2D4}"/>
              </a:ext>
            </a:extLst>
          </p:cNvPr>
          <p:cNvGrpSpPr/>
          <p:nvPr/>
        </p:nvGrpSpPr>
        <p:grpSpPr>
          <a:xfrm>
            <a:off x="154382" y="968410"/>
            <a:ext cx="6190382" cy="2944820"/>
            <a:chOff x="154382" y="968410"/>
            <a:chExt cx="6190382" cy="2944820"/>
          </a:xfrm>
        </p:grpSpPr>
        <p:cxnSp>
          <p:nvCxnSpPr>
            <p:cNvPr id="83" name="Curved Connector 82">
              <a:extLst>
                <a:ext uri="{FF2B5EF4-FFF2-40B4-BE49-F238E27FC236}">
                  <a16:creationId xmlns:a16="http://schemas.microsoft.com/office/drawing/2014/main" id="{1DB73787-2376-5F12-7D77-16B3C162A491}"/>
                </a:ext>
              </a:extLst>
            </p:cNvPr>
            <p:cNvCxnSpPr>
              <a:stCxn id="7" idx="0"/>
              <a:endCxn id="6" idx="0"/>
            </p:cNvCxnSpPr>
            <p:nvPr/>
          </p:nvCxnSpPr>
          <p:spPr>
            <a:xfrm rot="16200000" flipV="1">
              <a:off x="4439439" y="476844"/>
              <a:ext cx="12700" cy="2379731"/>
            </a:xfrm>
            <a:prstGeom prst="curvedConnector3">
              <a:avLst>
                <a:gd name="adj1" fmla="val 2860118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FD653E7B-EDD0-77AE-51CE-8AA6112E426E}"/>
                </a:ext>
              </a:extLst>
            </p:cNvPr>
            <p:cNvSpPr/>
            <p:nvPr/>
          </p:nvSpPr>
          <p:spPr>
            <a:xfrm>
              <a:off x="154382" y="1666710"/>
              <a:ext cx="1430921" cy="932566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Never Incarcerated PWID (D)</a:t>
              </a: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819844E7-9540-E3AC-BF93-3910B9C71C1B}"/>
                </a:ext>
              </a:extLst>
            </p:cNvPr>
            <p:cNvSpPr/>
            <p:nvPr/>
          </p:nvSpPr>
          <p:spPr>
            <a:xfrm>
              <a:off x="2534112" y="1666710"/>
              <a:ext cx="1430921" cy="932566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Currently Incarcerated Ex-PWID (J)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041BFD32-1EFE-6BC5-FF1F-6A4D9B19CCF2}"/>
                </a:ext>
              </a:extLst>
            </p:cNvPr>
            <p:cNvSpPr/>
            <p:nvPr/>
          </p:nvSpPr>
          <p:spPr>
            <a:xfrm>
              <a:off x="4913843" y="1666710"/>
              <a:ext cx="1430921" cy="932566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Formerly Incarcerated PWID (F)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FCA5B2CD-C485-3480-BC8E-46542ED96A56}"/>
                </a:ext>
              </a:extLst>
            </p:cNvPr>
            <p:cNvSpPr/>
            <p:nvPr/>
          </p:nvSpPr>
          <p:spPr>
            <a:xfrm>
              <a:off x="4913843" y="2980664"/>
              <a:ext cx="1430921" cy="932566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Ex-PWID (X)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A8A19BD-FD31-2903-FC14-E9F33F686746}"/>
                </a:ext>
              </a:extLst>
            </p:cNvPr>
            <p:cNvCxnSpPr>
              <a:cxnSpLocks/>
              <a:stCxn id="5" idx="3"/>
              <a:endCxn id="6" idx="1"/>
            </p:cNvCxnSpPr>
            <p:nvPr/>
          </p:nvCxnSpPr>
          <p:spPr>
            <a:xfrm>
              <a:off x="1585303" y="2132993"/>
              <a:ext cx="94880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79607AF-73EA-1DCF-9A03-259F107FFF77}"/>
                </a:ext>
              </a:extLst>
            </p:cNvPr>
            <p:cNvCxnSpPr>
              <a:cxnSpLocks/>
              <a:stCxn id="6" idx="3"/>
              <a:endCxn id="7" idx="1"/>
            </p:cNvCxnSpPr>
            <p:nvPr/>
          </p:nvCxnSpPr>
          <p:spPr>
            <a:xfrm>
              <a:off x="3965033" y="2132993"/>
              <a:ext cx="94881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38D6D77E-E583-1156-DC1E-D29B1E76AA43}"/>
                </a:ext>
              </a:extLst>
            </p:cNvPr>
            <p:cNvCxnSpPr>
              <a:cxnSpLocks/>
            </p:cNvCxnSpPr>
            <p:nvPr/>
          </p:nvCxnSpPr>
          <p:spPr>
            <a:xfrm>
              <a:off x="869842" y="1433547"/>
              <a:ext cx="1183" cy="22009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D4F78712-9DC4-F586-F7C7-D31B31234499}"/>
                    </a:ext>
                  </a:extLst>
                </p:cNvPr>
                <p:cNvSpPr txBox="1"/>
                <p:nvPr/>
              </p:nvSpPr>
              <p:spPr>
                <a:xfrm>
                  <a:off x="377187" y="1087508"/>
                  <a:ext cx="98530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CN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D4F78712-9DC4-F586-F7C7-D31B312344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187" y="1087508"/>
                  <a:ext cx="985309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0FB207EF-8F19-3523-03C3-4C657BA3BDC7}"/>
                    </a:ext>
                  </a:extLst>
                </p:cNvPr>
                <p:cNvSpPr txBox="1"/>
                <p:nvPr/>
              </p:nvSpPr>
              <p:spPr>
                <a:xfrm>
                  <a:off x="1642142" y="1753209"/>
                  <a:ext cx="985309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CN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0FB207EF-8F19-3523-03C3-4C657BA3BD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2142" y="1753209"/>
                  <a:ext cx="985309" cy="38151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07AAB73D-E575-EEAD-AC8C-92897F1CB8AB}"/>
                    </a:ext>
                  </a:extLst>
                </p:cNvPr>
                <p:cNvSpPr txBox="1"/>
                <p:nvPr/>
              </p:nvSpPr>
              <p:spPr>
                <a:xfrm>
                  <a:off x="3953134" y="968410"/>
                  <a:ext cx="985309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CN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07AAB73D-E575-EEAD-AC8C-92897F1CB8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3134" y="968410"/>
                  <a:ext cx="985309" cy="38151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F5F14229-A059-AC4C-06D0-FE6C95D92B41}"/>
                </a:ext>
              </a:extLst>
            </p:cNvPr>
            <p:cNvCxnSpPr>
              <a:cxnSpLocks/>
              <a:stCxn id="6" idx="3"/>
              <a:endCxn id="10" idx="1"/>
            </p:cNvCxnSpPr>
            <p:nvPr/>
          </p:nvCxnSpPr>
          <p:spPr>
            <a:xfrm>
              <a:off x="3965033" y="2132993"/>
              <a:ext cx="948810" cy="131395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DCEF069B-014F-43AF-9D39-A008838BD8C0}"/>
                    </a:ext>
                  </a:extLst>
                </p:cNvPr>
                <p:cNvSpPr txBox="1"/>
                <p:nvPr/>
              </p:nvSpPr>
              <p:spPr>
                <a:xfrm>
                  <a:off x="3946784" y="1794096"/>
                  <a:ext cx="985309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CN" dirty="0"/>
                </a:p>
              </p:txBody>
            </p:sp>
          </mc:Choice>
          <mc:Fallback xmlns="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DCEF069B-014F-43AF-9D39-A008838BD8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46784" y="1794096"/>
                  <a:ext cx="985309" cy="38151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4D356928-7A48-C9D7-F363-9272160B918D}"/>
                    </a:ext>
                  </a:extLst>
                </p:cNvPr>
                <p:cNvSpPr txBox="1"/>
                <p:nvPr/>
              </p:nvSpPr>
              <p:spPr>
                <a:xfrm rot="3219132">
                  <a:off x="3774883" y="2616136"/>
                  <a:ext cx="985309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CN" dirty="0"/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4D356928-7A48-C9D7-F363-9272160B91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3219132">
                  <a:off x="3774883" y="2616136"/>
                  <a:ext cx="985309" cy="381515"/>
                </a:xfrm>
                <a:prstGeom prst="rect">
                  <a:avLst/>
                </a:prstGeom>
                <a:blipFill>
                  <a:blip r:embed="rId8"/>
                  <a:stretch>
                    <a:fillRect l="-4167" r="-2778" b="-195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C1C54AFF-4678-A2D9-3CFC-ADCA1CFA199E}"/>
              </a:ext>
            </a:extLst>
          </p:cNvPr>
          <p:cNvGrpSpPr/>
          <p:nvPr/>
        </p:nvGrpSpPr>
        <p:grpSpPr>
          <a:xfrm>
            <a:off x="7261640" y="1171936"/>
            <a:ext cx="4023360" cy="2507194"/>
            <a:chOff x="7261640" y="1171936"/>
            <a:chExt cx="4023360" cy="2507194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7E225726-A6F1-6D67-BCB6-C499E3EA06A9}"/>
                </a:ext>
              </a:extLst>
            </p:cNvPr>
            <p:cNvSpPr/>
            <p:nvPr/>
          </p:nvSpPr>
          <p:spPr>
            <a:xfrm>
              <a:off x="8359332" y="1171936"/>
              <a:ext cx="1840781" cy="52322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Susceptible (U)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FE0E9AE-8B3B-4B64-9E86-979260D9A7C4}"/>
                </a:ext>
              </a:extLst>
            </p:cNvPr>
            <p:cNvCxnSpPr>
              <a:cxnSpLocks/>
            </p:cNvCxnSpPr>
            <p:nvPr/>
          </p:nvCxnSpPr>
          <p:spPr>
            <a:xfrm>
              <a:off x="8881499" y="1695158"/>
              <a:ext cx="0" cy="45292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671973AD-3B69-E60E-92E7-411987B1CFD8}"/>
                </a:ext>
              </a:extLst>
            </p:cNvPr>
            <p:cNvSpPr/>
            <p:nvPr/>
          </p:nvSpPr>
          <p:spPr>
            <a:xfrm>
              <a:off x="8359331" y="3155908"/>
              <a:ext cx="1840781" cy="52322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Chronic infection (C)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B29284CE-0C23-7E3C-4C55-21EA2100AB28}"/>
                </a:ext>
              </a:extLst>
            </p:cNvPr>
            <p:cNvSpPr/>
            <p:nvPr/>
          </p:nvSpPr>
          <p:spPr>
            <a:xfrm>
              <a:off x="7261640" y="2159337"/>
              <a:ext cx="1840781" cy="52322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Acute infection (A)</a:t>
              </a: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C6DBEC1D-AC46-9640-0B7E-5A00B469A63A}"/>
                </a:ext>
              </a:extLst>
            </p:cNvPr>
            <p:cNvSpPr/>
            <p:nvPr/>
          </p:nvSpPr>
          <p:spPr>
            <a:xfrm>
              <a:off x="9444219" y="2159337"/>
              <a:ext cx="1840781" cy="52322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Treatment (T)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4E83AFE-8E72-B66F-FF9E-75B77009C1F7}"/>
                </a:ext>
              </a:extLst>
            </p:cNvPr>
            <p:cNvCxnSpPr>
              <a:cxnSpLocks/>
            </p:cNvCxnSpPr>
            <p:nvPr/>
          </p:nvCxnSpPr>
          <p:spPr>
            <a:xfrm>
              <a:off x="8881499" y="2682559"/>
              <a:ext cx="0" cy="45292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44DC0C02-EC2B-7159-5548-73B4ED77A98C}"/>
                </a:ext>
              </a:extLst>
            </p:cNvPr>
            <p:cNvCxnSpPr/>
            <p:nvPr/>
          </p:nvCxnSpPr>
          <p:spPr>
            <a:xfrm flipV="1">
              <a:off x="9650869" y="2676250"/>
              <a:ext cx="0" cy="45869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F47FB46-22DA-3D6F-2D57-A85F37862FF1}"/>
                </a:ext>
              </a:extLst>
            </p:cNvPr>
            <p:cNvCxnSpPr/>
            <p:nvPr/>
          </p:nvCxnSpPr>
          <p:spPr>
            <a:xfrm flipV="1">
              <a:off x="9642313" y="1689390"/>
              <a:ext cx="0" cy="45869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Curved Connector 96">
              <a:extLst>
                <a:ext uri="{FF2B5EF4-FFF2-40B4-BE49-F238E27FC236}">
                  <a16:creationId xmlns:a16="http://schemas.microsoft.com/office/drawing/2014/main" id="{4F00687E-D2BE-7CFF-FA3C-7659BE177EAC}"/>
                </a:ext>
              </a:extLst>
            </p:cNvPr>
            <p:cNvCxnSpPr>
              <a:stCxn id="11" idx="0"/>
              <a:endCxn id="4" idx="1"/>
            </p:cNvCxnSpPr>
            <p:nvPr/>
          </p:nvCxnSpPr>
          <p:spPr>
            <a:xfrm rot="5400000" flipH="1" flipV="1">
              <a:off x="7907786" y="1707792"/>
              <a:ext cx="725790" cy="177301"/>
            </a:xfrm>
            <a:prstGeom prst="curved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Curved Connector 107">
              <a:extLst>
                <a:ext uri="{FF2B5EF4-FFF2-40B4-BE49-F238E27FC236}">
                  <a16:creationId xmlns:a16="http://schemas.microsoft.com/office/drawing/2014/main" id="{71E75BA4-CBD8-E30A-6ABB-6C2F5CE8ECEC}"/>
                </a:ext>
              </a:extLst>
            </p:cNvPr>
            <p:cNvCxnSpPr>
              <a:cxnSpLocks/>
              <a:stCxn id="14" idx="2"/>
              <a:endCxn id="9" idx="3"/>
            </p:cNvCxnSpPr>
            <p:nvPr/>
          </p:nvCxnSpPr>
          <p:spPr>
            <a:xfrm rot="5400000">
              <a:off x="9914881" y="2967790"/>
              <a:ext cx="734960" cy="164498"/>
            </a:xfrm>
            <a:prstGeom prst="curved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42779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Box 129">
            <a:extLst>
              <a:ext uri="{FF2B5EF4-FFF2-40B4-BE49-F238E27FC236}">
                <a16:creationId xmlns:a16="http://schemas.microsoft.com/office/drawing/2014/main" id="{5BCA5D06-19FA-9CCA-BCE2-4FC84B9D4434}"/>
              </a:ext>
            </a:extLst>
          </p:cNvPr>
          <p:cNvSpPr txBox="1"/>
          <p:nvPr/>
        </p:nvSpPr>
        <p:spPr>
          <a:xfrm>
            <a:off x="154382" y="226319"/>
            <a:ext cx="43376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Liver disease progression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80DA124-A9B3-A6E9-724D-E3E1FD7A6576}"/>
              </a:ext>
            </a:extLst>
          </p:cNvPr>
          <p:cNvGrpSpPr/>
          <p:nvPr/>
        </p:nvGrpSpPr>
        <p:grpSpPr>
          <a:xfrm>
            <a:off x="242011" y="2437706"/>
            <a:ext cx="11213111" cy="594998"/>
            <a:chOff x="242011" y="2437706"/>
            <a:chExt cx="11213111" cy="594998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8A7D14F2-D565-2A11-B71F-9D9BA73B7361}"/>
                </a:ext>
              </a:extLst>
            </p:cNvPr>
            <p:cNvSpPr/>
            <p:nvPr/>
          </p:nvSpPr>
          <p:spPr>
            <a:xfrm>
              <a:off x="242011" y="2437706"/>
              <a:ext cx="2195226" cy="59499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Non-Cirrhosis (NC)</a:t>
              </a:r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B289963A-7E31-1798-D7DF-ABD9CEDAF624}"/>
                </a:ext>
              </a:extLst>
            </p:cNvPr>
            <p:cNvSpPr/>
            <p:nvPr/>
          </p:nvSpPr>
          <p:spPr>
            <a:xfrm>
              <a:off x="3247973" y="2437706"/>
              <a:ext cx="2195226" cy="59499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Compensated Cirrhosis (CC)</a:t>
              </a:r>
            </a:p>
          </p:txBody>
        </p:sp>
        <p:sp>
          <p:nvSpPr>
            <p:cNvPr id="81" name="Rounded Rectangle 80">
              <a:extLst>
                <a:ext uri="{FF2B5EF4-FFF2-40B4-BE49-F238E27FC236}">
                  <a16:creationId xmlns:a16="http://schemas.microsoft.com/office/drawing/2014/main" id="{BE8A10DA-1FAF-E5AA-B826-A7334783703D}"/>
                </a:ext>
              </a:extLst>
            </p:cNvPr>
            <p:cNvSpPr/>
            <p:nvPr/>
          </p:nvSpPr>
          <p:spPr>
            <a:xfrm>
              <a:off x="6253935" y="2437706"/>
              <a:ext cx="2195226" cy="59499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Decompensated Cirrhosis (DC)</a:t>
              </a:r>
            </a:p>
          </p:txBody>
        </p:sp>
        <p:sp>
          <p:nvSpPr>
            <p:cNvPr id="98" name="Rounded Rectangle 97">
              <a:extLst>
                <a:ext uri="{FF2B5EF4-FFF2-40B4-BE49-F238E27FC236}">
                  <a16:creationId xmlns:a16="http://schemas.microsoft.com/office/drawing/2014/main" id="{96429BE9-1409-1C66-0270-AE8A37C7DFE1}"/>
                </a:ext>
              </a:extLst>
            </p:cNvPr>
            <p:cNvSpPr/>
            <p:nvPr/>
          </p:nvSpPr>
          <p:spPr>
            <a:xfrm>
              <a:off x="9259896" y="2437706"/>
              <a:ext cx="2195226" cy="59499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Hepatocellular Carcinoma (HCC)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B84FFF4F-F765-091F-0EFB-BEE4B36F201D}"/>
                </a:ext>
              </a:extLst>
            </p:cNvPr>
            <p:cNvCxnSpPr>
              <a:stCxn id="23" idx="3"/>
              <a:endCxn id="31" idx="1"/>
            </p:cNvCxnSpPr>
            <p:nvPr/>
          </p:nvCxnSpPr>
          <p:spPr>
            <a:xfrm>
              <a:off x="2437237" y="2735205"/>
              <a:ext cx="81073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85DBD92B-6220-10A9-D702-E72ABD684DAE}"/>
                </a:ext>
              </a:extLst>
            </p:cNvPr>
            <p:cNvCxnSpPr>
              <a:cxnSpLocks/>
              <a:stCxn id="31" idx="3"/>
              <a:endCxn id="81" idx="1"/>
            </p:cNvCxnSpPr>
            <p:nvPr/>
          </p:nvCxnSpPr>
          <p:spPr>
            <a:xfrm>
              <a:off x="5443199" y="2735205"/>
              <a:ext cx="81073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FECE1834-EA3D-9BC0-74E3-586110D3AC98}"/>
                </a:ext>
              </a:extLst>
            </p:cNvPr>
            <p:cNvCxnSpPr>
              <a:cxnSpLocks/>
              <a:stCxn id="81" idx="3"/>
              <a:endCxn id="98" idx="1"/>
            </p:cNvCxnSpPr>
            <p:nvPr/>
          </p:nvCxnSpPr>
          <p:spPr>
            <a:xfrm>
              <a:off x="8449161" y="2735205"/>
              <a:ext cx="81073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" name="Curved Connector 2">
            <a:extLst>
              <a:ext uri="{FF2B5EF4-FFF2-40B4-BE49-F238E27FC236}">
                <a16:creationId xmlns:a16="http://schemas.microsoft.com/office/drawing/2014/main" id="{B73A496E-BBF3-40F2-00A7-C18820F097D3}"/>
              </a:ext>
            </a:extLst>
          </p:cNvPr>
          <p:cNvCxnSpPr>
            <a:stCxn id="31" idx="0"/>
            <a:endCxn id="98" idx="0"/>
          </p:cNvCxnSpPr>
          <p:nvPr/>
        </p:nvCxnSpPr>
        <p:spPr>
          <a:xfrm rot="5400000" flipH="1" flipV="1">
            <a:off x="7351547" y="-568255"/>
            <a:ext cx="12700" cy="6011923"/>
          </a:xfrm>
          <a:prstGeom prst="curvedConnector3">
            <a:avLst>
              <a:gd name="adj1" fmla="val 343435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166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A1D3F-0077-DE11-0B34-3CD128416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Box 129">
            <a:extLst>
              <a:ext uri="{FF2B5EF4-FFF2-40B4-BE49-F238E27FC236}">
                <a16:creationId xmlns:a16="http://schemas.microsoft.com/office/drawing/2014/main" id="{4AA42CBE-6421-A896-08C2-67426F2904A5}"/>
              </a:ext>
            </a:extLst>
          </p:cNvPr>
          <p:cNvSpPr txBox="1"/>
          <p:nvPr/>
        </p:nvSpPr>
        <p:spPr>
          <a:xfrm>
            <a:off x="154382" y="226319"/>
            <a:ext cx="63155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HCV transmission dynamics for PWID</a:t>
            </a:r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3615AA44-A37A-0B05-226C-80BEC0861FBA}"/>
              </a:ext>
            </a:extLst>
          </p:cNvPr>
          <p:cNvGrpSpPr/>
          <p:nvPr/>
        </p:nvGrpSpPr>
        <p:grpSpPr>
          <a:xfrm>
            <a:off x="1357233" y="1387898"/>
            <a:ext cx="9766181" cy="1685010"/>
            <a:chOff x="1357233" y="1387898"/>
            <a:chExt cx="9766181" cy="1685010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A27920FA-AAEE-6639-1F69-5359DC207481}"/>
                </a:ext>
              </a:extLst>
            </p:cNvPr>
            <p:cNvSpPr/>
            <p:nvPr/>
          </p:nvSpPr>
          <p:spPr>
            <a:xfrm>
              <a:off x="1357233" y="1907562"/>
              <a:ext cx="1840781" cy="52322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Susceptible (U)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69994278-C636-A871-A99C-FCE84AA77D33}"/>
                </a:ext>
              </a:extLst>
            </p:cNvPr>
            <p:cNvSpPr/>
            <p:nvPr/>
          </p:nvSpPr>
          <p:spPr>
            <a:xfrm>
              <a:off x="6640833" y="1901212"/>
              <a:ext cx="1840781" cy="52322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Chronic infection (C)</a:t>
              </a: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DFA6E815-DAE5-8980-6597-ED06BD32C413}"/>
                </a:ext>
              </a:extLst>
            </p:cNvPr>
            <p:cNvSpPr/>
            <p:nvPr/>
          </p:nvSpPr>
          <p:spPr>
            <a:xfrm>
              <a:off x="3999033" y="1901212"/>
              <a:ext cx="1840781" cy="52322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Acute infection (A)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191CEACE-0D81-6832-99C5-D9DDD4042DF4}"/>
                </a:ext>
              </a:extLst>
            </p:cNvPr>
            <p:cNvCxnSpPr>
              <a:stCxn id="3" idx="3"/>
              <a:endCxn id="12" idx="1"/>
            </p:cNvCxnSpPr>
            <p:nvPr/>
          </p:nvCxnSpPr>
          <p:spPr>
            <a:xfrm flipV="1">
              <a:off x="3198014" y="2162823"/>
              <a:ext cx="801019" cy="63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020A7D3C-C808-6C1B-1542-5963EA28F9AF}"/>
                </a:ext>
              </a:extLst>
            </p:cNvPr>
            <p:cNvCxnSpPr>
              <a:cxnSpLocks/>
              <a:stCxn id="12" idx="3"/>
              <a:endCxn id="10" idx="1"/>
            </p:cNvCxnSpPr>
            <p:nvPr/>
          </p:nvCxnSpPr>
          <p:spPr>
            <a:xfrm>
              <a:off x="5839814" y="2162823"/>
              <a:ext cx="80101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Curved Connector 32">
              <a:extLst>
                <a:ext uri="{FF2B5EF4-FFF2-40B4-BE49-F238E27FC236}">
                  <a16:creationId xmlns:a16="http://schemas.microsoft.com/office/drawing/2014/main" id="{6A9C9D0F-DA25-CAA5-A813-8A37D5DF7B92}"/>
                </a:ext>
              </a:extLst>
            </p:cNvPr>
            <p:cNvCxnSpPr>
              <a:stCxn id="12" idx="0"/>
              <a:endCxn id="3" idx="0"/>
            </p:cNvCxnSpPr>
            <p:nvPr/>
          </p:nvCxnSpPr>
          <p:spPr>
            <a:xfrm rot="16200000" flipH="1" flipV="1">
              <a:off x="3595349" y="583487"/>
              <a:ext cx="6350" cy="2641800"/>
            </a:xfrm>
            <a:prstGeom prst="curvedConnector3">
              <a:avLst>
                <a:gd name="adj1" fmla="val -3600000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A9616304-83B5-E281-0BD2-6907640F6576}"/>
                </a:ext>
              </a:extLst>
            </p:cNvPr>
            <p:cNvSpPr/>
            <p:nvPr/>
          </p:nvSpPr>
          <p:spPr>
            <a:xfrm>
              <a:off x="9282633" y="1901212"/>
              <a:ext cx="1840781" cy="52322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Treatment (T)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50CD35B7-3197-5A0D-F68F-20F6D45D01F6}"/>
                    </a:ext>
                  </a:extLst>
                </p:cNvPr>
                <p:cNvSpPr txBox="1"/>
                <p:nvPr/>
              </p:nvSpPr>
              <p:spPr>
                <a:xfrm>
                  <a:off x="3105869" y="1852739"/>
                  <a:ext cx="985309" cy="3250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CN" sz="1400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50CD35B7-3197-5A0D-F68F-20F6D45D01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5869" y="1852739"/>
                  <a:ext cx="985309" cy="325089"/>
                </a:xfrm>
                <a:prstGeom prst="rect">
                  <a:avLst/>
                </a:prstGeom>
                <a:blipFill>
                  <a:blip r:embed="rId2"/>
                  <a:stretch>
                    <a:fillRect b="-37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AF2D1486-906C-CB7D-B7EC-F2AB40453B06}"/>
                </a:ext>
              </a:extLst>
            </p:cNvPr>
            <p:cNvCxnSpPr>
              <a:cxnSpLocks/>
              <a:stCxn id="10" idx="3"/>
              <a:endCxn id="50" idx="1"/>
            </p:cNvCxnSpPr>
            <p:nvPr/>
          </p:nvCxnSpPr>
          <p:spPr>
            <a:xfrm>
              <a:off x="8481614" y="2162823"/>
              <a:ext cx="80101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Curved Connector 54">
              <a:extLst>
                <a:ext uri="{FF2B5EF4-FFF2-40B4-BE49-F238E27FC236}">
                  <a16:creationId xmlns:a16="http://schemas.microsoft.com/office/drawing/2014/main" id="{2BCDA284-B036-E30F-41D2-D5EE9C93ACD8}"/>
                </a:ext>
              </a:extLst>
            </p:cNvPr>
            <p:cNvCxnSpPr>
              <a:cxnSpLocks/>
              <a:stCxn id="50" idx="2"/>
              <a:endCxn id="3" idx="2"/>
            </p:cNvCxnSpPr>
            <p:nvPr/>
          </p:nvCxnSpPr>
          <p:spPr>
            <a:xfrm rot="5400000">
              <a:off x="6237149" y="-1535091"/>
              <a:ext cx="6350" cy="7925400"/>
            </a:xfrm>
            <a:prstGeom prst="curvedConnector3">
              <a:avLst>
                <a:gd name="adj1" fmla="val 5378520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BCB02996-96D8-DC39-2F38-6C662B776582}"/>
                    </a:ext>
                  </a:extLst>
                </p:cNvPr>
                <p:cNvSpPr txBox="1"/>
                <p:nvPr/>
              </p:nvSpPr>
              <p:spPr>
                <a:xfrm>
                  <a:off x="3105868" y="1387898"/>
                  <a:ext cx="98530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𝜅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𝜄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CN" sz="1400" dirty="0"/>
                </a:p>
              </p:txBody>
            </p:sp>
          </mc:Choice>
          <mc:Fallback xmlns=""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BCB02996-96D8-DC39-2F38-6C662B7765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5868" y="1387898"/>
                  <a:ext cx="985309" cy="307777"/>
                </a:xfrm>
                <a:prstGeom prst="rect">
                  <a:avLst/>
                </a:prstGeom>
                <a:blipFill>
                  <a:blip r:embed="rId3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304378B9-03FF-2A55-17A5-4354AA102D55}"/>
                    </a:ext>
                  </a:extLst>
                </p:cNvPr>
                <p:cNvSpPr txBox="1"/>
                <p:nvPr/>
              </p:nvSpPr>
              <p:spPr>
                <a:xfrm>
                  <a:off x="5747668" y="1861396"/>
                  <a:ext cx="98530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𝜅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)/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𝜄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CN" sz="1400" dirty="0"/>
                </a:p>
              </p:txBody>
            </p:sp>
          </mc:Choice>
          <mc:Fallback xmlns="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304378B9-03FF-2A55-17A5-4354AA102D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47668" y="1861396"/>
                  <a:ext cx="985309" cy="307777"/>
                </a:xfrm>
                <a:prstGeom prst="rect">
                  <a:avLst/>
                </a:prstGeom>
                <a:blipFill>
                  <a:blip r:embed="rId4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07509EF8-CE86-2EE1-B376-5C8A59C880C8}"/>
                    </a:ext>
                  </a:extLst>
                </p:cNvPr>
                <p:cNvSpPr txBox="1"/>
                <p:nvPr/>
              </p:nvSpPr>
              <p:spPr>
                <a:xfrm>
                  <a:off x="5747668" y="2765131"/>
                  <a:ext cx="98530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1/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𝜄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CN" sz="1400" dirty="0"/>
                </a:p>
              </p:txBody>
            </p:sp>
          </mc:Choice>
          <mc:Fallback xmlns="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07509EF8-CE86-2EE1-B376-5C8A59C880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47668" y="2765131"/>
                  <a:ext cx="985309" cy="307777"/>
                </a:xfrm>
                <a:prstGeom prst="rect">
                  <a:avLst/>
                </a:prstGeom>
                <a:blipFill>
                  <a:blip r:embed="rId5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A03719DF-92F6-84C3-FB5E-0F7C492C21EB}"/>
                    </a:ext>
                  </a:extLst>
                </p:cNvPr>
                <p:cNvSpPr txBox="1"/>
                <p:nvPr/>
              </p:nvSpPr>
              <p:spPr>
                <a:xfrm>
                  <a:off x="8426866" y="1858210"/>
                  <a:ext cx="98530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en-CN" sz="1400" dirty="0"/>
                </a:p>
              </p:txBody>
            </p:sp>
          </mc:Choice>
          <mc:Fallback xmlns="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A03719DF-92F6-84C3-FB5E-0F7C492C21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6866" y="1858210"/>
                  <a:ext cx="985309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794661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35F50-7380-71E7-28C8-BC57F57D0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09C5F41-DE35-6214-5240-683D7C19A1E4}"/>
              </a:ext>
            </a:extLst>
          </p:cNvPr>
          <p:cNvGrpSpPr/>
          <p:nvPr/>
        </p:nvGrpSpPr>
        <p:grpSpPr>
          <a:xfrm>
            <a:off x="154382" y="1075731"/>
            <a:ext cx="11918051" cy="4548359"/>
            <a:chOff x="0" y="669035"/>
            <a:chExt cx="13008584" cy="4964546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82B1646-BBBF-BFB1-A835-3B8962B91E7A}"/>
                </a:ext>
              </a:extLst>
            </p:cNvPr>
            <p:cNvGrpSpPr/>
            <p:nvPr/>
          </p:nvGrpSpPr>
          <p:grpSpPr>
            <a:xfrm>
              <a:off x="0" y="1224419"/>
              <a:ext cx="3200400" cy="4409162"/>
              <a:chOff x="807929" y="1133605"/>
              <a:chExt cx="3200400" cy="4409162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615F5D02-7221-1659-AA70-4321654FD953}"/>
                  </a:ext>
                </a:extLst>
              </p:cNvPr>
              <p:cNvGrpSpPr/>
              <p:nvPr/>
            </p:nvGrpSpPr>
            <p:grpSpPr>
              <a:xfrm>
                <a:off x="976451" y="1906666"/>
                <a:ext cx="2894380" cy="3150404"/>
                <a:chOff x="1383547" y="879532"/>
                <a:chExt cx="2894380" cy="3150404"/>
              </a:xfrm>
            </p:grpSpPr>
            <p:sp>
              <p:nvSpPr>
                <p:cNvPr id="4" name="Rounded Rectangle 3">
                  <a:extLst>
                    <a:ext uri="{FF2B5EF4-FFF2-40B4-BE49-F238E27FC236}">
                      <a16:creationId xmlns:a16="http://schemas.microsoft.com/office/drawing/2014/main" id="{B0319C08-1ED6-4BC4-13BA-32B37FA906A4}"/>
                    </a:ext>
                  </a:extLst>
                </p:cNvPr>
                <p:cNvSpPr/>
                <p:nvPr/>
              </p:nvSpPr>
              <p:spPr>
                <a:xfrm>
                  <a:off x="2185502" y="879532"/>
                  <a:ext cx="1265418" cy="773904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Susceptible (u)</a:t>
                  </a:r>
                </a:p>
              </p:txBody>
            </p:sp>
            <p:cxnSp>
              <p:nvCxnSpPr>
                <p:cNvPr id="5" name="Straight Arrow Connector 4">
                  <a:extLst>
                    <a:ext uri="{FF2B5EF4-FFF2-40B4-BE49-F238E27FC236}">
                      <a16:creationId xmlns:a16="http://schemas.microsoft.com/office/drawing/2014/main" id="{ECC2F79B-CA6A-A55F-9620-753A93A484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42575" y="1653436"/>
                  <a:ext cx="0" cy="41434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" name="Rounded Rectangle 5">
                  <a:extLst>
                    <a:ext uri="{FF2B5EF4-FFF2-40B4-BE49-F238E27FC236}">
                      <a16:creationId xmlns:a16="http://schemas.microsoft.com/office/drawing/2014/main" id="{CD990730-65B9-C5CA-F583-D081B19B78CB}"/>
                    </a:ext>
                  </a:extLst>
                </p:cNvPr>
                <p:cNvSpPr/>
                <p:nvPr/>
              </p:nvSpPr>
              <p:spPr>
                <a:xfrm>
                  <a:off x="2185502" y="3256032"/>
                  <a:ext cx="1265418" cy="773904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Chronic infection (c)</a:t>
                  </a:r>
                </a:p>
              </p:txBody>
            </p:sp>
            <p:sp>
              <p:nvSpPr>
                <p:cNvPr id="7" name="Rounded Rectangle 6">
                  <a:extLst>
                    <a:ext uri="{FF2B5EF4-FFF2-40B4-BE49-F238E27FC236}">
                      <a16:creationId xmlns:a16="http://schemas.microsoft.com/office/drawing/2014/main" id="{73555477-FA0E-E997-5124-9C29F735E83F}"/>
                    </a:ext>
                  </a:extLst>
                </p:cNvPr>
                <p:cNvSpPr/>
                <p:nvPr/>
              </p:nvSpPr>
              <p:spPr>
                <a:xfrm>
                  <a:off x="1383547" y="2067782"/>
                  <a:ext cx="1265418" cy="773904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Acute infection (a)</a:t>
                  </a:r>
                </a:p>
              </p:txBody>
            </p:sp>
            <p:sp>
              <p:nvSpPr>
                <p:cNvPr id="8" name="Rounded Rectangle 7">
                  <a:extLst>
                    <a:ext uri="{FF2B5EF4-FFF2-40B4-BE49-F238E27FC236}">
                      <a16:creationId xmlns:a16="http://schemas.microsoft.com/office/drawing/2014/main" id="{8B18EE8F-3C6A-1183-4EAD-ED274FA5AF31}"/>
                    </a:ext>
                  </a:extLst>
                </p:cNvPr>
                <p:cNvSpPr/>
                <p:nvPr/>
              </p:nvSpPr>
              <p:spPr>
                <a:xfrm>
                  <a:off x="3012509" y="2067782"/>
                  <a:ext cx="1265418" cy="773904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Treatment (t)</a:t>
                  </a:r>
                </a:p>
              </p:txBody>
            </p:sp>
            <p:cxnSp>
              <p:nvCxnSpPr>
                <p:cNvPr id="11" name="Straight Arrow Connector 10">
                  <a:extLst>
                    <a:ext uri="{FF2B5EF4-FFF2-40B4-BE49-F238E27FC236}">
                      <a16:creationId xmlns:a16="http://schemas.microsoft.com/office/drawing/2014/main" id="{5DBB8E5A-BB38-B607-3E1A-A77BF45739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44662" y="2841686"/>
                  <a:ext cx="0" cy="41434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Arrow Connector 13">
                  <a:extLst>
                    <a:ext uri="{FF2B5EF4-FFF2-40B4-BE49-F238E27FC236}">
                      <a16:creationId xmlns:a16="http://schemas.microsoft.com/office/drawing/2014/main" id="{7B21EE4B-3C58-7B42-DA19-C8DD1A21F63C}"/>
                    </a:ext>
                  </a:extLst>
                </p:cNvPr>
                <p:cNvCxnSpPr/>
                <p:nvPr/>
              </p:nvCxnSpPr>
              <p:spPr>
                <a:xfrm flipV="1">
                  <a:off x="3175348" y="2835916"/>
                  <a:ext cx="0" cy="41962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Arrow Connector 15">
                  <a:extLst>
                    <a:ext uri="{FF2B5EF4-FFF2-40B4-BE49-F238E27FC236}">
                      <a16:creationId xmlns:a16="http://schemas.microsoft.com/office/drawing/2014/main" id="{ED25B429-34AA-ADE5-1FDC-F39E92860257}"/>
                    </a:ext>
                  </a:extLst>
                </p:cNvPr>
                <p:cNvCxnSpPr/>
                <p:nvPr/>
              </p:nvCxnSpPr>
              <p:spPr>
                <a:xfrm flipV="1">
                  <a:off x="3175348" y="1648160"/>
                  <a:ext cx="0" cy="41962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Arrow Connector 16">
                  <a:extLst>
                    <a:ext uri="{FF2B5EF4-FFF2-40B4-BE49-F238E27FC236}">
                      <a16:creationId xmlns:a16="http://schemas.microsoft.com/office/drawing/2014/main" id="{2569F3AC-6654-4353-306E-97D3029B5CCC}"/>
                    </a:ext>
                  </a:extLst>
                </p:cNvPr>
                <p:cNvCxnSpPr/>
                <p:nvPr/>
              </p:nvCxnSpPr>
              <p:spPr>
                <a:xfrm flipV="1">
                  <a:off x="2294351" y="1648160"/>
                  <a:ext cx="0" cy="41962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Arrow Connector 17">
                  <a:extLst>
                    <a:ext uri="{FF2B5EF4-FFF2-40B4-BE49-F238E27FC236}">
                      <a16:creationId xmlns:a16="http://schemas.microsoft.com/office/drawing/2014/main" id="{7210E782-A144-D908-C959-E119B870C61F}"/>
                    </a:ext>
                  </a:extLst>
                </p:cNvPr>
                <p:cNvCxnSpPr/>
                <p:nvPr/>
              </p:nvCxnSpPr>
              <p:spPr>
                <a:xfrm flipV="1">
                  <a:off x="2294351" y="2835916"/>
                  <a:ext cx="0" cy="41962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F7EBABBE-85A7-7D7C-B777-058A3B9936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34010" y="1659643"/>
                  <a:ext cx="0" cy="41434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Arrow Connector 20">
                  <a:extLst>
                    <a:ext uri="{FF2B5EF4-FFF2-40B4-BE49-F238E27FC236}">
                      <a16:creationId xmlns:a16="http://schemas.microsoft.com/office/drawing/2014/main" id="{E789470A-F979-671A-E481-BEB3E08221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34010" y="2841192"/>
                  <a:ext cx="0" cy="41434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8082A3A0-17FB-AFBE-2ECC-222CF33C58AC}"/>
                  </a:ext>
                </a:extLst>
              </p:cNvPr>
              <p:cNvSpPr/>
              <p:nvPr/>
            </p:nvSpPr>
            <p:spPr>
              <a:xfrm>
                <a:off x="807929" y="1133605"/>
                <a:ext cx="3200400" cy="4409162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85DAA80-F05F-3CC7-CF2D-D635ED30F2B6}"/>
                  </a:ext>
                </a:extLst>
              </p:cNvPr>
              <p:cNvSpPr txBox="1"/>
              <p:nvPr/>
            </p:nvSpPr>
            <p:spPr>
              <a:xfrm>
                <a:off x="1365215" y="1252603"/>
                <a:ext cx="20858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Non-Cirrhosis (NC)</a:t>
                </a:r>
              </a:p>
            </p:txBody>
          </p:sp>
        </p:grp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D38E1FEC-6D0E-C9B1-A905-B97D88E4BC91}"/>
                </a:ext>
              </a:extLst>
            </p:cNvPr>
            <p:cNvCxnSpPr>
              <a:cxnSpLocks/>
              <a:stCxn id="6" idx="3"/>
              <a:endCxn id="35" idx="1"/>
            </p:cNvCxnSpPr>
            <p:nvPr/>
          </p:nvCxnSpPr>
          <p:spPr>
            <a:xfrm>
              <a:off x="2235895" y="4760932"/>
              <a:ext cx="200397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E328DB0E-3A57-021A-86B2-537D8ABD357E}"/>
                </a:ext>
              </a:extLst>
            </p:cNvPr>
            <p:cNvGrpSpPr/>
            <p:nvPr/>
          </p:nvGrpSpPr>
          <p:grpSpPr>
            <a:xfrm>
              <a:off x="3269395" y="1224419"/>
              <a:ext cx="3200400" cy="4409162"/>
              <a:chOff x="807929" y="1133605"/>
              <a:chExt cx="3200400" cy="4409162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74DDDB0D-0541-4719-F0D2-196EF91EFAF4}"/>
                  </a:ext>
                </a:extLst>
              </p:cNvPr>
              <p:cNvGrpSpPr/>
              <p:nvPr/>
            </p:nvGrpSpPr>
            <p:grpSpPr>
              <a:xfrm>
                <a:off x="976451" y="1906666"/>
                <a:ext cx="2894380" cy="3150404"/>
                <a:chOff x="1383547" y="879532"/>
                <a:chExt cx="2894380" cy="3150404"/>
              </a:xfrm>
            </p:grpSpPr>
            <p:sp>
              <p:nvSpPr>
                <p:cNvPr id="33" name="Rounded Rectangle 32">
                  <a:extLst>
                    <a:ext uri="{FF2B5EF4-FFF2-40B4-BE49-F238E27FC236}">
                      <a16:creationId xmlns:a16="http://schemas.microsoft.com/office/drawing/2014/main" id="{359245CA-4B95-17D8-EE8F-FED33C039A3C}"/>
                    </a:ext>
                  </a:extLst>
                </p:cNvPr>
                <p:cNvSpPr/>
                <p:nvPr/>
              </p:nvSpPr>
              <p:spPr>
                <a:xfrm>
                  <a:off x="2185502" y="879532"/>
                  <a:ext cx="1265418" cy="773904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Susceptible (u)</a:t>
                  </a:r>
                </a:p>
              </p:txBody>
            </p: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C2DAE0C5-7E7B-D181-2E94-960216C55F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42575" y="1653436"/>
                  <a:ext cx="0" cy="41434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5" name="Rounded Rectangle 34">
                  <a:extLst>
                    <a:ext uri="{FF2B5EF4-FFF2-40B4-BE49-F238E27FC236}">
                      <a16:creationId xmlns:a16="http://schemas.microsoft.com/office/drawing/2014/main" id="{94701845-C563-0A31-1DF4-A0E48129305D}"/>
                    </a:ext>
                  </a:extLst>
                </p:cNvPr>
                <p:cNvSpPr/>
                <p:nvPr/>
              </p:nvSpPr>
              <p:spPr>
                <a:xfrm>
                  <a:off x="2185502" y="3256032"/>
                  <a:ext cx="1265418" cy="773904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Chronic infection (c)</a:t>
                  </a:r>
                </a:p>
              </p:txBody>
            </p:sp>
            <p:sp>
              <p:nvSpPr>
                <p:cNvPr id="36" name="Rounded Rectangle 35">
                  <a:extLst>
                    <a:ext uri="{FF2B5EF4-FFF2-40B4-BE49-F238E27FC236}">
                      <a16:creationId xmlns:a16="http://schemas.microsoft.com/office/drawing/2014/main" id="{2A7D711A-F3A1-A007-040C-76269B9F3F3B}"/>
                    </a:ext>
                  </a:extLst>
                </p:cNvPr>
                <p:cNvSpPr/>
                <p:nvPr/>
              </p:nvSpPr>
              <p:spPr>
                <a:xfrm>
                  <a:off x="1383547" y="2067782"/>
                  <a:ext cx="1265418" cy="773904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Acute infection (a)</a:t>
                  </a:r>
                </a:p>
              </p:txBody>
            </p:sp>
            <p:sp>
              <p:nvSpPr>
                <p:cNvPr id="37" name="Rounded Rectangle 36">
                  <a:extLst>
                    <a:ext uri="{FF2B5EF4-FFF2-40B4-BE49-F238E27FC236}">
                      <a16:creationId xmlns:a16="http://schemas.microsoft.com/office/drawing/2014/main" id="{53A02B30-821C-1927-9AB2-4DE35AB8C83E}"/>
                    </a:ext>
                  </a:extLst>
                </p:cNvPr>
                <p:cNvSpPr/>
                <p:nvPr/>
              </p:nvSpPr>
              <p:spPr>
                <a:xfrm>
                  <a:off x="3012509" y="2067782"/>
                  <a:ext cx="1265418" cy="773904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Treatment (t)</a:t>
                  </a:r>
                </a:p>
              </p:txBody>
            </p:sp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C673EB25-9C10-9441-CD4D-213316F87E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44662" y="2841686"/>
                  <a:ext cx="0" cy="41434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92F2867E-8638-73D1-149F-E73834F62BC1}"/>
                    </a:ext>
                  </a:extLst>
                </p:cNvPr>
                <p:cNvCxnSpPr/>
                <p:nvPr/>
              </p:nvCxnSpPr>
              <p:spPr>
                <a:xfrm flipV="1">
                  <a:off x="3175348" y="2835916"/>
                  <a:ext cx="0" cy="41962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9955BCEF-8544-19E3-9EA7-2A7DF1BC71B1}"/>
                    </a:ext>
                  </a:extLst>
                </p:cNvPr>
                <p:cNvCxnSpPr/>
                <p:nvPr/>
              </p:nvCxnSpPr>
              <p:spPr>
                <a:xfrm flipV="1">
                  <a:off x="3175348" y="1648160"/>
                  <a:ext cx="0" cy="41962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Arrow Connector 40">
                  <a:extLst>
                    <a:ext uri="{FF2B5EF4-FFF2-40B4-BE49-F238E27FC236}">
                      <a16:creationId xmlns:a16="http://schemas.microsoft.com/office/drawing/2014/main" id="{414D9CC3-A6EF-E15D-F58F-B86EBB806199}"/>
                    </a:ext>
                  </a:extLst>
                </p:cNvPr>
                <p:cNvCxnSpPr/>
                <p:nvPr/>
              </p:nvCxnSpPr>
              <p:spPr>
                <a:xfrm flipV="1">
                  <a:off x="2294351" y="1648160"/>
                  <a:ext cx="0" cy="41962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Arrow Connector 41">
                  <a:extLst>
                    <a:ext uri="{FF2B5EF4-FFF2-40B4-BE49-F238E27FC236}">
                      <a16:creationId xmlns:a16="http://schemas.microsoft.com/office/drawing/2014/main" id="{7001678D-1F46-64C6-319A-90070AE9603A}"/>
                    </a:ext>
                  </a:extLst>
                </p:cNvPr>
                <p:cNvCxnSpPr/>
                <p:nvPr/>
              </p:nvCxnSpPr>
              <p:spPr>
                <a:xfrm flipV="1">
                  <a:off x="2294351" y="2835916"/>
                  <a:ext cx="0" cy="41962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Arrow Connector 42">
                  <a:extLst>
                    <a:ext uri="{FF2B5EF4-FFF2-40B4-BE49-F238E27FC236}">
                      <a16:creationId xmlns:a16="http://schemas.microsoft.com/office/drawing/2014/main" id="{3933925B-1699-025F-AB28-E430185D64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34010" y="1659643"/>
                  <a:ext cx="0" cy="41434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Arrow Connector 43">
                  <a:extLst>
                    <a:ext uri="{FF2B5EF4-FFF2-40B4-BE49-F238E27FC236}">
                      <a16:creationId xmlns:a16="http://schemas.microsoft.com/office/drawing/2014/main" id="{AF89E73B-28C4-AC88-22F6-5D864ED28D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34010" y="2841192"/>
                  <a:ext cx="0" cy="41434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1" name="Rounded Rectangle 30">
                <a:extLst>
                  <a:ext uri="{FF2B5EF4-FFF2-40B4-BE49-F238E27FC236}">
                    <a16:creationId xmlns:a16="http://schemas.microsoft.com/office/drawing/2014/main" id="{F17FD2BB-C8A9-E1F8-9D61-7AFB9E15F56C}"/>
                  </a:ext>
                </a:extLst>
              </p:cNvPr>
              <p:cNvSpPr/>
              <p:nvPr/>
            </p:nvSpPr>
            <p:spPr>
              <a:xfrm>
                <a:off x="807929" y="1133605"/>
                <a:ext cx="3200400" cy="4409162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E214183-BA97-AEEC-A3B7-DC1E2073A19A}"/>
                  </a:ext>
                </a:extLst>
              </p:cNvPr>
              <p:cNvSpPr txBox="1"/>
              <p:nvPr/>
            </p:nvSpPr>
            <p:spPr>
              <a:xfrm>
                <a:off x="880883" y="1252603"/>
                <a:ext cx="30544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Compensated Cirrhosis (CC)</a:t>
                </a:r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0BCE644E-E157-C450-EDB9-A7062DDE49AA}"/>
                </a:ext>
              </a:extLst>
            </p:cNvPr>
            <p:cNvGrpSpPr/>
            <p:nvPr/>
          </p:nvGrpSpPr>
          <p:grpSpPr>
            <a:xfrm>
              <a:off x="6538790" y="1224419"/>
              <a:ext cx="3200400" cy="4409162"/>
              <a:chOff x="807929" y="1133605"/>
              <a:chExt cx="3200400" cy="4409162"/>
            </a:xfrm>
          </p:grpSpPr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7DB70FA6-9234-F6B3-BB09-5EFCED804416}"/>
                  </a:ext>
                </a:extLst>
              </p:cNvPr>
              <p:cNvGrpSpPr/>
              <p:nvPr/>
            </p:nvGrpSpPr>
            <p:grpSpPr>
              <a:xfrm>
                <a:off x="976451" y="1906666"/>
                <a:ext cx="2894380" cy="3150404"/>
                <a:chOff x="1383547" y="879532"/>
                <a:chExt cx="2894380" cy="3150404"/>
              </a:xfrm>
            </p:grpSpPr>
            <p:sp>
              <p:nvSpPr>
                <p:cNvPr id="83" name="Rounded Rectangle 82">
                  <a:extLst>
                    <a:ext uri="{FF2B5EF4-FFF2-40B4-BE49-F238E27FC236}">
                      <a16:creationId xmlns:a16="http://schemas.microsoft.com/office/drawing/2014/main" id="{622E3461-58ED-9BE8-30DE-E4E9A6B259CD}"/>
                    </a:ext>
                  </a:extLst>
                </p:cNvPr>
                <p:cNvSpPr/>
                <p:nvPr/>
              </p:nvSpPr>
              <p:spPr>
                <a:xfrm>
                  <a:off x="2185502" y="879532"/>
                  <a:ext cx="1265418" cy="773904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Susceptible (u)</a:t>
                  </a:r>
                </a:p>
              </p:txBody>
            </p:sp>
            <p:cxnSp>
              <p:nvCxnSpPr>
                <p:cNvPr id="84" name="Straight Arrow Connector 83">
                  <a:extLst>
                    <a:ext uri="{FF2B5EF4-FFF2-40B4-BE49-F238E27FC236}">
                      <a16:creationId xmlns:a16="http://schemas.microsoft.com/office/drawing/2014/main" id="{C9073336-CFA5-6BB9-2F76-3F3A486450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42575" y="1653436"/>
                  <a:ext cx="0" cy="41434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5" name="Rounded Rectangle 84">
                  <a:extLst>
                    <a:ext uri="{FF2B5EF4-FFF2-40B4-BE49-F238E27FC236}">
                      <a16:creationId xmlns:a16="http://schemas.microsoft.com/office/drawing/2014/main" id="{A9A36F80-CAC0-3813-D994-F409BF409B3B}"/>
                    </a:ext>
                  </a:extLst>
                </p:cNvPr>
                <p:cNvSpPr/>
                <p:nvPr/>
              </p:nvSpPr>
              <p:spPr>
                <a:xfrm>
                  <a:off x="2185502" y="3256032"/>
                  <a:ext cx="1265418" cy="773904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Chronic infection (c)</a:t>
                  </a:r>
                </a:p>
              </p:txBody>
            </p:sp>
            <p:sp>
              <p:nvSpPr>
                <p:cNvPr id="86" name="Rounded Rectangle 85">
                  <a:extLst>
                    <a:ext uri="{FF2B5EF4-FFF2-40B4-BE49-F238E27FC236}">
                      <a16:creationId xmlns:a16="http://schemas.microsoft.com/office/drawing/2014/main" id="{0276C32F-4EFA-8EEB-D522-D03214A4025D}"/>
                    </a:ext>
                  </a:extLst>
                </p:cNvPr>
                <p:cNvSpPr/>
                <p:nvPr/>
              </p:nvSpPr>
              <p:spPr>
                <a:xfrm>
                  <a:off x="1383547" y="2067782"/>
                  <a:ext cx="1265418" cy="773904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Acute infection (a)</a:t>
                  </a:r>
                </a:p>
              </p:txBody>
            </p:sp>
            <p:sp>
              <p:nvSpPr>
                <p:cNvPr id="87" name="Rounded Rectangle 86">
                  <a:extLst>
                    <a:ext uri="{FF2B5EF4-FFF2-40B4-BE49-F238E27FC236}">
                      <a16:creationId xmlns:a16="http://schemas.microsoft.com/office/drawing/2014/main" id="{2EFD20B8-E421-B446-B310-699E3ECBC090}"/>
                    </a:ext>
                  </a:extLst>
                </p:cNvPr>
                <p:cNvSpPr/>
                <p:nvPr/>
              </p:nvSpPr>
              <p:spPr>
                <a:xfrm>
                  <a:off x="3012509" y="2067782"/>
                  <a:ext cx="1265418" cy="773904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Treatment (t)</a:t>
                  </a:r>
                </a:p>
              </p:txBody>
            </p:sp>
            <p:cxnSp>
              <p:nvCxnSpPr>
                <p:cNvPr id="88" name="Straight Arrow Connector 87">
                  <a:extLst>
                    <a:ext uri="{FF2B5EF4-FFF2-40B4-BE49-F238E27FC236}">
                      <a16:creationId xmlns:a16="http://schemas.microsoft.com/office/drawing/2014/main" id="{C744A46D-5660-068B-37CE-949B5D3325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44662" y="2841686"/>
                  <a:ext cx="0" cy="41434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Arrow Connector 88">
                  <a:extLst>
                    <a:ext uri="{FF2B5EF4-FFF2-40B4-BE49-F238E27FC236}">
                      <a16:creationId xmlns:a16="http://schemas.microsoft.com/office/drawing/2014/main" id="{E804C34C-4685-86DE-466B-7673E61265D3}"/>
                    </a:ext>
                  </a:extLst>
                </p:cNvPr>
                <p:cNvCxnSpPr/>
                <p:nvPr/>
              </p:nvCxnSpPr>
              <p:spPr>
                <a:xfrm flipV="1">
                  <a:off x="3175348" y="2835916"/>
                  <a:ext cx="0" cy="41962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Arrow Connector 89">
                  <a:extLst>
                    <a:ext uri="{FF2B5EF4-FFF2-40B4-BE49-F238E27FC236}">
                      <a16:creationId xmlns:a16="http://schemas.microsoft.com/office/drawing/2014/main" id="{DBB3816B-FCF6-342E-CC51-76FC1A5C5538}"/>
                    </a:ext>
                  </a:extLst>
                </p:cNvPr>
                <p:cNvCxnSpPr/>
                <p:nvPr/>
              </p:nvCxnSpPr>
              <p:spPr>
                <a:xfrm flipV="1">
                  <a:off x="3175348" y="1648160"/>
                  <a:ext cx="0" cy="41962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Arrow Connector 90">
                  <a:extLst>
                    <a:ext uri="{FF2B5EF4-FFF2-40B4-BE49-F238E27FC236}">
                      <a16:creationId xmlns:a16="http://schemas.microsoft.com/office/drawing/2014/main" id="{10DFB7E1-8CB1-012A-A6FF-9CFF101F413D}"/>
                    </a:ext>
                  </a:extLst>
                </p:cNvPr>
                <p:cNvCxnSpPr/>
                <p:nvPr/>
              </p:nvCxnSpPr>
              <p:spPr>
                <a:xfrm flipV="1">
                  <a:off x="2294351" y="1648160"/>
                  <a:ext cx="0" cy="41962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Arrow Connector 91">
                  <a:extLst>
                    <a:ext uri="{FF2B5EF4-FFF2-40B4-BE49-F238E27FC236}">
                      <a16:creationId xmlns:a16="http://schemas.microsoft.com/office/drawing/2014/main" id="{FC09E90E-48F8-3EF3-2E2C-BC1093D3E504}"/>
                    </a:ext>
                  </a:extLst>
                </p:cNvPr>
                <p:cNvCxnSpPr/>
                <p:nvPr/>
              </p:nvCxnSpPr>
              <p:spPr>
                <a:xfrm flipV="1">
                  <a:off x="2294351" y="2835916"/>
                  <a:ext cx="0" cy="41962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Arrow Connector 92">
                  <a:extLst>
                    <a:ext uri="{FF2B5EF4-FFF2-40B4-BE49-F238E27FC236}">
                      <a16:creationId xmlns:a16="http://schemas.microsoft.com/office/drawing/2014/main" id="{6C089B10-FB1B-EC7B-58CE-B7F134AA4B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34010" y="1659643"/>
                  <a:ext cx="0" cy="41434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Arrow Connector 93">
                  <a:extLst>
                    <a:ext uri="{FF2B5EF4-FFF2-40B4-BE49-F238E27FC236}">
                      <a16:creationId xmlns:a16="http://schemas.microsoft.com/office/drawing/2014/main" id="{4E711D47-FD5E-F0D6-A10F-E1FBA85E1C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34010" y="2841192"/>
                  <a:ext cx="0" cy="41434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1" name="Rounded Rectangle 80">
                <a:extLst>
                  <a:ext uri="{FF2B5EF4-FFF2-40B4-BE49-F238E27FC236}">
                    <a16:creationId xmlns:a16="http://schemas.microsoft.com/office/drawing/2014/main" id="{BA3D0207-2778-707C-44FE-4D761EB90A86}"/>
                  </a:ext>
                </a:extLst>
              </p:cNvPr>
              <p:cNvSpPr/>
              <p:nvPr/>
            </p:nvSpPr>
            <p:spPr>
              <a:xfrm>
                <a:off x="807929" y="1133605"/>
                <a:ext cx="3200400" cy="4409162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A4D1D60C-8609-19FF-CC88-05B7D4AB4FC0}"/>
                  </a:ext>
                </a:extLst>
              </p:cNvPr>
              <p:cNvSpPr txBox="1"/>
              <p:nvPr/>
            </p:nvSpPr>
            <p:spPr>
              <a:xfrm>
                <a:off x="1006292" y="1225105"/>
                <a:ext cx="2782764" cy="6382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/>
                  <a:t>Decompensated Cirrhosis </a:t>
                </a:r>
              </a:p>
              <a:p>
                <a:pPr algn="ctr"/>
                <a:r>
                  <a:rPr lang="en-US" sz="1600" dirty="0"/>
                  <a:t>(DC)</a:t>
                </a:r>
              </a:p>
            </p:txBody>
          </p:sp>
        </p:grp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0A475444-C710-8BE4-B699-422022858A8D}"/>
                </a:ext>
              </a:extLst>
            </p:cNvPr>
            <p:cNvCxnSpPr>
              <a:cxnSpLocks/>
              <a:stCxn id="85" idx="3"/>
              <a:endCxn id="102" idx="1"/>
            </p:cNvCxnSpPr>
            <p:nvPr/>
          </p:nvCxnSpPr>
          <p:spPr>
            <a:xfrm>
              <a:off x="8774685" y="4760932"/>
              <a:ext cx="20039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6E6D4A24-84AC-5DD6-83AB-0520A8CB1DF5}"/>
                </a:ext>
              </a:extLst>
            </p:cNvPr>
            <p:cNvGrpSpPr/>
            <p:nvPr/>
          </p:nvGrpSpPr>
          <p:grpSpPr>
            <a:xfrm>
              <a:off x="9808184" y="1224419"/>
              <a:ext cx="3200400" cy="4409162"/>
              <a:chOff x="807929" y="1133605"/>
              <a:chExt cx="3200400" cy="4409162"/>
            </a:xfrm>
          </p:grpSpPr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AAD157D3-586F-755C-FC67-58502632CF87}"/>
                  </a:ext>
                </a:extLst>
              </p:cNvPr>
              <p:cNvGrpSpPr/>
              <p:nvPr/>
            </p:nvGrpSpPr>
            <p:grpSpPr>
              <a:xfrm>
                <a:off x="976451" y="1906666"/>
                <a:ext cx="2894380" cy="3150404"/>
                <a:chOff x="1383547" y="879532"/>
                <a:chExt cx="2894380" cy="3150404"/>
              </a:xfrm>
            </p:grpSpPr>
            <p:sp>
              <p:nvSpPr>
                <p:cNvPr id="100" name="Rounded Rectangle 99">
                  <a:extLst>
                    <a:ext uri="{FF2B5EF4-FFF2-40B4-BE49-F238E27FC236}">
                      <a16:creationId xmlns:a16="http://schemas.microsoft.com/office/drawing/2014/main" id="{EA7358DF-FFAA-7AD8-8560-5AE3754D45C9}"/>
                    </a:ext>
                  </a:extLst>
                </p:cNvPr>
                <p:cNvSpPr/>
                <p:nvPr/>
              </p:nvSpPr>
              <p:spPr>
                <a:xfrm>
                  <a:off x="2185502" y="879532"/>
                  <a:ext cx="1265418" cy="773904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Susceptible (u)</a:t>
                  </a:r>
                </a:p>
              </p:txBody>
            </p:sp>
            <p:cxnSp>
              <p:nvCxnSpPr>
                <p:cNvPr id="101" name="Straight Arrow Connector 100">
                  <a:extLst>
                    <a:ext uri="{FF2B5EF4-FFF2-40B4-BE49-F238E27FC236}">
                      <a16:creationId xmlns:a16="http://schemas.microsoft.com/office/drawing/2014/main" id="{62DE1104-5328-0219-6248-E533C3926F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42575" y="1653436"/>
                  <a:ext cx="0" cy="41434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02" name="Rounded Rectangle 101">
                  <a:extLst>
                    <a:ext uri="{FF2B5EF4-FFF2-40B4-BE49-F238E27FC236}">
                      <a16:creationId xmlns:a16="http://schemas.microsoft.com/office/drawing/2014/main" id="{299E80AF-CE78-DB2A-8248-FFC6951E30CB}"/>
                    </a:ext>
                  </a:extLst>
                </p:cNvPr>
                <p:cNvSpPr/>
                <p:nvPr/>
              </p:nvSpPr>
              <p:spPr>
                <a:xfrm>
                  <a:off x="2185502" y="3256032"/>
                  <a:ext cx="1265418" cy="773904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Chronic infection (c)</a:t>
                  </a:r>
                </a:p>
              </p:txBody>
            </p:sp>
            <p:sp>
              <p:nvSpPr>
                <p:cNvPr id="103" name="Rounded Rectangle 102">
                  <a:extLst>
                    <a:ext uri="{FF2B5EF4-FFF2-40B4-BE49-F238E27FC236}">
                      <a16:creationId xmlns:a16="http://schemas.microsoft.com/office/drawing/2014/main" id="{DDBFFA46-F24E-EABB-927D-F52C2966331F}"/>
                    </a:ext>
                  </a:extLst>
                </p:cNvPr>
                <p:cNvSpPr/>
                <p:nvPr/>
              </p:nvSpPr>
              <p:spPr>
                <a:xfrm>
                  <a:off x="1383547" y="2067782"/>
                  <a:ext cx="1265418" cy="773904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Acute infection (a)</a:t>
                  </a:r>
                </a:p>
              </p:txBody>
            </p:sp>
            <p:sp>
              <p:nvSpPr>
                <p:cNvPr id="104" name="Rounded Rectangle 103">
                  <a:extLst>
                    <a:ext uri="{FF2B5EF4-FFF2-40B4-BE49-F238E27FC236}">
                      <a16:creationId xmlns:a16="http://schemas.microsoft.com/office/drawing/2014/main" id="{CD5049A2-62D2-791E-6449-100CD07B9173}"/>
                    </a:ext>
                  </a:extLst>
                </p:cNvPr>
                <p:cNvSpPr/>
                <p:nvPr/>
              </p:nvSpPr>
              <p:spPr>
                <a:xfrm>
                  <a:off x="3012509" y="2067782"/>
                  <a:ext cx="1265418" cy="773904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Treatment (t)</a:t>
                  </a:r>
                </a:p>
              </p:txBody>
            </p:sp>
            <p:cxnSp>
              <p:nvCxnSpPr>
                <p:cNvPr id="105" name="Straight Arrow Connector 104">
                  <a:extLst>
                    <a:ext uri="{FF2B5EF4-FFF2-40B4-BE49-F238E27FC236}">
                      <a16:creationId xmlns:a16="http://schemas.microsoft.com/office/drawing/2014/main" id="{1105EA2C-01B0-DF8C-593C-414CF9C8C4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44662" y="2841686"/>
                  <a:ext cx="0" cy="41434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Arrow Connector 105">
                  <a:extLst>
                    <a:ext uri="{FF2B5EF4-FFF2-40B4-BE49-F238E27FC236}">
                      <a16:creationId xmlns:a16="http://schemas.microsoft.com/office/drawing/2014/main" id="{F443F765-DA49-04C6-F779-F32E3458B187}"/>
                    </a:ext>
                  </a:extLst>
                </p:cNvPr>
                <p:cNvCxnSpPr/>
                <p:nvPr/>
              </p:nvCxnSpPr>
              <p:spPr>
                <a:xfrm flipV="1">
                  <a:off x="3175348" y="2835916"/>
                  <a:ext cx="0" cy="41962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Arrow Connector 106">
                  <a:extLst>
                    <a:ext uri="{FF2B5EF4-FFF2-40B4-BE49-F238E27FC236}">
                      <a16:creationId xmlns:a16="http://schemas.microsoft.com/office/drawing/2014/main" id="{24A58BA7-7A2C-08A7-5CFC-32DD93076D49}"/>
                    </a:ext>
                  </a:extLst>
                </p:cNvPr>
                <p:cNvCxnSpPr/>
                <p:nvPr/>
              </p:nvCxnSpPr>
              <p:spPr>
                <a:xfrm flipV="1">
                  <a:off x="3175348" y="1648160"/>
                  <a:ext cx="0" cy="41962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Arrow Connector 107">
                  <a:extLst>
                    <a:ext uri="{FF2B5EF4-FFF2-40B4-BE49-F238E27FC236}">
                      <a16:creationId xmlns:a16="http://schemas.microsoft.com/office/drawing/2014/main" id="{7ADB0BA9-AD2E-DAED-79C8-AB4DFD56CBFD}"/>
                    </a:ext>
                  </a:extLst>
                </p:cNvPr>
                <p:cNvCxnSpPr/>
                <p:nvPr/>
              </p:nvCxnSpPr>
              <p:spPr>
                <a:xfrm flipV="1">
                  <a:off x="2294351" y="1648160"/>
                  <a:ext cx="0" cy="41962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Arrow Connector 108">
                  <a:extLst>
                    <a:ext uri="{FF2B5EF4-FFF2-40B4-BE49-F238E27FC236}">
                      <a16:creationId xmlns:a16="http://schemas.microsoft.com/office/drawing/2014/main" id="{6C77243D-4FA5-DFC5-6794-BBD02810BE8C}"/>
                    </a:ext>
                  </a:extLst>
                </p:cNvPr>
                <p:cNvCxnSpPr/>
                <p:nvPr/>
              </p:nvCxnSpPr>
              <p:spPr>
                <a:xfrm flipV="1">
                  <a:off x="2294351" y="2835916"/>
                  <a:ext cx="0" cy="41962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Arrow Connector 109">
                  <a:extLst>
                    <a:ext uri="{FF2B5EF4-FFF2-40B4-BE49-F238E27FC236}">
                      <a16:creationId xmlns:a16="http://schemas.microsoft.com/office/drawing/2014/main" id="{AD73AE50-4A10-BF78-24AB-CA1EC97CF7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34010" y="1659643"/>
                  <a:ext cx="0" cy="41434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Arrow Connector 110">
                  <a:extLst>
                    <a:ext uri="{FF2B5EF4-FFF2-40B4-BE49-F238E27FC236}">
                      <a16:creationId xmlns:a16="http://schemas.microsoft.com/office/drawing/2014/main" id="{E8A3C9F8-AB94-2EA2-6BF9-7F31D407DC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34010" y="2841192"/>
                  <a:ext cx="0" cy="41434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8" name="Rounded Rectangle 97">
                <a:extLst>
                  <a:ext uri="{FF2B5EF4-FFF2-40B4-BE49-F238E27FC236}">
                    <a16:creationId xmlns:a16="http://schemas.microsoft.com/office/drawing/2014/main" id="{65E60EB4-EC0E-29DF-B5A2-BF572F7A8540}"/>
                  </a:ext>
                </a:extLst>
              </p:cNvPr>
              <p:cNvSpPr/>
              <p:nvPr/>
            </p:nvSpPr>
            <p:spPr>
              <a:xfrm>
                <a:off x="807929" y="1133605"/>
                <a:ext cx="3200400" cy="4409162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5664A012-46EA-CD4B-F840-A202996B293A}"/>
                  </a:ext>
                </a:extLst>
              </p:cNvPr>
              <p:cNvSpPr txBox="1"/>
              <p:nvPr/>
            </p:nvSpPr>
            <p:spPr>
              <a:xfrm>
                <a:off x="1028759" y="1225103"/>
                <a:ext cx="2811179" cy="6382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/>
                  <a:t>Hepatocellular Carcinoma </a:t>
                </a:r>
              </a:p>
              <a:p>
                <a:pPr algn="ctr"/>
                <a:r>
                  <a:rPr lang="en-US" sz="1600" dirty="0"/>
                  <a:t>(HCC)</a:t>
                </a:r>
              </a:p>
            </p:txBody>
          </p:sp>
        </p:grp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C9C57710-E53E-9557-5279-A2F89B84C3C6}"/>
                </a:ext>
              </a:extLst>
            </p:cNvPr>
            <p:cNvCxnSpPr>
              <a:cxnSpLocks/>
              <a:stCxn id="35" idx="3"/>
              <a:endCxn id="85" idx="1"/>
            </p:cNvCxnSpPr>
            <p:nvPr/>
          </p:nvCxnSpPr>
          <p:spPr>
            <a:xfrm>
              <a:off x="5505290" y="4760932"/>
              <a:ext cx="200397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48CED65D-8946-5E9F-8842-8ADD6AF2E43D}"/>
                </a:ext>
              </a:extLst>
            </p:cNvPr>
            <p:cNvCxnSpPr>
              <a:cxnSpLocks/>
              <a:stCxn id="33" idx="3"/>
              <a:endCxn id="83" idx="1"/>
            </p:cNvCxnSpPr>
            <p:nvPr/>
          </p:nvCxnSpPr>
          <p:spPr>
            <a:xfrm>
              <a:off x="5505290" y="2384432"/>
              <a:ext cx="200397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C589DD03-E919-4BFD-7155-84B79D14A3A3}"/>
                </a:ext>
              </a:extLst>
            </p:cNvPr>
            <p:cNvCxnSpPr>
              <a:cxnSpLocks/>
              <a:stCxn id="83" idx="3"/>
              <a:endCxn id="100" idx="1"/>
            </p:cNvCxnSpPr>
            <p:nvPr/>
          </p:nvCxnSpPr>
          <p:spPr>
            <a:xfrm>
              <a:off x="8774685" y="2384432"/>
              <a:ext cx="20039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2" name="Elbow Connector 121">
              <a:extLst>
                <a:ext uri="{FF2B5EF4-FFF2-40B4-BE49-F238E27FC236}">
                  <a16:creationId xmlns:a16="http://schemas.microsoft.com/office/drawing/2014/main" id="{AFA24E20-3B69-403E-87FD-33E13C30F9E3}"/>
                </a:ext>
              </a:extLst>
            </p:cNvPr>
            <p:cNvCxnSpPr>
              <a:stCxn id="35" idx="2"/>
              <a:endCxn id="102" idx="2"/>
            </p:cNvCxnSpPr>
            <p:nvPr/>
          </p:nvCxnSpPr>
          <p:spPr>
            <a:xfrm rot="16200000" flipH="1">
              <a:off x="8141975" y="1878489"/>
              <a:ext cx="12700" cy="6538789"/>
            </a:xfrm>
            <a:prstGeom prst="bentConnector3">
              <a:avLst>
                <a:gd name="adj1" fmla="val 5065976"/>
              </a:avLst>
            </a:prstGeom>
            <a:ln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4" name="Elbow Connector 123">
              <a:extLst>
                <a:ext uri="{FF2B5EF4-FFF2-40B4-BE49-F238E27FC236}">
                  <a16:creationId xmlns:a16="http://schemas.microsoft.com/office/drawing/2014/main" id="{5341FBFA-E607-57D2-BC2D-E031C48B4A3B}"/>
                </a:ext>
              </a:extLst>
            </p:cNvPr>
            <p:cNvCxnSpPr>
              <a:stCxn id="33" idx="0"/>
              <a:endCxn id="99" idx="2"/>
            </p:cNvCxnSpPr>
            <p:nvPr/>
          </p:nvCxnSpPr>
          <p:spPr>
            <a:xfrm rot="5400000" flipH="1" flipV="1">
              <a:off x="8131953" y="-1305169"/>
              <a:ext cx="43279" cy="6562021"/>
            </a:xfrm>
            <a:prstGeom prst="bentConnector3">
              <a:avLst>
                <a:gd name="adj1" fmla="val 2151134"/>
              </a:avLst>
            </a:prstGeom>
            <a:ln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CF388F96-B447-237A-71E6-156B4E2942B1}"/>
                </a:ext>
              </a:extLst>
            </p:cNvPr>
            <p:cNvSpPr txBox="1"/>
            <p:nvPr/>
          </p:nvSpPr>
          <p:spPr>
            <a:xfrm>
              <a:off x="6916941" y="669035"/>
              <a:ext cx="31312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Slower progression rate if SVR</a:t>
              </a:r>
            </a:p>
          </p:txBody>
        </p: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59DB7BD6-57C2-9122-756C-BE71157E7552}"/>
              </a:ext>
            </a:extLst>
          </p:cNvPr>
          <p:cNvSpPr txBox="1"/>
          <p:nvPr/>
        </p:nvSpPr>
        <p:spPr>
          <a:xfrm>
            <a:off x="154382" y="226319"/>
            <a:ext cx="43376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Liver disease progression</a:t>
            </a:r>
          </a:p>
        </p:txBody>
      </p:sp>
    </p:spTree>
    <p:extLst>
      <p:ext uri="{BB962C8B-B14F-4D97-AF65-F5344CB8AC3E}">
        <p14:creationId xmlns:p14="http://schemas.microsoft.com/office/powerpoint/2010/main" val="3510300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253337-2A5D-0A43-89AA-03B7013F6D49}"/>
              </a:ext>
            </a:extLst>
          </p:cNvPr>
          <p:cNvSpPr txBox="1"/>
          <p:nvPr/>
        </p:nvSpPr>
        <p:spPr>
          <a:xfrm>
            <a:off x="0" y="2457569"/>
            <a:ext cx="1232760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Drug abusers inflow age group distribution + absolute figure -&gt; don’t know</a:t>
            </a:r>
          </a:p>
          <a:p>
            <a:r>
              <a:rPr lang="en-US" dirty="0"/>
              <a:t>2. Lack HCC-specific SVR rates incurred by SOF/VEL</a:t>
            </a:r>
          </a:p>
          <a:p>
            <a:r>
              <a:rPr lang="en-US" dirty="0"/>
              <a:t>3. Don’t know proportion of taking RBV in DC</a:t>
            </a:r>
          </a:p>
          <a:p>
            <a:r>
              <a:rPr lang="en-US" dirty="0"/>
              <a:t>4. Should we split HCC into several stages (active + inactive)? And also add liver transplantation? </a:t>
            </a:r>
          </a:p>
          <a:p>
            <a:r>
              <a:rPr lang="en-US" dirty="0"/>
              <a:t>5. Genotype distribution</a:t>
            </a:r>
          </a:p>
          <a:p>
            <a:r>
              <a:rPr lang="en-US" dirty="0"/>
              <a:t>6. Opioid Substitution Therapy (OST) and Needle and Syringe </a:t>
            </a:r>
            <a:r>
              <a:rPr lang="en-US" dirty="0" err="1"/>
              <a:t>Programmes</a:t>
            </a:r>
            <a:r>
              <a:rPr lang="en-US" dirty="0"/>
              <a:t> (NSPs) -&gt; only in some correctional facilities now</a:t>
            </a:r>
          </a:p>
        </p:txBody>
      </p:sp>
    </p:spTree>
    <p:extLst>
      <p:ext uri="{BB962C8B-B14F-4D97-AF65-F5344CB8AC3E}">
        <p14:creationId xmlns:p14="http://schemas.microsoft.com/office/powerpoint/2010/main" val="943708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1F56814-5050-A14A-BD61-73392A6865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7545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0877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A07CA-3734-4BCC-8FCD-6F978CED0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6A7251A-CE28-8B0B-E42F-C49778800CAE}"/>
              </a:ext>
            </a:extLst>
          </p:cNvPr>
          <p:cNvGrpSpPr/>
          <p:nvPr/>
        </p:nvGrpSpPr>
        <p:grpSpPr>
          <a:xfrm>
            <a:off x="0" y="-6062171"/>
            <a:ext cx="11561222" cy="13349114"/>
            <a:chOff x="0" y="-6067781"/>
            <a:chExt cx="11561222" cy="13349114"/>
          </a:xfrm>
        </p:grpSpPr>
        <p:grpSp>
          <p:nvGrpSpPr>
            <p:cNvPr id="1284" name="Group 1283">
              <a:extLst>
                <a:ext uri="{FF2B5EF4-FFF2-40B4-BE49-F238E27FC236}">
                  <a16:creationId xmlns:a16="http://schemas.microsoft.com/office/drawing/2014/main" id="{26A41D5C-8BC3-1748-D3F6-CE6EDD2F560B}"/>
                </a:ext>
              </a:extLst>
            </p:cNvPr>
            <p:cNvGrpSpPr/>
            <p:nvPr/>
          </p:nvGrpSpPr>
          <p:grpSpPr>
            <a:xfrm>
              <a:off x="0" y="-6067781"/>
              <a:ext cx="11561222" cy="13349114"/>
              <a:chOff x="-15013297" y="-2157588"/>
              <a:chExt cx="11561222" cy="13349114"/>
            </a:xfrm>
          </p:grpSpPr>
          <p:sp>
            <p:nvSpPr>
              <p:cNvPr id="1152" name="Rounded Rectangle 1151">
                <a:extLst>
                  <a:ext uri="{FF2B5EF4-FFF2-40B4-BE49-F238E27FC236}">
                    <a16:creationId xmlns:a16="http://schemas.microsoft.com/office/drawing/2014/main" id="{7D7E75CE-FAB2-E166-BC10-42084EF57389}"/>
                  </a:ext>
                </a:extLst>
              </p:cNvPr>
              <p:cNvSpPr/>
              <p:nvPr/>
            </p:nvSpPr>
            <p:spPr>
              <a:xfrm>
                <a:off x="-15006467" y="-2157588"/>
                <a:ext cx="11554392" cy="6676493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37" name="Elbow Connector 36">
                <a:extLst>
                  <a:ext uri="{FF2B5EF4-FFF2-40B4-BE49-F238E27FC236}">
                    <a16:creationId xmlns:a16="http://schemas.microsoft.com/office/drawing/2014/main" id="{0BB48516-449D-74CA-BC31-AE78F79389D8}"/>
                  </a:ext>
                </a:extLst>
              </p:cNvPr>
              <p:cNvCxnSpPr>
                <a:stCxn id="4" idx="3"/>
                <a:endCxn id="14" idx="1"/>
              </p:cNvCxnSpPr>
              <p:nvPr/>
            </p:nvCxnSpPr>
            <p:spPr>
              <a:xfrm flipV="1">
                <a:off x="-12001194" y="-1126006"/>
                <a:ext cx="695275" cy="3419345"/>
              </a:xfrm>
              <a:prstGeom prst="bentConnector3">
                <a:avLst>
                  <a:gd name="adj1" fmla="val 24708"/>
                </a:avLst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Elbow Connector 38">
                <a:extLst>
                  <a:ext uri="{FF2B5EF4-FFF2-40B4-BE49-F238E27FC236}">
                    <a16:creationId xmlns:a16="http://schemas.microsoft.com/office/drawing/2014/main" id="{B454BF38-26A7-676A-3D93-A31E5E3A76F6}"/>
                  </a:ext>
                </a:extLst>
              </p:cNvPr>
              <p:cNvCxnSpPr>
                <a:cxnSpLocks/>
                <a:stCxn id="4" idx="3"/>
                <a:endCxn id="16" idx="1"/>
              </p:cNvCxnSpPr>
              <p:nvPr/>
            </p:nvCxnSpPr>
            <p:spPr>
              <a:xfrm flipV="1">
                <a:off x="-12001194" y="170224"/>
                <a:ext cx="695275" cy="2123115"/>
              </a:xfrm>
              <a:prstGeom prst="bentConnector3">
                <a:avLst>
                  <a:gd name="adj1" fmla="val 24708"/>
                </a:avLst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7" name="Straight Arrow Connector 1076">
                <a:extLst>
                  <a:ext uri="{FF2B5EF4-FFF2-40B4-BE49-F238E27FC236}">
                    <a16:creationId xmlns:a16="http://schemas.microsoft.com/office/drawing/2014/main" id="{DDFF5F7D-78F5-52B7-29B2-F04ACE81464F}"/>
                  </a:ext>
                </a:extLst>
              </p:cNvPr>
              <p:cNvCxnSpPr>
                <a:stCxn id="14" idx="3"/>
                <a:endCxn id="1037" idx="1"/>
              </p:cNvCxnSpPr>
              <p:nvPr/>
            </p:nvCxnSpPr>
            <p:spPr>
              <a:xfrm flipV="1">
                <a:off x="-10405009" y="-1126007"/>
                <a:ext cx="4337051" cy="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8" name="Straight Arrow Connector 1077">
                <a:extLst>
                  <a:ext uri="{FF2B5EF4-FFF2-40B4-BE49-F238E27FC236}">
                    <a16:creationId xmlns:a16="http://schemas.microsoft.com/office/drawing/2014/main" id="{F6BEAFDB-522A-D523-224A-82A7749045C8}"/>
                  </a:ext>
                </a:extLst>
              </p:cNvPr>
              <p:cNvCxnSpPr>
                <a:cxnSpLocks/>
                <a:stCxn id="15" idx="3"/>
                <a:endCxn id="1038" idx="1"/>
              </p:cNvCxnSpPr>
              <p:nvPr/>
            </p:nvCxnSpPr>
            <p:spPr>
              <a:xfrm flipV="1">
                <a:off x="-10405009" y="-477891"/>
                <a:ext cx="4337051" cy="429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1" name="Straight Arrow Connector 1080">
                <a:extLst>
                  <a:ext uri="{FF2B5EF4-FFF2-40B4-BE49-F238E27FC236}">
                    <a16:creationId xmlns:a16="http://schemas.microsoft.com/office/drawing/2014/main" id="{E06CDDD3-F00F-AA0A-015B-11A671ABEAB3}"/>
                  </a:ext>
                </a:extLst>
              </p:cNvPr>
              <p:cNvCxnSpPr>
                <a:cxnSpLocks/>
                <a:stCxn id="16" idx="3"/>
                <a:endCxn id="1039" idx="1"/>
              </p:cNvCxnSpPr>
              <p:nvPr/>
            </p:nvCxnSpPr>
            <p:spPr>
              <a:xfrm>
                <a:off x="-10405009" y="170224"/>
                <a:ext cx="4337051" cy="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4" name="Straight Arrow Connector 1083">
                <a:extLst>
                  <a:ext uri="{FF2B5EF4-FFF2-40B4-BE49-F238E27FC236}">
                    <a16:creationId xmlns:a16="http://schemas.microsoft.com/office/drawing/2014/main" id="{4ED7EF70-FD80-C46C-4FFA-E46A87F0566B}"/>
                  </a:ext>
                </a:extLst>
              </p:cNvPr>
              <p:cNvCxnSpPr>
                <a:cxnSpLocks/>
                <a:stCxn id="23" idx="3"/>
                <a:endCxn id="1043" idx="1"/>
              </p:cNvCxnSpPr>
              <p:nvPr/>
            </p:nvCxnSpPr>
            <p:spPr>
              <a:xfrm>
                <a:off x="-9006437" y="818341"/>
                <a:ext cx="2938479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7" name="Straight Arrow Connector 1086">
                <a:extLst>
                  <a:ext uri="{FF2B5EF4-FFF2-40B4-BE49-F238E27FC236}">
                    <a16:creationId xmlns:a16="http://schemas.microsoft.com/office/drawing/2014/main" id="{CCBDB1B7-05D1-1847-6A8E-0DB18ADC0ED6}"/>
                  </a:ext>
                </a:extLst>
              </p:cNvPr>
              <p:cNvCxnSpPr>
                <a:cxnSpLocks/>
                <a:stCxn id="24" idx="3"/>
                <a:endCxn id="1044" idx="1"/>
              </p:cNvCxnSpPr>
              <p:nvPr/>
            </p:nvCxnSpPr>
            <p:spPr>
              <a:xfrm>
                <a:off x="-9006437" y="1466457"/>
                <a:ext cx="2938479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0" name="Straight Arrow Connector 1089">
                <a:extLst>
                  <a:ext uri="{FF2B5EF4-FFF2-40B4-BE49-F238E27FC236}">
                    <a16:creationId xmlns:a16="http://schemas.microsoft.com/office/drawing/2014/main" id="{8DD51178-F027-EB01-5B2C-2549F16D0941}"/>
                  </a:ext>
                </a:extLst>
              </p:cNvPr>
              <p:cNvCxnSpPr>
                <a:cxnSpLocks/>
                <a:stCxn id="25" idx="3"/>
                <a:endCxn id="1045" idx="1"/>
              </p:cNvCxnSpPr>
              <p:nvPr/>
            </p:nvCxnSpPr>
            <p:spPr>
              <a:xfrm>
                <a:off x="-9006437" y="2114573"/>
                <a:ext cx="2938479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3" name="Straight Arrow Connector 1092">
                <a:extLst>
                  <a:ext uri="{FF2B5EF4-FFF2-40B4-BE49-F238E27FC236}">
                    <a16:creationId xmlns:a16="http://schemas.microsoft.com/office/drawing/2014/main" id="{D05FFFF3-5128-3CA6-B6D5-74C6B3880852}"/>
                  </a:ext>
                </a:extLst>
              </p:cNvPr>
              <p:cNvCxnSpPr>
                <a:cxnSpLocks/>
                <a:stCxn id="28" idx="3"/>
                <a:endCxn id="1049" idx="1"/>
              </p:cNvCxnSpPr>
              <p:nvPr/>
            </p:nvCxnSpPr>
            <p:spPr>
              <a:xfrm>
                <a:off x="-7607862" y="2762689"/>
                <a:ext cx="153990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6" name="Straight Arrow Connector 1095">
                <a:extLst>
                  <a:ext uri="{FF2B5EF4-FFF2-40B4-BE49-F238E27FC236}">
                    <a16:creationId xmlns:a16="http://schemas.microsoft.com/office/drawing/2014/main" id="{23282513-C217-A473-4C58-A84DAB282E33}"/>
                  </a:ext>
                </a:extLst>
              </p:cNvPr>
              <p:cNvCxnSpPr>
                <a:cxnSpLocks/>
                <a:stCxn id="29" idx="3"/>
                <a:endCxn id="1050" idx="1"/>
              </p:cNvCxnSpPr>
              <p:nvPr/>
            </p:nvCxnSpPr>
            <p:spPr>
              <a:xfrm>
                <a:off x="-7607862" y="3406848"/>
                <a:ext cx="1539904" cy="395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9" name="Straight Arrow Connector 1098">
                <a:extLst>
                  <a:ext uri="{FF2B5EF4-FFF2-40B4-BE49-F238E27FC236}">
                    <a16:creationId xmlns:a16="http://schemas.microsoft.com/office/drawing/2014/main" id="{4944AF36-BA52-F294-7864-F066EBABEEFB}"/>
                  </a:ext>
                </a:extLst>
              </p:cNvPr>
              <p:cNvCxnSpPr>
                <a:cxnSpLocks/>
                <a:stCxn id="30" idx="3"/>
                <a:endCxn id="1051" idx="1"/>
              </p:cNvCxnSpPr>
              <p:nvPr/>
            </p:nvCxnSpPr>
            <p:spPr>
              <a:xfrm>
                <a:off x="-7607862" y="4058923"/>
                <a:ext cx="153990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06" name="Rounded Rectangle 1105">
                <a:extLst>
                  <a:ext uri="{FF2B5EF4-FFF2-40B4-BE49-F238E27FC236}">
                    <a16:creationId xmlns:a16="http://schemas.microsoft.com/office/drawing/2014/main" id="{9AA70773-3ACE-5675-5B16-94646739C490}"/>
                  </a:ext>
                </a:extLst>
              </p:cNvPr>
              <p:cNvSpPr/>
              <p:nvPr/>
            </p:nvSpPr>
            <p:spPr>
              <a:xfrm>
                <a:off x="-4759041" y="1341622"/>
                <a:ext cx="971824" cy="248564"/>
              </a:xfrm>
              <a:prstGeom prst="roundRect">
                <a:avLst>
                  <a:gd name="adj" fmla="val 22916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solidFill>
                      <a:sysClr val="windowText" lastClr="000000"/>
                    </a:solidFill>
                  </a:rPr>
                  <a:t>Death</a:t>
                </a:r>
              </a:p>
            </p:txBody>
          </p:sp>
          <p:grpSp>
            <p:nvGrpSpPr>
              <p:cNvPr id="1030" name="Group 1029">
                <a:extLst>
                  <a:ext uri="{FF2B5EF4-FFF2-40B4-BE49-F238E27FC236}">
                    <a16:creationId xmlns:a16="http://schemas.microsoft.com/office/drawing/2014/main" id="{7C06023D-5421-530E-B06E-5D54D970F213}"/>
                  </a:ext>
                </a:extLst>
              </p:cNvPr>
              <p:cNvGrpSpPr/>
              <p:nvPr/>
            </p:nvGrpSpPr>
            <p:grpSpPr>
              <a:xfrm>
                <a:off x="-14672911" y="-1694"/>
                <a:ext cx="2671718" cy="2646092"/>
                <a:chOff x="265690" y="285110"/>
                <a:chExt cx="2671718" cy="2646092"/>
              </a:xfrm>
            </p:grpSpPr>
            <p:sp>
              <p:nvSpPr>
                <p:cNvPr id="2" name="Rounded Rectangle 1">
                  <a:extLst>
                    <a:ext uri="{FF2B5EF4-FFF2-40B4-BE49-F238E27FC236}">
                      <a16:creationId xmlns:a16="http://schemas.microsoft.com/office/drawing/2014/main" id="{FD5DAEED-6C27-12E7-D2F7-196F8EE94CB5}"/>
                    </a:ext>
                  </a:extLst>
                </p:cNvPr>
                <p:cNvSpPr/>
                <p:nvPr/>
              </p:nvSpPr>
              <p:spPr>
                <a:xfrm>
                  <a:off x="265691" y="285110"/>
                  <a:ext cx="2671717" cy="702119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ysClr val="windowText" lastClr="000000"/>
                      </a:solidFill>
                    </a:rPr>
                    <a:t>DEMOS </a:t>
                  </a:r>
                </a:p>
                <a:p>
                  <a:pPr algn="ctr"/>
                  <a:r>
                    <a:rPr lang="en-US" sz="1600" dirty="0">
                      <a:solidFill>
                        <a:sysClr val="windowText" lastClr="000000"/>
                      </a:solidFill>
                    </a:rPr>
                    <a:t>(Virtual healthy cohort)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" name="Rounded Rectangle 2">
                      <a:extLst>
                        <a:ext uri="{FF2B5EF4-FFF2-40B4-BE49-F238E27FC236}">
                          <a16:creationId xmlns:a16="http://schemas.microsoft.com/office/drawing/2014/main" id="{9D0BF0A4-3011-6CCC-ECB8-AB037EDF34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5691" y="1257097"/>
                      <a:ext cx="2671717" cy="702119"/>
                    </a:xfrm>
                    <a:prstGeom prst="round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Joint distribution sampling</a:t>
                      </a:r>
                    </a:p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by</a:t>
                      </a:r>
                    </a:p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PRS </a:t>
                      </a:r>
                      <a14:m>
                        <m:oMath xmlns:m="http://schemas.openxmlformats.org/officeDocument/2006/math">
                          <m: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</m:oMath>
                      </a14:m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 FH </a:t>
                      </a:r>
                      <a14:m>
                        <m:oMath xmlns:m="http://schemas.openxmlformats.org/officeDocument/2006/math">
                          <m:r>
                            <a:rPr lang="en-US" sz="14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</m:oMath>
                      </a14:m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 Race </a:t>
                      </a:r>
                      <a14:m>
                        <m:oMath xmlns:m="http://schemas.openxmlformats.org/officeDocument/2006/math">
                          <m:r>
                            <a:rPr lang="en-US" sz="1400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</m:oMath>
                      </a14:m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 Birth year</a:t>
                      </a:r>
                    </a:p>
                  </p:txBody>
                </p:sp>
              </mc:Choice>
              <mc:Fallback xmlns="">
                <p:sp>
                  <p:nvSpPr>
                    <p:cNvPr id="3" name="Rounded Rectangle 2">
                      <a:extLst>
                        <a:ext uri="{FF2B5EF4-FFF2-40B4-BE49-F238E27FC236}">
                          <a16:creationId xmlns:a16="http://schemas.microsoft.com/office/drawing/2014/main" id="{9D0BF0A4-3011-6CCC-ECB8-AB037EDF347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65691" y="1257097"/>
                      <a:ext cx="2671717" cy="702119"/>
                    </a:xfrm>
                    <a:prstGeom prst="roundRect">
                      <a:avLst/>
                    </a:prstGeom>
                    <a:blipFill>
                      <a:blip r:embed="rId2"/>
                      <a:stretch>
                        <a:fillRect t="-3509" b="-1052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" name="Rounded Rectangle 3">
                      <a:extLst>
                        <a:ext uri="{FF2B5EF4-FFF2-40B4-BE49-F238E27FC236}">
                          <a16:creationId xmlns:a16="http://schemas.microsoft.com/office/drawing/2014/main" id="{1787D0AD-BE90-2A05-D977-5A1D097E25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5690" y="2229083"/>
                      <a:ext cx="2671717" cy="702119"/>
                    </a:xfrm>
                    <a:prstGeom prst="round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Age-varying cancer onset risk</a:t>
                      </a:r>
                    </a:p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adjusted by</a:t>
                      </a:r>
                    </a:p>
                    <a:p>
                      <a:pPr algn="ctr"/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RR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PRS</m:t>
                              </m:r>
                            </m:sub>
                          </m:sSub>
                          <m:r>
                            <a:rPr lang="en-US" sz="14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RR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FH</m:t>
                              </m:r>
                            </m:sub>
                          </m:sSub>
                        </m:oMath>
                      </a14:m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p:txBody>
                </p:sp>
              </mc:Choice>
              <mc:Fallback xmlns="">
                <p:sp>
                  <p:nvSpPr>
                    <p:cNvPr id="4" name="Rounded Rectangle 3">
                      <a:extLst>
                        <a:ext uri="{FF2B5EF4-FFF2-40B4-BE49-F238E27FC236}">
                          <a16:creationId xmlns:a16="http://schemas.microsoft.com/office/drawing/2014/main" id="{1787D0AD-BE90-2A05-D977-5A1D097E254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65690" y="2229083"/>
                      <a:ext cx="2671717" cy="702119"/>
                    </a:xfrm>
                    <a:prstGeom prst="roundRect">
                      <a:avLst/>
                    </a:prstGeom>
                    <a:blipFill>
                      <a:blip r:embed="rId3"/>
                      <a:stretch>
                        <a:fillRect t="-172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8" name="Straight Arrow Connector 7">
                  <a:extLst>
                    <a:ext uri="{FF2B5EF4-FFF2-40B4-BE49-F238E27FC236}">
                      <a16:creationId xmlns:a16="http://schemas.microsoft.com/office/drawing/2014/main" id="{C714A17F-19A5-E8C5-0C3E-5484F1982020}"/>
                    </a:ext>
                  </a:extLst>
                </p:cNvPr>
                <p:cNvCxnSpPr>
                  <a:cxnSpLocks/>
                  <a:stCxn id="2" idx="2"/>
                  <a:endCxn id="3" idx="0"/>
                </p:cNvCxnSpPr>
                <p:nvPr/>
              </p:nvCxnSpPr>
              <p:spPr>
                <a:xfrm>
                  <a:off x="1601550" y="987229"/>
                  <a:ext cx="0" cy="269868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Arrow Connector 9">
                  <a:extLst>
                    <a:ext uri="{FF2B5EF4-FFF2-40B4-BE49-F238E27FC236}">
                      <a16:creationId xmlns:a16="http://schemas.microsoft.com/office/drawing/2014/main" id="{F9210724-839D-2F82-F99B-89614F75B5C5}"/>
                    </a:ext>
                  </a:extLst>
                </p:cNvPr>
                <p:cNvCxnSpPr>
                  <a:cxnSpLocks/>
                  <a:stCxn id="3" idx="2"/>
                  <a:endCxn id="4" idx="0"/>
                </p:cNvCxnSpPr>
                <p:nvPr/>
              </p:nvCxnSpPr>
              <p:spPr>
                <a:xfrm flipH="1">
                  <a:off x="1601549" y="1959216"/>
                  <a:ext cx="1" cy="269867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03" name="Group 1102">
                <a:extLst>
                  <a:ext uri="{FF2B5EF4-FFF2-40B4-BE49-F238E27FC236}">
                    <a16:creationId xmlns:a16="http://schemas.microsoft.com/office/drawing/2014/main" id="{675878EA-FE56-47B7-91CB-C773C30EF0DF}"/>
                  </a:ext>
                </a:extLst>
              </p:cNvPr>
              <p:cNvGrpSpPr/>
              <p:nvPr/>
            </p:nvGrpSpPr>
            <p:grpSpPr>
              <a:xfrm>
                <a:off x="-11593185" y="-1520507"/>
                <a:ext cx="4222684" cy="5927090"/>
                <a:chOff x="3173432" y="279501"/>
                <a:chExt cx="4222684" cy="5927090"/>
              </a:xfrm>
            </p:grpSpPr>
            <p:sp>
              <p:nvSpPr>
                <p:cNvPr id="13" name="Rounded Rectangle 12">
                  <a:extLst>
                    <a:ext uri="{FF2B5EF4-FFF2-40B4-BE49-F238E27FC236}">
                      <a16:creationId xmlns:a16="http://schemas.microsoft.com/office/drawing/2014/main" id="{D622B1AD-9B46-6799-45D6-CB65D18B7C5F}"/>
                    </a:ext>
                  </a:extLst>
                </p:cNvPr>
                <p:cNvSpPr/>
                <p:nvPr/>
              </p:nvSpPr>
              <p:spPr>
                <a:xfrm>
                  <a:off x="3173432" y="285110"/>
                  <a:ext cx="4222684" cy="5921481"/>
                </a:xfrm>
                <a:prstGeom prst="roundRect">
                  <a:avLst>
                    <a:gd name="adj" fmla="val 5023"/>
                  </a:avLst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>
                    <a:solidFill>
                      <a:sysClr val="windowText" lastClr="000000"/>
                    </a:solidFill>
                  </a:endParaRPr>
                </a:p>
              </p:txBody>
            </p:sp>
            <p:grpSp>
              <p:nvGrpSpPr>
                <p:cNvPr id="33" name="Group 32">
                  <a:extLst>
                    <a:ext uri="{FF2B5EF4-FFF2-40B4-BE49-F238E27FC236}">
                      <a16:creationId xmlns:a16="http://schemas.microsoft.com/office/drawing/2014/main" id="{A488D069-73D5-7BBF-C375-13C08742F11B}"/>
                    </a:ext>
                  </a:extLst>
                </p:cNvPr>
                <p:cNvGrpSpPr/>
                <p:nvPr/>
              </p:nvGrpSpPr>
              <p:grpSpPr>
                <a:xfrm>
                  <a:off x="3460698" y="529525"/>
                  <a:ext cx="900910" cy="1585183"/>
                  <a:chOff x="3460698" y="529525"/>
                  <a:chExt cx="900910" cy="1585183"/>
                </a:xfrm>
              </p:grpSpPr>
              <p:sp>
                <p:nvSpPr>
                  <p:cNvPr id="14" name="Rounded Rectangle 13">
                    <a:extLst>
                      <a:ext uri="{FF2B5EF4-FFF2-40B4-BE49-F238E27FC236}">
                        <a16:creationId xmlns:a16="http://schemas.microsoft.com/office/drawing/2014/main" id="{CC9558EE-844B-5745-E378-E21A16DD23DE}"/>
                      </a:ext>
                    </a:extLst>
                  </p:cNvPr>
                  <p:cNvSpPr/>
                  <p:nvPr/>
                </p:nvSpPr>
                <p:spPr>
                  <a:xfrm>
                    <a:off x="3460698" y="529525"/>
                    <a:ext cx="900910" cy="288953"/>
                  </a:xfrm>
                  <a:prstGeom prst="round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>
                        <a:solidFill>
                          <a:sysClr val="windowText" lastClr="000000"/>
                        </a:solidFill>
                      </a:rPr>
                      <a:t>T1, G&lt;7</a:t>
                    </a:r>
                  </a:p>
                </p:txBody>
              </p:sp>
              <p:sp>
                <p:nvSpPr>
                  <p:cNvPr id="15" name="Rounded Rectangle 14">
                    <a:extLst>
                      <a:ext uri="{FF2B5EF4-FFF2-40B4-BE49-F238E27FC236}">
                        <a16:creationId xmlns:a16="http://schemas.microsoft.com/office/drawing/2014/main" id="{DAD0F0F9-EA7D-4C01-2CD5-933A831E95D6}"/>
                      </a:ext>
                    </a:extLst>
                  </p:cNvPr>
                  <p:cNvSpPr/>
                  <p:nvPr/>
                </p:nvSpPr>
                <p:spPr>
                  <a:xfrm>
                    <a:off x="3460698" y="1181935"/>
                    <a:ext cx="900910" cy="288953"/>
                  </a:xfrm>
                  <a:prstGeom prst="round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>
                        <a:solidFill>
                          <a:sysClr val="windowText" lastClr="000000"/>
                        </a:solidFill>
                      </a:rPr>
                      <a:t>T1, G=7</a:t>
                    </a:r>
                  </a:p>
                </p:txBody>
              </p:sp>
              <p:sp>
                <p:nvSpPr>
                  <p:cNvPr id="16" name="Rounded Rectangle 15">
                    <a:extLst>
                      <a:ext uri="{FF2B5EF4-FFF2-40B4-BE49-F238E27FC236}">
                        <a16:creationId xmlns:a16="http://schemas.microsoft.com/office/drawing/2014/main" id="{EC29FDAF-9131-C9DA-0B1E-12064D383AB5}"/>
                      </a:ext>
                    </a:extLst>
                  </p:cNvPr>
                  <p:cNvSpPr/>
                  <p:nvPr/>
                </p:nvSpPr>
                <p:spPr>
                  <a:xfrm>
                    <a:off x="3460698" y="1825755"/>
                    <a:ext cx="900910" cy="288953"/>
                  </a:xfrm>
                  <a:prstGeom prst="round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>
                        <a:solidFill>
                          <a:sysClr val="windowText" lastClr="000000"/>
                        </a:solidFill>
                      </a:rPr>
                      <a:t>T1, G&gt;7</a:t>
                    </a:r>
                  </a:p>
                </p:txBody>
              </p:sp>
              <p:cxnSp>
                <p:nvCxnSpPr>
                  <p:cNvPr id="17" name="Straight Arrow Connector 16">
                    <a:extLst>
                      <a:ext uri="{FF2B5EF4-FFF2-40B4-BE49-F238E27FC236}">
                        <a16:creationId xmlns:a16="http://schemas.microsoft.com/office/drawing/2014/main" id="{C87541F7-4080-754C-9E19-32D0D1F0E077}"/>
                      </a:ext>
                    </a:extLst>
                  </p:cNvPr>
                  <p:cNvCxnSpPr>
                    <a:cxnSpLocks/>
                    <a:stCxn id="14" idx="2"/>
                    <a:endCxn id="15" idx="0"/>
                  </p:cNvCxnSpPr>
                  <p:nvPr/>
                </p:nvCxnSpPr>
                <p:spPr>
                  <a:xfrm>
                    <a:off x="3911153" y="818478"/>
                    <a:ext cx="0" cy="363457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Straight Arrow Connector 19">
                    <a:extLst>
                      <a:ext uri="{FF2B5EF4-FFF2-40B4-BE49-F238E27FC236}">
                        <a16:creationId xmlns:a16="http://schemas.microsoft.com/office/drawing/2014/main" id="{CCE0143B-0459-731E-EEC8-5538A3AAA2BC}"/>
                      </a:ext>
                    </a:extLst>
                  </p:cNvPr>
                  <p:cNvCxnSpPr>
                    <a:cxnSpLocks/>
                    <a:stCxn id="15" idx="2"/>
                    <a:endCxn id="16" idx="0"/>
                  </p:cNvCxnSpPr>
                  <p:nvPr/>
                </p:nvCxnSpPr>
                <p:spPr>
                  <a:xfrm>
                    <a:off x="3911153" y="1470888"/>
                    <a:ext cx="0" cy="354867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4" name="Group 33">
                  <a:extLst>
                    <a:ext uri="{FF2B5EF4-FFF2-40B4-BE49-F238E27FC236}">
                      <a16:creationId xmlns:a16="http://schemas.microsoft.com/office/drawing/2014/main" id="{F7515D9B-DCF7-86B9-E9AE-E8B98E859F53}"/>
                    </a:ext>
                  </a:extLst>
                </p:cNvPr>
                <p:cNvGrpSpPr/>
                <p:nvPr/>
              </p:nvGrpSpPr>
              <p:grpSpPr>
                <a:xfrm>
                  <a:off x="4859270" y="2473872"/>
                  <a:ext cx="900910" cy="1585185"/>
                  <a:chOff x="4883548" y="2389930"/>
                  <a:chExt cx="900910" cy="1585185"/>
                </a:xfrm>
              </p:grpSpPr>
              <p:sp>
                <p:nvSpPr>
                  <p:cNvPr id="23" name="Rounded Rectangle 22">
                    <a:extLst>
                      <a:ext uri="{FF2B5EF4-FFF2-40B4-BE49-F238E27FC236}">
                        <a16:creationId xmlns:a16="http://schemas.microsoft.com/office/drawing/2014/main" id="{04FB3AB1-C3B2-B007-BE57-4FB289307CF4}"/>
                      </a:ext>
                    </a:extLst>
                  </p:cNvPr>
                  <p:cNvSpPr/>
                  <p:nvPr/>
                </p:nvSpPr>
                <p:spPr>
                  <a:xfrm>
                    <a:off x="4883548" y="2389930"/>
                    <a:ext cx="900910" cy="288953"/>
                  </a:xfrm>
                  <a:prstGeom prst="round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>
                        <a:solidFill>
                          <a:sysClr val="windowText" lastClr="000000"/>
                        </a:solidFill>
                      </a:rPr>
                      <a:t>T2, G&lt;7</a:t>
                    </a:r>
                  </a:p>
                </p:txBody>
              </p:sp>
              <p:sp>
                <p:nvSpPr>
                  <p:cNvPr id="24" name="Rounded Rectangle 23">
                    <a:extLst>
                      <a:ext uri="{FF2B5EF4-FFF2-40B4-BE49-F238E27FC236}">
                        <a16:creationId xmlns:a16="http://schemas.microsoft.com/office/drawing/2014/main" id="{D11F1C7F-F38D-A9B7-DCCB-3C388BA6F038}"/>
                      </a:ext>
                    </a:extLst>
                  </p:cNvPr>
                  <p:cNvSpPr/>
                  <p:nvPr/>
                </p:nvSpPr>
                <p:spPr>
                  <a:xfrm>
                    <a:off x="4883548" y="3038046"/>
                    <a:ext cx="900910" cy="288953"/>
                  </a:xfrm>
                  <a:prstGeom prst="round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>
                        <a:solidFill>
                          <a:sysClr val="windowText" lastClr="000000"/>
                        </a:solidFill>
                      </a:rPr>
                      <a:t>T2, G=7</a:t>
                    </a:r>
                  </a:p>
                </p:txBody>
              </p:sp>
              <p:sp>
                <p:nvSpPr>
                  <p:cNvPr id="25" name="Rounded Rectangle 24">
                    <a:extLst>
                      <a:ext uri="{FF2B5EF4-FFF2-40B4-BE49-F238E27FC236}">
                        <a16:creationId xmlns:a16="http://schemas.microsoft.com/office/drawing/2014/main" id="{8CE5CF92-0150-78AC-507D-6E5A0C776A3C}"/>
                      </a:ext>
                    </a:extLst>
                  </p:cNvPr>
                  <p:cNvSpPr/>
                  <p:nvPr/>
                </p:nvSpPr>
                <p:spPr>
                  <a:xfrm>
                    <a:off x="4883548" y="3686162"/>
                    <a:ext cx="900910" cy="288953"/>
                  </a:xfrm>
                  <a:prstGeom prst="round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>
                        <a:solidFill>
                          <a:sysClr val="windowText" lastClr="000000"/>
                        </a:solidFill>
                      </a:rPr>
                      <a:t>T2, G&gt;7</a:t>
                    </a:r>
                  </a:p>
                </p:txBody>
              </p:sp>
              <p:cxnSp>
                <p:nvCxnSpPr>
                  <p:cNvPr id="26" name="Straight Arrow Connector 25">
                    <a:extLst>
                      <a:ext uri="{FF2B5EF4-FFF2-40B4-BE49-F238E27FC236}">
                        <a16:creationId xmlns:a16="http://schemas.microsoft.com/office/drawing/2014/main" id="{19F8CDF5-70B7-0C95-C807-FD9FFEADA793}"/>
                      </a:ext>
                    </a:extLst>
                  </p:cNvPr>
                  <p:cNvCxnSpPr>
                    <a:cxnSpLocks/>
                    <a:stCxn id="23" idx="2"/>
                    <a:endCxn id="24" idx="0"/>
                  </p:cNvCxnSpPr>
                  <p:nvPr/>
                </p:nvCxnSpPr>
                <p:spPr>
                  <a:xfrm>
                    <a:off x="5334003" y="2678883"/>
                    <a:ext cx="0" cy="359163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Straight Arrow Connector 26">
                    <a:extLst>
                      <a:ext uri="{FF2B5EF4-FFF2-40B4-BE49-F238E27FC236}">
                        <a16:creationId xmlns:a16="http://schemas.microsoft.com/office/drawing/2014/main" id="{5391CBA5-4A4B-46F8-AC7D-4FED0F46C04E}"/>
                      </a:ext>
                    </a:extLst>
                  </p:cNvPr>
                  <p:cNvCxnSpPr>
                    <a:cxnSpLocks/>
                    <a:stCxn id="24" idx="2"/>
                    <a:endCxn id="25" idx="0"/>
                  </p:cNvCxnSpPr>
                  <p:nvPr/>
                </p:nvCxnSpPr>
                <p:spPr>
                  <a:xfrm>
                    <a:off x="5334003" y="3326999"/>
                    <a:ext cx="0" cy="359163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5" name="Group 34">
                  <a:extLst>
                    <a:ext uri="{FF2B5EF4-FFF2-40B4-BE49-F238E27FC236}">
                      <a16:creationId xmlns:a16="http://schemas.microsoft.com/office/drawing/2014/main" id="{E869A8CA-F068-6168-CADF-166B9DE1CA3D}"/>
                    </a:ext>
                  </a:extLst>
                </p:cNvPr>
                <p:cNvGrpSpPr/>
                <p:nvPr/>
              </p:nvGrpSpPr>
              <p:grpSpPr>
                <a:xfrm>
                  <a:off x="6257845" y="4418220"/>
                  <a:ext cx="900910" cy="1585187"/>
                  <a:chOff x="6257845" y="4418220"/>
                  <a:chExt cx="900910" cy="1585187"/>
                </a:xfrm>
              </p:grpSpPr>
              <p:sp>
                <p:nvSpPr>
                  <p:cNvPr id="28" name="Rounded Rectangle 27">
                    <a:extLst>
                      <a:ext uri="{FF2B5EF4-FFF2-40B4-BE49-F238E27FC236}">
                        <a16:creationId xmlns:a16="http://schemas.microsoft.com/office/drawing/2014/main" id="{019B5FEE-0C7D-9178-7753-B0078A89D202}"/>
                      </a:ext>
                    </a:extLst>
                  </p:cNvPr>
                  <p:cNvSpPr/>
                  <p:nvPr/>
                </p:nvSpPr>
                <p:spPr>
                  <a:xfrm>
                    <a:off x="6257845" y="4418220"/>
                    <a:ext cx="900910" cy="288953"/>
                  </a:xfrm>
                  <a:prstGeom prst="round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>
                        <a:solidFill>
                          <a:sysClr val="windowText" lastClr="000000"/>
                        </a:solidFill>
                      </a:rPr>
                      <a:t>T3, G&lt;7</a:t>
                    </a:r>
                  </a:p>
                </p:txBody>
              </p:sp>
              <p:sp>
                <p:nvSpPr>
                  <p:cNvPr id="29" name="Rounded Rectangle 28">
                    <a:extLst>
                      <a:ext uri="{FF2B5EF4-FFF2-40B4-BE49-F238E27FC236}">
                        <a16:creationId xmlns:a16="http://schemas.microsoft.com/office/drawing/2014/main" id="{821377DB-D02F-E0AE-18C8-EF403FF01DB3}"/>
                      </a:ext>
                    </a:extLst>
                  </p:cNvPr>
                  <p:cNvSpPr/>
                  <p:nvPr/>
                </p:nvSpPr>
                <p:spPr>
                  <a:xfrm>
                    <a:off x="6257845" y="5062379"/>
                    <a:ext cx="900910" cy="288953"/>
                  </a:xfrm>
                  <a:prstGeom prst="round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>
                        <a:solidFill>
                          <a:sysClr val="windowText" lastClr="000000"/>
                        </a:solidFill>
                      </a:rPr>
                      <a:t>T3, G=7</a:t>
                    </a:r>
                  </a:p>
                </p:txBody>
              </p:sp>
              <p:sp>
                <p:nvSpPr>
                  <p:cNvPr id="30" name="Rounded Rectangle 29">
                    <a:extLst>
                      <a:ext uri="{FF2B5EF4-FFF2-40B4-BE49-F238E27FC236}">
                        <a16:creationId xmlns:a16="http://schemas.microsoft.com/office/drawing/2014/main" id="{6F29EE46-61A8-EAB3-69D8-0D2CD764C676}"/>
                      </a:ext>
                    </a:extLst>
                  </p:cNvPr>
                  <p:cNvSpPr/>
                  <p:nvPr/>
                </p:nvSpPr>
                <p:spPr>
                  <a:xfrm>
                    <a:off x="6257845" y="5714454"/>
                    <a:ext cx="900910" cy="288953"/>
                  </a:xfrm>
                  <a:prstGeom prst="round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dirty="0">
                        <a:solidFill>
                          <a:sysClr val="windowText" lastClr="000000"/>
                        </a:solidFill>
                      </a:rPr>
                      <a:t>T3, G&gt;7</a:t>
                    </a:r>
                  </a:p>
                </p:txBody>
              </p:sp>
              <p:cxnSp>
                <p:nvCxnSpPr>
                  <p:cNvPr id="31" name="Straight Arrow Connector 30">
                    <a:extLst>
                      <a:ext uri="{FF2B5EF4-FFF2-40B4-BE49-F238E27FC236}">
                        <a16:creationId xmlns:a16="http://schemas.microsoft.com/office/drawing/2014/main" id="{445D77D2-488D-1A07-B55E-31C30C70F9F9}"/>
                      </a:ext>
                    </a:extLst>
                  </p:cNvPr>
                  <p:cNvCxnSpPr>
                    <a:cxnSpLocks/>
                    <a:stCxn id="28" idx="2"/>
                    <a:endCxn id="29" idx="0"/>
                  </p:cNvCxnSpPr>
                  <p:nvPr/>
                </p:nvCxnSpPr>
                <p:spPr>
                  <a:xfrm>
                    <a:off x="6708300" y="4707173"/>
                    <a:ext cx="0" cy="355206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Straight Arrow Connector 31">
                    <a:extLst>
                      <a:ext uri="{FF2B5EF4-FFF2-40B4-BE49-F238E27FC236}">
                        <a16:creationId xmlns:a16="http://schemas.microsoft.com/office/drawing/2014/main" id="{6149BCC6-61F1-5ACE-7A08-50382781C063}"/>
                      </a:ext>
                    </a:extLst>
                  </p:cNvPr>
                  <p:cNvCxnSpPr>
                    <a:cxnSpLocks/>
                    <a:stCxn id="29" idx="2"/>
                    <a:endCxn id="30" idx="0"/>
                  </p:cNvCxnSpPr>
                  <p:nvPr/>
                </p:nvCxnSpPr>
                <p:spPr>
                  <a:xfrm>
                    <a:off x="6708300" y="5351332"/>
                    <a:ext cx="0" cy="363122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46" name="Elbow Connector 45">
                  <a:extLst>
                    <a:ext uri="{FF2B5EF4-FFF2-40B4-BE49-F238E27FC236}">
                      <a16:creationId xmlns:a16="http://schemas.microsoft.com/office/drawing/2014/main" id="{F920C7BE-1102-16D3-9DFA-83D11F2DC262}"/>
                    </a:ext>
                  </a:extLst>
                </p:cNvPr>
                <p:cNvCxnSpPr>
                  <a:cxnSpLocks/>
                  <a:stCxn id="14" idx="3"/>
                  <a:endCxn id="23" idx="0"/>
                </p:cNvCxnSpPr>
                <p:nvPr/>
              </p:nvCxnSpPr>
              <p:spPr>
                <a:xfrm>
                  <a:off x="4361608" y="674002"/>
                  <a:ext cx="948117" cy="1799870"/>
                </a:xfrm>
                <a:prstGeom prst="bentConnector2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Elbow Connector 48">
                  <a:extLst>
                    <a:ext uri="{FF2B5EF4-FFF2-40B4-BE49-F238E27FC236}">
                      <a16:creationId xmlns:a16="http://schemas.microsoft.com/office/drawing/2014/main" id="{DACD6713-8D38-9DA2-0915-7DD957FA2AE9}"/>
                    </a:ext>
                  </a:extLst>
                </p:cNvPr>
                <p:cNvCxnSpPr>
                  <a:cxnSpLocks/>
                  <a:stCxn id="15" idx="3"/>
                  <a:endCxn id="24" idx="1"/>
                </p:cNvCxnSpPr>
                <p:nvPr/>
              </p:nvCxnSpPr>
              <p:spPr>
                <a:xfrm>
                  <a:off x="4361608" y="1326412"/>
                  <a:ext cx="497662" cy="1940053"/>
                </a:xfrm>
                <a:prstGeom prst="bentConnector3">
                  <a:avLst>
                    <a:gd name="adj1" fmla="val 50000"/>
                  </a:avLst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Elbow Connector 51">
                  <a:extLst>
                    <a:ext uri="{FF2B5EF4-FFF2-40B4-BE49-F238E27FC236}">
                      <a16:creationId xmlns:a16="http://schemas.microsoft.com/office/drawing/2014/main" id="{1E9836E4-94A2-3862-1B86-12877F90E611}"/>
                    </a:ext>
                  </a:extLst>
                </p:cNvPr>
                <p:cNvCxnSpPr>
                  <a:cxnSpLocks/>
                  <a:stCxn id="16" idx="2"/>
                  <a:endCxn id="25" idx="1"/>
                </p:cNvCxnSpPr>
                <p:nvPr/>
              </p:nvCxnSpPr>
              <p:spPr>
                <a:xfrm rot="16200000" flipH="1">
                  <a:off x="3485275" y="2540585"/>
                  <a:ext cx="1799873" cy="948117"/>
                </a:xfrm>
                <a:prstGeom prst="bentConnector2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Elbow Connector 56">
                  <a:extLst>
                    <a:ext uri="{FF2B5EF4-FFF2-40B4-BE49-F238E27FC236}">
                      <a16:creationId xmlns:a16="http://schemas.microsoft.com/office/drawing/2014/main" id="{83E5BD54-48B2-CB3C-AA2C-041D708E0CFB}"/>
                    </a:ext>
                  </a:extLst>
                </p:cNvPr>
                <p:cNvCxnSpPr>
                  <a:cxnSpLocks/>
                  <a:stCxn id="23" idx="3"/>
                  <a:endCxn id="28" idx="0"/>
                </p:cNvCxnSpPr>
                <p:nvPr/>
              </p:nvCxnSpPr>
              <p:spPr>
                <a:xfrm>
                  <a:off x="5760180" y="2618349"/>
                  <a:ext cx="948120" cy="1799871"/>
                </a:xfrm>
                <a:prstGeom prst="bentConnector2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Elbow Connector 59">
                  <a:extLst>
                    <a:ext uri="{FF2B5EF4-FFF2-40B4-BE49-F238E27FC236}">
                      <a16:creationId xmlns:a16="http://schemas.microsoft.com/office/drawing/2014/main" id="{7C44DC5F-4F77-B70E-6E6C-CA832FA60458}"/>
                    </a:ext>
                  </a:extLst>
                </p:cNvPr>
                <p:cNvCxnSpPr>
                  <a:cxnSpLocks/>
                  <a:stCxn id="24" idx="3"/>
                  <a:endCxn id="29" idx="1"/>
                </p:cNvCxnSpPr>
                <p:nvPr/>
              </p:nvCxnSpPr>
              <p:spPr>
                <a:xfrm>
                  <a:off x="5760180" y="3266465"/>
                  <a:ext cx="497665" cy="1940391"/>
                </a:xfrm>
                <a:prstGeom prst="bentConnector3">
                  <a:avLst>
                    <a:gd name="adj1" fmla="val 50000"/>
                  </a:avLst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Elbow Connector 62">
                  <a:extLst>
                    <a:ext uri="{FF2B5EF4-FFF2-40B4-BE49-F238E27FC236}">
                      <a16:creationId xmlns:a16="http://schemas.microsoft.com/office/drawing/2014/main" id="{AA51F41B-758A-4AA5-DC1E-F5F4C83FD856}"/>
                    </a:ext>
                  </a:extLst>
                </p:cNvPr>
                <p:cNvCxnSpPr>
                  <a:cxnSpLocks/>
                  <a:stCxn id="25" idx="2"/>
                  <a:endCxn id="30" idx="1"/>
                </p:cNvCxnSpPr>
                <p:nvPr/>
              </p:nvCxnSpPr>
              <p:spPr>
                <a:xfrm rot="16200000" flipH="1">
                  <a:off x="4883848" y="4484934"/>
                  <a:ext cx="1799874" cy="948120"/>
                </a:xfrm>
                <a:prstGeom prst="bentConnector2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27" name="TextBox 1026">
                  <a:extLst>
                    <a:ext uri="{FF2B5EF4-FFF2-40B4-BE49-F238E27FC236}">
                      <a16:creationId xmlns:a16="http://schemas.microsoft.com/office/drawing/2014/main" id="{321D17E0-3413-A2EA-3348-5A9DA062E962}"/>
                    </a:ext>
                  </a:extLst>
                </p:cNvPr>
                <p:cNvSpPr txBox="1"/>
                <p:nvPr/>
              </p:nvSpPr>
              <p:spPr>
                <a:xfrm>
                  <a:off x="4594369" y="279501"/>
                  <a:ext cx="1430713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b="1" dirty="0"/>
                    <a:t>Preclinical</a:t>
                  </a:r>
                </a:p>
              </p:txBody>
            </p:sp>
          </p:grpSp>
          <p:grpSp>
            <p:nvGrpSpPr>
              <p:cNvPr id="1102" name="Group 1101">
                <a:extLst>
                  <a:ext uri="{FF2B5EF4-FFF2-40B4-BE49-F238E27FC236}">
                    <a16:creationId xmlns:a16="http://schemas.microsoft.com/office/drawing/2014/main" id="{34F3BBED-925B-EF3D-02D3-6F5098E042E8}"/>
                  </a:ext>
                </a:extLst>
              </p:cNvPr>
              <p:cNvGrpSpPr/>
              <p:nvPr/>
            </p:nvGrpSpPr>
            <p:grpSpPr>
              <a:xfrm>
                <a:off x="-6067958" y="-1270484"/>
                <a:ext cx="900910" cy="5473883"/>
                <a:chOff x="9161536" y="529524"/>
                <a:chExt cx="900910" cy="5473883"/>
              </a:xfrm>
            </p:grpSpPr>
            <p:sp>
              <p:nvSpPr>
                <p:cNvPr id="1037" name="Rounded Rectangle 1036">
                  <a:extLst>
                    <a:ext uri="{FF2B5EF4-FFF2-40B4-BE49-F238E27FC236}">
                      <a16:creationId xmlns:a16="http://schemas.microsoft.com/office/drawing/2014/main" id="{C009050B-69C0-816A-BA96-5DD2C0A5DBAF}"/>
                    </a:ext>
                  </a:extLst>
                </p:cNvPr>
                <p:cNvSpPr/>
                <p:nvPr/>
              </p:nvSpPr>
              <p:spPr>
                <a:xfrm>
                  <a:off x="9161536" y="529524"/>
                  <a:ext cx="900910" cy="288953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ysClr val="windowText" lastClr="000000"/>
                      </a:solidFill>
                    </a:rPr>
                    <a:t>T1, G&lt;7</a:t>
                  </a:r>
                </a:p>
              </p:txBody>
            </p:sp>
            <p:sp>
              <p:nvSpPr>
                <p:cNvPr id="1038" name="Rounded Rectangle 1037">
                  <a:extLst>
                    <a:ext uri="{FF2B5EF4-FFF2-40B4-BE49-F238E27FC236}">
                      <a16:creationId xmlns:a16="http://schemas.microsoft.com/office/drawing/2014/main" id="{7DB59CBF-BE49-FDC2-C1BF-0695D7E25B6B}"/>
                    </a:ext>
                  </a:extLst>
                </p:cNvPr>
                <p:cNvSpPr/>
                <p:nvPr/>
              </p:nvSpPr>
              <p:spPr>
                <a:xfrm>
                  <a:off x="9161536" y="1177640"/>
                  <a:ext cx="900910" cy="288953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ysClr val="windowText" lastClr="000000"/>
                      </a:solidFill>
                    </a:rPr>
                    <a:t>T1, G=7</a:t>
                  </a:r>
                </a:p>
              </p:txBody>
            </p:sp>
            <p:sp>
              <p:nvSpPr>
                <p:cNvPr id="1039" name="Rounded Rectangle 1038">
                  <a:extLst>
                    <a:ext uri="{FF2B5EF4-FFF2-40B4-BE49-F238E27FC236}">
                      <a16:creationId xmlns:a16="http://schemas.microsoft.com/office/drawing/2014/main" id="{95C55E63-9B89-DA5C-3AE7-597FB50B4EE8}"/>
                    </a:ext>
                  </a:extLst>
                </p:cNvPr>
                <p:cNvSpPr/>
                <p:nvPr/>
              </p:nvSpPr>
              <p:spPr>
                <a:xfrm>
                  <a:off x="9161536" y="1825756"/>
                  <a:ext cx="900910" cy="288953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ysClr val="windowText" lastClr="000000"/>
                      </a:solidFill>
                    </a:rPr>
                    <a:t>T1, G&gt;7</a:t>
                  </a:r>
                </a:p>
              </p:txBody>
            </p:sp>
            <p:sp>
              <p:nvSpPr>
                <p:cNvPr id="1043" name="Rounded Rectangle 1042">
                  <a:extLst>
                    <a:ext uri="{FF2B5EF4-FFF2-40B4-BE49-F238E27FC236}">
                      <a16:creationId xmlns:a16="http://schemas.microsoft.com/office/drawing/2014/main" id="{0B7CFFB8-42AA-0D46-9EC5-B67D1F6B768B}"/>
                    </a:ext>
                  </a:extLst>
                </p:cNvPr>
                <p:cNvSpPr/>
                <p:nvPr/>
              </p:nvSpPr>
              <p:spPr>
                <a:xfrm>
                  <a:off x="9161536" y="2473872"/>
                  <a:ext cx="900910" cy="288953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ysClr val="windowText" lastClr="000000"/>
                      </a:solidFill>
                    </a:rPr>
                    <a:t>T2, G&lt;7</a:t>
                  </a:r>
                </a:p>
              </p:txBody>
            </p:sp>
            <p:sp>
              <p:nvSpPr>
                <p:cNvPr id="1044" name="Rounded Rectangle 1043">
                  <a:extLst>
                    <a:ext uri="{FF2B5EF4-FFF2-40B4-BE49-F238E27FC236}">
                      <a16:creationId xmlns:a16="http://schemas.microsoft.com/office/drawing/2014/main" id="{96FB4131-9C86-37B1-5AFB-D671494908C1}"/>
                    </a:ext>
                  </a:extLst>
                </p:cNvPr>
                <p:cNvSpPr/>
                <p:nvPr/>
              </p:nvSpPr>
              <p:spPr>
                <a:xfrm>
                  <a:off x="9161536" y="3121988"/>
                  <a:ext cx="900910" cy="288953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ysClr val="windowText" lastClr="000000"/>
                      </a:solidFill>
                    </a:rPr>
                    <a:t>T2, G=7</a:t>
                  </a:r>
                </a:p>
              </p:txBody>
            </p:sp>
            <p:sp>
              <p:nvSpPr>
                <p:cNvPr id="1045" name="Rounded Rectangle 1044">
                  <a:extLst>
                    <a:ext uri="{FF2B5EF4-FFF2-40B4-BE49-F238E27FC236}">
                      <a16:creationId xmlns:a16="http://schemas.microsoft.com/office/drawing/2014/main" id="{43989607-87C0-DCEB-B0FE-DC7C8D63EBEB}"/>
                    </a:ext>
                  </a:extLst>
                </p:cNvPr>
                <p:cNvSpPr/>
                <p:nvPr/>
              </p:nvSpPr>
              <p:spPr>
                <a:xfrm>
                  <a:off x="9161536" y="3770104"/>
                  <a:ext cx="900910" cy="288953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ysClr val="windowText" lastClr="000000"/>
                      </a:solidFill>
                    </a:rPr>
                    <a:t>T2, G&gt;7</a:t>
                  </a:r>
                </a:p>
              </p:txBody>
            </p:sp>
            <p:sp>
              <p:nvSpPr>
                <p:cNvPr id="1049" name="Rounded Rectangle 1048">
                  <a:extLst>
                    <a:ext uri="{FF2B5EF4-FFF2-40B4-BE49-F238E27FC236}">
                      <a16:creationId xmlns:a16="http://schemas.microsoft.com/office/drawing/2014/main" id="{5355D0FE-05C4-022A-C9C7-6FBCBF71DEDC}"/>
                    </a:ext>
                  </a:extLst>
                </p:cNvPr>
                <p:cNvSpPr/>
                <p:nvPr/>
              </p:nvSpPr>
              <p:spPr>
                <a:xfrm>
                  <a:off x="9161536" y="4418220"/>
                  <a:ext cx="900910" cy="288953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ysClr val="windowText" lastClr="000000"/>
                      </a:solidFill>
                    </a:rPr>
                    <a:t>T3, G&lt;7</a:t>
                  </a:r>
                </a:p>
              </p:txBody>
            </p:sp>
            <p:sp>
              <p:nvSpPr>
                <p:cNvPr id="1050" name="Rounded Rectangle 1049">
                  <a:extLst>
                    <a:ext uri="{FF2B5EF4-FFF2-40B4-BE49-F238E27FC236}">
                      <a16:creationId xmlns:a16="http://schemas.microsoft.com/office/drawing/2014/main" id="{70AE9B6D-27A7-AD37-41F4-3FF503845635}"/>
                    </a:ext>
                  </a:extLst>
                </p:cNvPr>
                <p:cNvSpPr/>
                <p:nvPr/>
              </p:nvSpPr>
              <p:spPr>
                <a:xfrm>
                  <a:off x="9161536" y="5066336"/>
                  <a:ext cx="900910" cy="288953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ysClr val="windowText" lastClr="000000"/>
                      </a:solidFill>
                    </a:rPr>
                    <a:t>T3, G=7</a:t>
                  </a:r>
                </a:p>
              </p:txBody>
            </p:sp>
            <p:sp>
              <p:nvSpPr>
                <p:cNvPr id="1051" name="Rounded Rectangle 1050">
                  <a:extLst>
                    <a:ext uri="{FF2B5EF4-FFF2-40B4-BE49-F238E27FC236}">
                      <a16:creationId xmlns:a16="http://schemas.microsoft.com/office/drawing/2014/main" id="{DFDEB3CF-DABE-7333-AABE-8045E522A06A}"/>
                    </a:ext>
                  </a:extLst>
                </p:cNvPr>
                <p:cNvSpPr/>
                <p:nvPr/>
              </p:nvSpPr>
              <p:spPr>
                <a:xfrm>
                  <a:off x="9161536" y="5714454"/>
                  <a:ext cx="900910" cy="288953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>
                      <a:solidFill>
                        <a:sysClr val="windowText" lastClr="000000"/>
                      </a:solidFill>
                    </a:rPr>
                    <a:t>T3, G&gt;7</a:t>
                  </a:r>
                </a:p>
              </p:txBody>
            </p:sp>
          </p:grpSp>
          <p:sp>
            <p:nvSpPr>
              <p:cNvPr id="1028" name="Rounded Rectangle 1027">
                <a:extLst>
                  <a:ext uri="{FF2B5EF4-FFF2-40B4-BE49-F238E27FC236}">
                    <a16:creationId xmlns:a16="http://schemas.microsoft.com/office/drawing/2014/main" id="{53FF5D0F-BDE1-679D-6799-AAC8F1E54077}"/>
                  </a:ext>
                </a:extLst>
              </p:cNvPr>
              <p:cNvSpPr/>
              <p:nvPr/>
            </p:nvSpPr>
            <p:spPr>
              <a:xfrm rot="5400000">
                <a:off x="-9671802" y="1223192"/>
                <a:ext cx="5905146" cy="486528"/>
              </a:xfrm>
              <a:prstGeom prst="roundRect">
                <a:avLst>
                  <a:gd name="adj" fmla="val 22916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solidFill>
                      <a:sysClr val="windowText" lastClr="000000"/>
                    </a:solidFill>
                  </a:rPr>
                  <a:t>Clinical Diagnosis</a:t>
                </a:r>
              </a:p>
            </p:txBody>
          </p:sp>
          <p:cxnSp>
            <p:nvCxnSpPr>
              <p:cNvPr id="1107" name="Elbow Connector 1106">
                <a:extLst>
                  <a:ext uri="{FF2B5EF4-FFF2-40B4-BE49-F238E27FC236}">
                    <a16:creationId xmlns:a16="http://schemas.microsoft.com/office/drawing/2014/main" id="{A860B8EE-DD92-8B56-F265-B7B49B37F408}"/>
                  </a:ext>
                </a:extLst>
              </p:cNvPr>
              <p:cNvCxnSpPr>
                <a:cxnSpLocks/>
                <a:stCxn id="1037" idx="3"/>
                <a:endCxn id="1106" idx="1"/>
              </p:cNvCxnSpPr>
              <p:nvPr/>
            </p:nvCxnSpPr>
            <p:spPr>
              <a:xfrm>
                <a:off x="-5167048" y="-1126007"/>
                <a:ext cx="408007" cy="2591911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0" name="Elbow Connector 1109">
                <a:extLst>
                  <a:ext uri="{FF2B5EF4-FFF2-40B4-BE49-F238E27FC236}">
                    <a16:creationId xmlns:a16="http://schemas.microsoft.com/office/drawing/2014/main" id="{413E9ACE-C86F-BC6B-9A83-AA58338D2047}"/>
                  </a:ext>
                </a:extLst>
              </p:cNvPr>
              <p:cNvCxnSpPr>
                <a:cxnSpLocks/>
                <a:stCxn id="1038" idx="3"/>
                <a:endCxn id="1106" idx="1"/>
              </p:cNvCxnSpPr>
              <p:nvPr/>
            </p:nvCxnSpPr>
            <p:spPr>
              <a:xfrm>
                <a:off x="-5167048" y="-477891"/>
                <a:ext cx="408007" cy="1943795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3" name="Elbow Connector 1112">
                <a:extLst>
                  <a:ext uri="{FF2B5EF4-FFF2-40B4-BE49-F238E27FC236}">
                    <a16:creationId xmlns:a16="http://schemas.microsoft.com/office/drawing/2014/main" id="{386B2FF2-BA38-D63D-15D5-77C38FA348D9}"/>
                  </a:ext>
                </a:extLst>
              </p:cNvPr>
              <p:cNvCxnSpPr>
                <a:cxnSpLocks/>
                <a:stCxn id="1039" idx="3"/>
                <a:endCxn id="1106" idx="1"/>
              </p:cNvCxnSpPr>
              <p:nvPr/>
            </p:nvCxnSpPr>
            <p:spPr>
              <a:xfrm>
                <a:off x="-5167048" y="170225"/>
                <a:ext cx="408007" cy="1295679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6" name="Elbow Connector 1115">
                <a:extLst>
                  <a:ext uri="{FF2B5EF4-FFF2-40B4-BE49-F238E27FC236}">
                    <a16:creationId xmlns:a16="http://schemas.microsoft.com/office/drawing/2014/main" id="{0874327B-EA1C-8569-928F-B0F4A9F888EB}"/>
                  </a:ext>
                </a:extLst>
              </p:cNvPr>
              <p:cNvCxnSpPr>
                <a:cxnSpLocks/>
                <a:stCxn id="1043" idx="3"/>
                <a:endCxn id="1106" idx="1"/>
              </p:cNvCxnSpPr>
              <p:nvPr/>
            </p:nvCxnSpPr>
            <p:spPr>
              <a:xfrm>
                <a:off x="-5167048" y="818341"/>
                <a:ext cx="408007" cy="647563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9" name="Elbow Connector 1118">
                <a:extLst>
                  <a:ext uri="{FF2B5EF4-FFF2-40B4-BE49-F238E27FC236}">
                    <a16:creationId xmlns:a16="http://schemas.microsoft.com/office/drawing/2014/main" id="{F1E528E4-EDE9-53B0-4706-F0CE897E5FFC}"/>
                  </a:ext>
                </a:extLst>
              </p:cNvPr>
              <p:cNvCxnSpPr>
                <a:cxnSpLocks/>
                <a:stCxn id="1044" idx="3"/>
                <a:endCxn id="1106" idx="1"/>
              </p:cNvCxnSpPr>
              <p:nvPr/>
            </p:nvCxnSpPr>
            <p:spPr>
              <a:xfrm flipV="1">
                <a:off x="-5167048" y="1465904"/>
                <a:ext cx="408007" cy="553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7" name="Elbow Connector 1136">
                <a:extLst>
                  <a:ext uri="{FF2B5EF4-FFF2-40B4-BE49-F238E27FC236}">
                    <a16:creationId xmlns:a16="http://schemas.microsoft.com/office/drawing/2014/main" id="{E1145BE2-699F-28AC-1786-DC7CDB055AC8}"/>
                  </a:ext>
                </a:extLst>
              </p:cNvPr>
              <p:cNvCxnSpPr>
                <a:cxnSpLocks/>
                <a:stCxn id="1045" idx="3"/>
                <a:endCxn id="1106" idx="1"/>
              </p:cNvCxnSpPr>
              <p:nvPr/>
            </p:nvCxnSpPr>
            <p:spPr>
              <a:xfrm flipV="1">
                <a:off x="-5167048" y="1465904"/>
                <a:ext cx="408007" cy="648669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0" name="Elbow Connector 1139">
                <a:extLst>
                  <a:ext uri="{FF2B5EF4-FFF2-40B4-BE49-F238E27FC236}">
                    <a16:creationId xmlns:a16="http://schemas.microsoft.com/office/drawing/2014/main" id="{9FF8A57F-E5BC-BB1F-70B9-00F550F8B429}"/>
                  </a:ext>
                </a:extLst>
              </p:cNvPr>
              <p:cNvCxnSpPr>
                <a:cxnSpLocks/>
                <a:stCxn id="1049" idx="3"/>
                <a:endCxn id="1106" idx="1"/>
              </p:cNvCxnSpPr>
              <p:nvPr/>
            </p:nvCxnSpPr>
            <p:spPr>
              <a:xfrm flipV="1">
                <a:off x="-5167048" y="1465904"/>
                <a:ext cx="408007" cy="1296785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3" name="Elbow Connector 1142">
                <a:extLst>
                  <a:ext uri="{FF2B5EF4-FFF2-40B4-BE49-F238E27FC236}">
                    <a16:creationId xmlns:a16="http://schemas.microsoft.com/office/drawing/2014/main" id="{EC5FFB55-28B0-F630-5B9E-773AB623AD5D}"/>
                  </a:ext>
                </a:extLst>
              </p:cNvPr>
              <p:cNvCxnSpPr>
                <a:cxnSpLocks/>
                <a:stCxn id="1050" idx="3"/>
                <a:endCxn id="1106" idx="1"/>
              </p:cNvCxnSpPr>
              <p:nvPr/>
            </p:nvCxnSpPr>
            <p:spPr>
              <a:xfrm flipV="1">
                <a:off x="-5167048" y="1465904"/>
                <a:ext cx="408007" cy="1944901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6" name="Elbow Connector 1145">
                <a:extLst>
                  <a:ext uri="{FF2B5EF4-FFF2-40B4-BE49-F238E27FC236}">
                    <a16:creationId xmlns:a16="http://schemas.microsoft.com/office/drawing/2014/main" id="{17448D2F-8216-5E02-17C1-6FBE43ACED7B}"/>
                  </a:ext>
                </a:extLst>
              </p:cNvPr>
              <p:cNvCxnSpPr>
                <a:cxnSpLocks/>
                <a:stCxn id="1051" idx="3"/>
                <a:endCxn id="1106" idx="1"/>
              </p:cNvCxnSpPr>
              <p:nvPr/>
            </p:nvCxnSpPr>
            <p:spPr>
              <a:xfrm flipV="1">
                <a:off x="-5167048" y="1465904"/>
                <a:ext cx="408007" cy="2593019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3" name="TextBox 1152">
                <a:extLst>
                  <a:ext uri="{FF2B5EF4-FFF2-40B4-BE49-F238E27FC236}">
                    <a16:creationId xmlns:a16="http://schemas.microsoft.com/office/drawing/2014/main" id="{E5BE43EB-0432-A10E-26AB-ADA02AC347D1}"/>
                  </a:ext>
                </a:extLst>
              </p:cNvPr>
              <p:cNvSpPr txBox="1"/>
              <p:nvPr/>
            </p:nvSpPr>
            <p:spPr>
              <a:xfrm>
                <a:off x="-14982146" y="-2058958"/>
                <a:ext cx="393800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a. DEMOS-MISCAN-Pro</a:t>
                </a:r>
              </a:p>
            </p:txBody>
          </p:sp>
          <p:grpSp>
            <p:nvGrpSpPr>
              <p:cNvPr id="1155" name="Group 1154">
                <a:extLst>
                  <a:ext uri="{FF2B5EF4-FFF2-40B4-BE49-F238E27FC236}">
                    <a16:creationId xmlns:a16="http://schemas.microsoft.com/office/drawing/2014/main" id="{446BCDB7-F0F7-8287-7DE8-094301419A0E}"/>
                  </a:ext>
                </a:extLst>
              </p:cNvPr>
              <p:cNvGrpSpPr/>
              <p:nvPr/>
            </p:nvGrpSpPr>
            <p:grpSpPr>
              <a:xfrm>
                <a:off x="-15013297" y="4515033"/>
                <a:ext cx="11554392" cy="6676493"/>
                <a:chOff x="390764" y="51853"/>
                <a:chExt cx="11554392" cy="6676493"/>
              </a:xfrm>
            </p:grpSpPr>
            <p:sp>
              <p:nvSpPr>
                <p:cNvPr id="1156" name="Rounded Rectangle 1155">
                  <a:extLst>
                    <a:ext uri="{FF2B5EF4-FFF2-40B4-BE49-F238E27FC236}">
                      <a16:creationId xmlns:a16="http://schemas.microsoft.com/office/drawing/2014/main" id="{758D52D7-4ACB-CCBF-AADB-80E7666EF100}"/>
                    </a:ext>
                  </a:extLst>
                </p:cNvPr>
                <p:cNvSpPr/>
                <p:nvPr/>
              </p:nvSpPr>
              <p:spPr>
                <a:xfrm>
                  <a:off x="390764" y="51853"/>
                  <a:ext cx="11554392" cy="6676493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158" name="Rounded Rectangle 1157">
                  <a:extLst>
                    <a:ext uri="{FF2B5EF4-FFF2-40B4-BE49-F238E27FC236}">
                      <a16:creationId xmlns:a16="http://schemas.microsoft.com/office/drawing/2014/main" id="{E1593A46-D299-FE27-AFB1-85FA0826F8DE}"/>
                    </a:ext>
                  </a:extLst>
                </p:cNvPr>
                <p:cNvSpPr/>
                <p:nvPr/>
              </p:nvSpPr>
              <p:spPr>
                <a:xfrm>
                  <a:off x="579720" y="3105927"/>
                  <a:ext cx="1223075" cy="563831"/>
                </a:xfrm>
                <a:prstGeom prst="roundRect">
                  <a:avLst>
                    <a:gd name="adj" fmla="val 22916"/>
                  </a:avLst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ysClr val="windowText" lastClr="000000"/>
                      </a:solidFill>
                    </a:rPr>
                    <a:t>Eligible individual</a:t>
                  </a:r>
                </a:p>
              </p:txBody>
            </p:sp>
            <p:sp>
              <p:nvSpPr>
                <p:cNvPr id="1159" name="Rounded Rectangle 1158">
                  <a:extLst>
                    <a:ext uri="{FF2B5EF4-FFF2-40B4-BE49-F238E27FC236}">
                      <a16:creationId xmlns:a16="http://schemas.microsoft.com/office/drawing/2014/main" id="{3FE3C39F-36CF-69B5-CE6B-DAF693CA904D}"/>
                    </a:ext>
                  </a:extLst>
                </p:cNvPr>
                <p:cNvSpPr/>
                <p:nvPr/>
              </p:nvSpPr>
              <p:spPr>
                <a:xfrm>
                  <a:off x="3788680" y="1426277"/>
                  <a:ext cx="1323286" cy="563831"/>
                </a:xfrm>
                <a:prstGeom prst="roundRect">
                  <a:avLst>
                    <a:gd name="adj" fmla="val 22916"/>
                  </a:avLst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ysClr val="windowText" lastClr="000000"/>
                      </a:solidFill>
                    </a:rPr>
                    <a:t>PRS </a:t>
                  </a:r>
                </a:p>
                <a:p>
                  <a:pPr algn="ctr"/>
                  <a:r>
                    <a:rPr lang="en-US" sz="1200" dirty="0">
                      <a:solidFill>
                        <a:sysClr val="windowText" lastClr="000000"/>
                      </a:solidFill>
                    </a:rPr>
                    <a:t>thresholds met?</a:t>
                  </a:r>
                </a:p>
              </p:txBody>
            </p:sp>
            <p:sp>
              <p:nvSpPr>
                <p:cNvPr id="1160" name="Rounded Rectangle 1159">
                  <a:extLst>
                    <a:ext uri="{FF2B5EF4-FFF2-40B4-BE49-F238E27FC236}">
                      <a16:creationId xmlns:a16="http://schemas.microsoft.com/office/drawing/2014/main" id="{EFF06AA6-E2D7-A1E1-2A09-EAA2F6CEA4A4}"/>
                    </a:ext>
                  </a:extLst>
                </p:cNvPr>
                <p:cNvSpPr/>
                <p:nvPr/>
              </p:nvSpPr>
              <p:spPr>
                <a:xfrm>
                  <a:off x="2105860" y="3105928"/>
                  <a:ext cx="1223075" cy="563831"/>
                </a:xfrm>
                <a:prstGeom prst="roundRect">
                  <a:avLst>
                    <a:gd name="adj" fmla="val 22916"/>
                  </a:avLst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ysClr val="windowText" lastClr="000000"/>
                      </a:solidFill>
                    </a:rPr>
                    <a:t>PSA </a:t>
                  </a:r>
                </a:p>
                <a:p>
                  <a:pPr algn="ctr"/>
                  <a:r>
                    <a:rPr lang="en-US" dirty="0">
                      <a:solidFill>
                        <a:sysClr val="windowText" lastClr="000000"/>
                      </a:solidFill>
                    </a:rPr>
                    <a:t>positive?</a:t>
                  </a:r>
                </a:p>
              </p:txBody>
            </p:sp>
            <p:sp>
              <p:nvSpPr>
                <p:cNvPr id="1161" name="Rounded Rectangle 1160">
                  <a:extLst>
                    <a:ext uri="{FF2B5EF4-FFF2-40B4-BE49-F238E27FC236}">
                      <a16:creationId xmlns:a16="http://schemas.microsoft.com/office/drawing/2014/main" id="{4DAC6A2E-3653-0D14-07FA-2BCE4A287932}"/>
                    </a:ext>
                  </a:extLst>
                </p:cNvPr>
                <p:cNvSpPr/>
                <p:nvPr/>
              </p:nvSpPr>
              <p:spPr>
                <a:xfrm>
                  <a:off x="3788680" y="4867892"/>
                  <a:ext cx="1323286" cy="563831"/>
                </a:xfrm>
                <a:prstGeom prst="roundRect">
                  <a:avLst>
                    <a:gd name="adj" fmla="val 22916"/>
                  </a:avLst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ysClr val="windowText" lastClr="000000"/>
                      </a:solidFill>
                    </a:rPr>
                    <a:t>PRS </a:t>
                  </a:r>
                </a:p>
                <a:p>
                  <a:pPr algn="ctr"/>
                  <a:r>
                    <a:rPr lang="en-US" sz="1200" dirty="0">
                      <a:solidFill>
                        <a:sysClr val="windowText" lastClr="000000"/>
                      </a:solidFill>
                    </a:rPr>
                    <a:t>thresholds met?</a:t>
                  </a:r>
                </a:p>
              </p:txBody>
            </p:sp>
            <p:sp>
              <p:nvSpPr>
                <p:cNvPr id="1162" name="Rounded Rectangle 1161">
                  <a:extLst>
                    <a:ext uri="{FF2B5EF4-FFF2-40B4-BE49-F238E27FC236}">
                      <a16:creationId xmlns:a16="http://schemas.microsoft.com/office/drawing/2014/main" id="{1441C8B5-47AF-C080-E1B6-415C0BA29F1F}"/>
                    </a:ext>
                  </a:extLst>
                </p:cNvPr>
                <p:cNvSpPr/>
                <p:nvPr/>
              </p:nvSpPr>
              <p:spPr>
                <a:xfrm>
                  <a:off x="5431804" y="862446"/>
                  <a:ext cx="1323286" cy="563831"/>
                </a:xfrm>
                <a:prstGeom prst="roundRect">
                  <a:avLst>
                    <a:gd name="adj" fmla="val 22916"/>
                  </a:avLst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ysClr val="windowText" lastClr="000000"/>
                      </a:solidFill>
                    </a:rPr>
                    <a:t>Diagnosed</a:t>
                  </a:r>
                </a:p>
              </p:txBody>
            </p:sp>
            <p:sp>
              <p:nvSpPr>
                <p:cNvPr id="1163" name="Rounded Rectangle 1162">
                  <a:extLst>
                    <a:ext uri="{FF2B5EF4-FFF2-40B4-BE49-F238E27FC236}">
                      <a16:creationId xmlns:a16="http://schemas.microsoft.com/office/drawing/2014/main" id="{9E4682A2-798A-0213-439F-D9A4A6F34E7E}"/>
                    </a:ext>
                  </a:extLst>
                </p:cNvPr>
                <p:cNvSpPr/>
                <p:nvPr/>
              </p:nvSpPr>
              <p:spPr>
                <a:xfrm>
                  <a:off x="5431804" y="1990108"/>
                  <a:ext cx="1323286" cy="563831"/>
                </a:xfrm>
                <a:prstGeom prst="roundRect">
                  <a:avLst>
                    <a:gd name="adj" fmla="val 22916"/>
                  </a:avLst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ysClr val="windowText" lastClr="000000"/>
                      </a:solidFill>
                    </a:rPr>
                    <a:t>Repeat PSA once</a:t>
                  </a:r>
                </a:p>
              </p:txBody>
            </p:sp>
            <p:sp>
              <p:nvSpPr>
                <p:cNvPr id="1164" name="Rounded Rectangle 1163">
                  <a:extLst>
                    <a:ext uri="{FF2B5EF4-FFF2-40B4-BE49-F238E27FC236}">
                      <a16:creationId xmlns:a16="http://schemas.microsoft.com/office/drawing/2014/main" id="{D383CDBF-426B-A621-051F-1726EC7E502D}"/>
                    </a:ext>
                  </a:extLst>
                </p:cNvPr>
                <p:cNvSpPr/>
                <p:nvPr/>
              </p:nvSpPr>
              <p:spPr>
                <a:xfrm>
                  <a:off x="5431804" y="4300864"/>
                  <a:ext cx="1323286" cy="563831"/>
                </a:xfrm>
                <a:prstGeom prst="roundRect">
                  <a:avLst>
                    <a:gd name="adj" fmla="val 22916"/>
                  </a:avLst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ysClr val="windowText" lastClr="000000"/>
                      </a:solidFill>
                    </a:rPr>
                    <a:t>Repeat PSA once</a:t>
                  </a:r>
                </a:p>
              </p:txBody>
            </p:sp>
            <p:sp>
              <p:nvSpPr>
                <p:cNvPr id="1165" name="Rounded Rectangle 1164">
                  <a:extLst>
                    <a:ext uri="{FF2B5EF4-FFF2-40B4-BE49-F238E27FC236}">
                      <a16:creationId xmlns:a16="http://schemas.microsoft.com/office/drawing/2014/main" id="{A90D18C8-E124-74D6-8238-870A41EEDF04}"/>
                    </a:ext>
                  </a:extLst>
                </p:cNvPr>
                <p:cNvSpPr/>
                <p:nvPr/>
              </p:nvSpPr>
              <p:spPr>
                <a:xfrm>
                  <a:off x="5431804" y="5431723"/>
                  <a:ext cx="1323286" cy="563831"/>
                </a:xfrm>
                <a:prstGeom prst="roundRect">
                  <a:avLst>
                    <a:gd name="adj" fmla="val 22916"/>
                  </a:avLst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ysClr val="windowText" lastClr="000000"/>
                      </a:solidFill>
                    </a:rPr>
                    <a:t>Not Diagnosed</a:t>
                  </a:r>
                </a:p>
              </p:txBody>
            </p:sp>
            <p:sp>
              <p:nvSpPr>
                <p:cNvPr id="1166" name="Rounded Rectangle 1165">
                  <a:extLst>
                    <a:ext uri="{FF2B5EF4-FFF2-40B4-BE49-F238E27FC236}">
                      <a16:creationId xmlns:a16="http://schemas.microsoft.com/office/drawing/2014/main" id="{826BE5ED-0077-818D-A963-8CED3F5758AF}"/>
                    </a:ext>
                  </a:extLst>
                </p:cNvPr>
                <p:cNvSpPr/>
                <p:nvPr/>
              </p:nvSpPr>
              <p:spPr>
                <a:xfrm>
                  <a:off x="7167341" y="1426277"/>
                  <a:ext cx="1323286" cy="563831"/>
                </a:xfrm>
                <a:prstGeom prst="roundRect">
                  <a:avLst>
                    <a:gd name="adj" fmla="val 22916"/>
                  </a:avLst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ysClr val="windowText" lastClr="000000"/>
                      </a:solidFill>
                    </a:rPr>
                    <a:t>Diagnosed</a:t>
                  </a:r>
                </a:p>
              </p:txBody>
            </p:sp>
            <p:sp>
              <p:nvSpPr>
                <p:cNvPr id="1167" name="Rounded Rectangle 1166">
                  <a:extLst>
                    <a:ext uri="{FF2B5EF4-FFF2-40B4-BE49-F238E27FC236}">
                      <a16:creationId xmlns:a16="http://schemas.microsoft.com/office/drawing/2014/main" id="{691F0876-A2D1-9EA7-3CAB-190A174D0955}"/>
                    </a:ext>
                  </a:extLst>
                </p:cNvPr>
                <p:cNvSpPr/>
                <p:nvPr/>
              </p:nvSpPr>
              <p:spPr>
                <a:xfrm>
                  <a:off x="7167341" y="2553938"/>
                  <a:ext cx="1323286" cy="563831"/>
                </a:xfrm>
                <a:prstGeom prst="roundRect">
                  <a:avLst>
                    <a:gd name="adj" fmla="val 22916"/>
                  </a:avLst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ysClr val="windowText" lastClr="000000"/>
                      </a:solidFill>
                    </a:rPr>
                    <a:t>Not Diagnosed</a:t>
                  </a:r>
                </a:p>
              </p:txBody>
            </p:sp>
            <p:sp>
              <p:nvSpPr>
                <p:cNvPr id="1168" name="Rounded Rectangle 1167">
                  <a:extLst>
                    <a:ext uri="{FF2B5EF4-FFF2-40B4-BE49-F238E27FC236}">
                      <a16:creationId xmlns:a16="http://schemas.microsoft.com/office/drawing/2014/main" id="{B04112D1-0F75-C3DC-C79C-2E30873F58E1}"/>
                    </a:ext>
                  </a:extLst>
                </p:cNvPr>
                <p:cNvSpPr/>
                <p:nvPr/>
              </p:nvSpPr>
              <p:spPr>
                <a:xfrm>
                  <a:off x="7167341" y="3737033"/>
                  <a:ext cx="1323286" cy="563831"/>
                </a:xfrm>
                <a:prstGeom prst="roundRect">
                  <a:avLst>
                    <a:gd name="adj" fmla="val 22916"/>
                  </a:avLst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ysClr val="windowText" lastClr="000000"/>
                      </a:solidFill>
                    </a:rPr>
                    <a:t>Diagnosed</a:t>
                  </a:r>
                </a:p>
              </p:txBody>
            </p:sp>
            <p:sp>
              <p:nvSpPr>
                <p:cNvPr id="1169" name="Rounded Rectangle 1168">
                  <a:extLst>
                    <a:ext uri="{FF2B5EF4-FFF2-40B4-BE49-F238E27FC236}">
                      <a16:creationId xmlns:a16="http://schemas.microsoft.com/office/drawing/2014/main" id="{A10C22F1-D0D5-9CE5-B7EA-656959F1A679}"/>
                    </a:ext>
                  </a:extLst>
                </p:cNvPr>
                <p:cNvSpPr/>
                <p:nvPr/>
              </p:nvSpPr>
              <p:spPr>
                <a:xfrm>
                  <a:off x="7167341" y="4864694"/>
                  <a:ext cx="1323286" cy="563831"/>
                </a:xfrm>
                <a:prstGeom prst="roundRect">
                  <a:avLst>
                    <a:gd name="adj" fmla="val 22916"/>
                  </a:avLst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ysClr val="windowText" lastClr="000000"/>
                      </a:solidFill>
                    </a:rPr>
                    <a:t>Not Diagnosed</a:t>
                  </a:r>
                </a:p>
              </p:txBody>
            </p:sp>
            <p:cxnSp>
              <p:nvCxnSpPr>
                <p:cNvPr id="1170" name="Straight Arrow Connector 1169">
                  <a:extLst>
                    <a:ext uri="{FF2B5EF4-FFF2-40B4-BE49-F238E27FC236}">
                      <a16:creationId xmlns:a16="http://schemas.microsoft.com/office/drawing/2014/main" id="{F78B270C-4572-6A60-B086-2F103BECD3B9}"/>
                    </a:ext>
                  </a:extLst>
                </p:cNvPr>
                <p:cNvCxnSpPr>
                  <a:cxnSpLocks/>
                  <a:stCxn id="1158" idx="3"/>
                  <a:endCxn id="1160" idx="1"/>
                </p:cNvCxnSpPr>
                <p:nvPr/>
              </p:nvCxnSpPr>
              <p:spPr>
                <a:xfrm>
                  <a:off x="1802795" y="3387843"/>
                  <a:ext cx="303065" cy="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1" name="Straight Arrow Connector 1170">
                  <a:extLst>
                    <a:ext uri="{FF2B5EF4-FFF2-40B4-BE49-F238E27FC236}">
                      <a16:creationId xmlns:a16="http://schemas.microsoft.com/office/drawing/2014/main" id="{F20BD97E-4F89-4E24-5EC8-FCBADE7E4CE0}"/>
                    </a:ext>
                  </a:extLst>
                </p:cNvPr>
                <p:cNvCxnSpPr>
                  <a:cxnSpLocks/>
                  <a:stCxn id="1160" idx="3"/>
                  <a:endCxn id="1159" idx="1"/>
                </p:cNvCxnSpPr>
                <p:nvPr/>
              </p:nvCxnSpPr>
              <p:spPr>
                <a:xfrm flipV="1">
                  <a:off x="3328935" y="1708193"/>
                  <a:ext cx="459745" cy="167965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2" name="Straight Arrow Connector 1171">
                  <a:extLst>
                    <a:ext uri="{FF2B5EF4-FFF2-40B4-BE49-F238E27FC236}">
                      <a16:creationId xmlns:a16="http://schemas.microsoft.com/office/drawing/2014/main" id="{30F709E7-9BC8-16E1-2C9A-2ADA4AD2A25B}"/>
                    </a:ext>
                  </a:extLst>
                </p:cNvPr>
                <p:cNvCxnSpPr>
                  <a:cxnSpLocks/>
                  <a:stCxn id="1160" idx="3"/>
                  <a:endCxn id="1161" idx="1"/>
                </p:cNvCxnSpPr>
                <p:nvPr/>
              </p:nvCxnSpPr>
              <p:spPr>
                <a:xfrm>
                  <a:off x="3328935" y="3387844"/>
                  <a:ext cx="459745" cy="1761964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3" name="Straight Arrow Connector 1172">
                  <a:extLst>
                    <a:ext uri="{FF2B5EF4-FFF2-40B4-BE49-F238E27FC236}">
                      <a16:creationId xmlns:a16="http://schemas.microsoft.com/office/drawing/2014/main" id="{6ACEAEF5-5D65-1169-FBFD-D49BCAF0E067}"/>
                    </a:ext>
                  </a:extLst>
                </p:cNvPr>
                <p:cNvCxnSpPr>
                  <a:cxnSpLocks/>
                  <a:stCxn id="1159" idx="3"/>
                  <a:endCxn id="1162" idx="1"/>
                </p:cNvCxnSpPr>
                <p:nvPr/>
              </p:nvCxnSpPr>
              <p:spPr>
                <a:xfrm flipV="1">
                  <a:off x="5111966" y="1144362"/>
                  <a:ext cx="319838" cy="56383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4" name="Straight Arrow Connector 1173">
                  <a:extLst>
                    <a:ext uri="{FF2B5EF4-FFF2-40B4-BE49-F238E27FC236}">
                      <a16:creationId xmlns:a16="http://schemas.microsoft.com/office/drawing/2014/main" id="{B07F4C5C-6B1A-46AA-E856-3332827A4D53}"/>
                    </a:ext>
                  </a:extLst>
                </p:cNvPr>
                <p:cNvCxnSpPr>
                  <a:cxnSpLocks/>
                  <a:stCxn id="1159" idx="3"/>
                  <a:endCxn id="1163" idx="1"/>
                </p:cNvCxnSpPr>
                <p:nvPr/>
              </p:nvCxnSpPr>
              <p:spPr>
                <a:xfrm>
                  <a:off x="5111966" y="1708193"/>
                  <a:ext cx="319838" cy="56383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5" name="Straight Arrow Connector 1174">
                  <a:extLst>
                    <a:ext uri="{FF2B5EF4-FFF2-40B4-BE49-F238E27FC236}">
                      <a16:creationId xmlns:a16="http://schemas.microsoft.com/office/drawing/2014/main" id="{78F66652-AF20-1848-7866-FCCB6DF9B6F5}"/>
                    </a:ext>
                  </a:extLst>
                </p:cNvPr>
                <p:cNvCxnSpPr>
                  <a:cxnSpLocks/>
                  <a:stCxn id="1161" idx="3"/>
                  <a:endCxn id="1164" idx="1"/>
                </p:cNvCxnSpPr>
                <p:nvPr/>
              </p:nvCxnSpPr>
              <p:spPr>
                <a:xfrm flipV="1">
                  <a:off x="5111966" y="4582780"/>
                  <a:ext cx="319838" cy="567028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6" name="Straight Arrow Connector 1175">
                  <a:extLst>
                    <a:ext uri="{FF2B5EF4-FFF2-40B4-BE49-F238E27FC236}">
                      <a16:creationId xmlns:a16="http://schemas.microsoft.com/office/drawing/2014/main" id="{8991C908-1202-8D72-5F95-2D12BD730565}"/>
                    </a:ext>
                  </a:extLst>
                </p:cNvPr>
                <p:cNvCxnSpPr>
                  <a:cxnSpLocks/>
                  <a:stCxn id="1161" idx="3"/>
                  <a:endCxn id="1165" idx="1"/>
                </p:cNvCxnSpPr>
                <p:nvPr/>
              </p:nvCxnSpPr>
              <p:spPr>
                <a:xfrm>
                  <a:off x="5111966" y="5149808"/>
                  <a:ext cx="319838" cy="56383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7" name="Straight Arrow Connector 1176">
                  <a:extLst>
                    <a:ext uri="{FF2B5EF4-FFF2-40B4-BE49-F238E27FC236}">
                      <a16:creationId xmlns:a16="http://schemas.microsoft.com/office/drawing/2014/main" id="{DA8EF61A-EF7A-3960-00F1-451E7B3D3D9E}"/>
                    </a:ext>
                  </a:extLst>
                </p:cNvPr>
                <p:cNvCxnSpPr>
                  <a:cxnSpLocks/>
                  <a:stCxn id="1163" idx="3"/>
                  <a:endCxn id="1166" idx="1"/>
                </p:cNvCxnSpPr>
                <p:nvPr/>
              </p:nvCxnSpPr>
              <p:spPr>
                <a:xfrm flipV="1">
                  <a:off x="6755090" y="1708193"/>
                  <a:ext cx="412251" cy="56383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8" name="Straight Arrow Connector 1177">
                  <a:extLst>
                    <a:ext uri="{FF2B5EF4-FFF2-40B4-BE49-F238E27FC236}">
                      <a16:creationId xmlns:a16="http://schemas.microsoft.com/office/drawing/2014/main" id="{18593282-1B81-1277-E60A-DEBED271224A}"/>
                    </a:ext>
                  </a:extLst>
                </p:cNvPr>
                <p:cNvCxnSpPr>
                  <a:cxnSpLocks/>
                  <a:stCxn id="1163" idx="3"/>
                  <a:endCxn id="1167" idx="1"/>
                </p:cNvCxnSpPr>
                <p:nvPr/>
              </p:nvCxnSpPr>
              <p:spPr>
                <a:xfrm>
                  <a:off x="6755090" y="2272024"/>
                  <a:ext cx="412251" cy="56383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9" name="Straight Arrow Connector 1178">
                  <a:extLst>
                    <a:ext uri="{FF2B5EF4-FFF2-40B4-BE49-F238E27FC236}">
                      <a16:creationId xmlns:a16="http://schemas.microsoft.com/office/drawing/2014/main" id="{7E441A0A-1051-F7A3-2CA2-C43398E4B9D5}"/>
                    </a:ext>
                  </a:extLst>
                </p:cNvPr>
                <p:cNvCxnSpPr>
                  <a:cxnSpLocks/>
                  <a:stCxn id="1164" idx="3"/>
                  <a:endCxn id="1168" idx="1"/>
                </p:cNvCxnSpPr>
                <p:nvPr/>
              </p:nvCxnSpPr>
              <p:spPr>
                <a:xfrm flipV="1">
                  <a:off x="6755090" y="4018949"/>
                  <a:ext cx="412251" cy="56383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0" name="Straight Arrow Connector 1179">
                  <a:extLst>
                    <a:ext uri="{FF2B5EF4-FFF2-40B4-BE49-F238E27FC236}">
                      <a16:creationId xmlns:a16="http://schemas.microsoft.com/office/drawing/2014/main" id="{6E3B7BFD-57FD-0B65-272F-9B41851E578E}"/>
                    </a:ext>
                  </a:extLst>
                </p:cNvPr>
                <p:cNvCxnSpPr>
                  <a:cxnSpLocks/>
                  <a:stCxn id="1164" idx="3"/>
                  <a:endCxn id="1169" idx="1"/>
                </p:cNvCxnSpPr>
                <p:nvPr/>
              </p:nvCxnSpPr>
              <p:spPr>
                <a:xfrm>
                  <a:off x="6755090" y="4582780"/>
                  <a:ext cx="412251" cy="56383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81" name="Rounded Rectangle 1180">
                  <a:extLst>
                    <a:ext uri="{FF2B5EF4-FFF2-40B4-BE49-F238E27FC236}">
                      <a16:creationId xmlns:a16="http://schemas.microsoft.com/office/drawing/2014/main" id="{614F5070-7F2A-1F59-97C9-D01B8C4F9F89}"/>
                    </a:ext>
                  </a:extLst>
                </p:cNvPr>
                <p:cNvSpPr/>
                <p:nvPr/>
              </p:nvSpPr>
              <p:spPr>
                <a:xfrm>
                  <a:off x="8863603" y="3151986"/>
                  <a:ext cx="1413153" cy="563831"/>
                </a:xfrm>
                <a:prstGeom prst="roundRect">
                  <a:avLst>
                    <a:gd name="adj" fmla="val 22916"/>
                  </a:avLst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ysClr val="windowText" lastClr="000000"/>
                      </a:solidFill>
                    </a:rPr>
                    <a:t>MRI/biopsy</a:t>
                  </a:r>
                </a:p>
              </p:txBody>
            </p:sp>
            <p:cxnSp>
              <p:nvCxnSpPr>
                <p:cNvPr id="1182" name="Elbow Connector 1181">
                  <a:extLst>
                    <a:ext uri="{FF2B5EF4-FFF2-40B4-BE49-F238E27FC236}">
                      <a16:creationId xmlns:a16="http://schemas.microsoft.com/office/drawing/2014/main" id="{66250E28-7C3E-21A3-7A12-D11AE0A29641}"/>
                    </a:ext>
                  </a:extLst>
                </p:cNvPr>
                <p:cNvCxnSpPr>
                  <a:cxnSpLocks/>
                  <a:stCxn id="1162" idx="3"/>
                  <a:endCxn id="1181" idx="0"/>
                </p:cNvCxnSpPr>
                <p:nvPr/>
              </p:nvCxnSpPr>
              <p:spPr>
                <a:xfrm>
                  <a:off x="6755090" y="1144362"/>
                  <a:ext cx="2815090" cy="2007624"/>
                </a:xfrm>
                <a:prstGeom prst="bentConnector2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3" name="Elbow Connector 1182">
                  <a:extLst>
                    <a:ext uri="{FF2B5EF4-FFF2-40B4-BE49-F238E27FC236}">
                      <a16:creationId xmlns:a16="http://schemas.microsoft.com/office/drawing/2014/main" id="{9EE637EC-4637-A5EF-9EC4-E85C3C7CC0F6}"/>
                    </a:ext>
                  </a:extLst>
                </p:cNvPr>
                <p:cNvCxnSpPr>
                  <a:cxnSpLocks/>
                  <a:stCxn id="1166" idx="3"/>
                  <a:endCxn id="1181" idx="0"/>
                </p:cNvCxnSpPr>
                <p:nvPr/>
              </p:nvCxnSpPr>
              <p:spPr>
                <a:xfrm>
                  <a:off x="8490627" y="1708193"/>
                  <a:ext cx="1079553" cy="1443793"/>
                </a:xfrm>
                <a:prstGeom prst="bentConnector2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4" name="Elbow Connector 1183">
                  <a:extLst>
                    <a:ext uri="{FF2B5EF4-FFF2-40B4-BE49-F238E27FC236}">
                      <a16:creationId xmlns:a16="http://schemas.microsoft.com/office/drawing/2014/main" id="{68E3B436-3924-720B-EE46-AF90610DE1C9}"/>
                    </a:ext>
                  </a:extLst>
                </p:cNvPr>
                <p:cNvCxnSpPr>
                  <a:cxnSpLocks/>
                  <a:stCxn id="1168" idx="3"/>
                  <a:endCxn id="1181" idx="2"/>
                </p:cNvCxnSpPr>
                <p:nvPr/>
              </p:nvCxnSpPr>
              <p:spPr>
                <a:xfrm flipV="1">
                  <a:off x="8490627" y="3715817"/>
                  <a:ext cx="1079553" cy="303132"/>
                </a:xfrm>
                <a:prstGeom prst="bentConnector2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85" name="Rounded Rectangle 1184">
                  <a:extLst>
                    <a:ext uri="{FF2B5EF4-FFF2-40B4-BE49-F238E27FC236}">
                      <a16:creationId xmlns:a16="http://schemas.microsoft.com/office/drawing/2014/main" id="{AC6659B1-0539-79D7-AD53-C41E6C8DB1F1}"/>
                    </a:ext>
                  </a:extLst>
                </p:cNvPr>
                <p:cNvSpPr/>
                <p:nvPr/>
              </p:nvSpPr>
              <p:spPr>
                <a:xfrm>
                  <a:off x="10426534" y="3151986"/>
                  <a:ext cx="1413153" cy="563831"/>
                </a:xfrm>
                <a:prstGeom prst="roundRect">
                  <a:avLst>
                    <a:gd name="adj" fmla="val 22916"/>
                  </a:avLst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ysClr val="windowText" lastClr="000000"/>
                      </a:solidFill>
                    </a:rPr>
                    <a:t>Prostate Cancer Confirmed</a:t>
                  </a:r>
                </a:p>
              </p:txBody>
            </p:sp>
            <p:cxnSp>
              <p:nvCxnSpPr>
                <p:cNvPr id="1186" name="Straight Arrow Connector 1185">
                  <a:extLst>
                    <a:ext uri="{FF2B5EF4-FFF2-40B4-BE49-F238E27FC236}">
                      <a16:creationId xmlns:a16="http://schemas.microsoft.com/office/drawing/2014/main" id="{AA857D9F-66BC-A641-3D2C-2A9D09A8F836}"/>
                    </a:ext>
                  </a:extLst>
                </p:cNvPr>
                <p:cNvCxnSpPr>
                  <a:cxnSpLocks/>
                  <a:stCxn id="1181" idx="3"/>
                  <a:endCxn id="1185" idx="1"/>
                </p:cNvCxnSpPr>
                <p:nvPr/>
              </p:nvCxnSpPr>
              <p:spPr>
                <a:xfrm>
                  <a:off x="10276756" y="3433902"/>
                  <a:ext cx="149778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87" name="Rounded Rectangle 1186">
                  <a:extLst>
                    <a:ext uri="{FF2B5EF4-FFF2-40B4-BE49-F238E27FC236}">
                      <a16:creationId xmlns:a16="http://schemas.microsoft.com/office/drawing/2014/main" id="{6E3F2EF3-490D-B716-D1FF-5BD738A6A5DF}"/>
                    </a:ext>
                  </a:extLst>
                </p:cNvPr>
                <p:cNvSpPr/>
                <p:nvPr/>
              </p:nvSpPr>
              <p:spPr>
                <a:xfrm>
                  <a:off x="10426533" y="1584343"/>
                  <a:ext cx="1413153" cy="563831"/>
                </a:xfrm>
                <a:prstGeom prst="roundRect">
                  <a:avLst>
                    <a:gd name="adj" fmla="val 22916"/>
                  </a:avLst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ysClr val="windowText" lastClr="000000"/>
                      </a:solidFill>
                    </a:rPr>
                    <a:t>Treatment</a:t>
                  </a:r>
                </a:p>
              </p:txBody>
            </p:sp>
            <p:sp>
              <p:nvSpPr>
                <p:cNvPr id="1188" name="Rounded Rectangle 1187">
                  <a:extLst>
                    <a:ext uri="{FF2B5EF4-FFF2-40B4-BE49-F238E27FC236}">
                      <a16:creationId xmlns:a16="http://schemas.microsoft.com/office/drawing/2014/main" id="{0A669927-82A9-F13E-13D6-734A4D6123D4}"/>
                    </a:ext>
                  </a:extLst>
                </p:cNvPr>
                <p:cNvSpPr/>
                <p:nvPr/>
              </p:nvSpPr>
              <p:spPr>
                <a:xfrm>
                  <a:off x="10426533" y="4799209"/>
                  <a:ext cx="1413153" cy="563831"/>
                </a:xfrm>
                <a:prstGeom prst="roundRect">
                  <a:avLst>
                    <a:gd name="adj" fmla="val 22916"/>
                  </a:avLst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ysClr val="windowText" lastClr="000000"/>
                      </a:solidFill>
                    </a:rPr>
                    <a:t>Back to normal</a:t>
                  </a:r>
                </a:p>
              </p:txBody>
            </p:sp>
            <p:cxnSp>
              <p:nvCxnSpPr>
                <p:cNvPr id="1189" name="Straight Arrow Connector 1188">
                  <a:extLst>
                    <a:ext uri="{FF2B5EF4-FFF2-40B4-BE49-F238E27FC236}">
                      <a16:creationId xmlns:a16="http://schemas.microsoft.com/office/drawing/2014/main" id="{E67B8E89-ECDC-E9B3-AE92-4299125A5179}"/>
                    </a:ext>
                  </a:extLst>
                </p:cNvPr>
                <p:cNvCxnSpPr>
                  <a:cxnSpLocks/>
                  <a:stCxn id="1185" idx="0"/>
                  <a:endCxn id="1187" idx="2"/>
                </p:cNvCxnSpPr>
                <p:nvPr/>
              </p:nvCxnSpPr>
              <p:spPr>
                <a:xfrm flipH="1" flipV="1">
                  <a:off x="11133110" y="2148174"/>
                  <a:ext cx="1" cy="100381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0" name="Straight Arrow Connector 1189">
                  <a:extLst>
                    <a:ext uri="{FF2B5EF4-FFF2-40B4-BE49-F238E27FC236}">
                      <a16:creationId xmlns:a16="http://schemas.microsoft.com/office/drawing/2014/main" id="{C774FB62-3943-2270-EB3B-985937BFD7CA}"/>
                    </a:ext>
                  </a:extLst>
                </p:cNvPr>
                <p:cNvCxnSpPr>
                  <a:cxnSpLocks/>
                  <a:stCxn id="1185" idx="2"/>
                  <a:endCxn id="1188" idx="0"/>
                </p:cNvCxnSpPr>
                <p:nvPr/>
              </p:nvCxnSpPr>
              <p:spPr>
                <a:xfrm flipH="1">
                  <a:off x="11133110" y="3715817"/>
                  <a:ext cx="1" cy="108339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91" name="TextBox 1190">
                  <a:extLst>
                    <a:ext uri="{FF2B5EF4-FFF2-40B4-BE49-F238E27FC236}">
                      <a16:creationId xmlns:a16="http://schemas.microsoft.com/office/drawing/2014/main" id="{3B22F994-02D3-7B5A-C14C-B31D7664133D}"/>
                    </a:ext>
                  </a:extLst>
                </p:cNvPr>
                <p:cNvSpPr txBox="1"/>
                <p:nvPr/>
              </p:nvSpPr>
              <p:spPr>
                <a:xfrm>
                  <a:off x="3269945" y="2280748"/>
                  <a:ext cx="2888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y</a:t>
                  </a:r>
                </a:p>
              </p:txBody>
            </p:sp>
            <p:sp>
              <p:nvSpPr>
                <p:cNvPr id="1192" name="TextBox 1191">
                  <a:extLst>
                    <a:ext uri="{FF2B5EF4-FFF2-40B4-BE49-F238E27FC236}">
                      <a16:creationId xmlns:a16="http://schemas.microsoft.com/office/drawing/2014/main" id="{60A08D4B-C179-3764-FBBC-A26529B83608}"/>
                    </a:ext>
                  </a:extLst>
                </p:cNvPr>
                <p:cNvSpPr txBox="1"/>
                <p:nvPr/>
              </p:nvSpPr>
              <p:spPr>
                <a:xfrm>
                  <a:off x="3269945" y="4116198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n</a:t>
                  </a:r>
                </a:p>
              </p:txBody>
            </p:sp>
            <p:sp>
              <p:nvSpPr>
                <p:cNvPr id="1193" name="TextBox 1192">
                  <a:extLst>
                    <a:ext uri="{FF2B5EF4-FFF2-40B4-BE49-F238E27FC236}">
                      <a16:creationId xmlns:a16="http://schemas.microsoft.com/office/drawing/2014/main" id="{AD974981-8E43-6212-040E-9FDB91EAF162}"/>
                    </a:ext>
                  </a:extLst>
                </p:cNvPr>
                <p:cNvSpPr txBox="1"/>
                <p:nvPr/>
              </p:nvSpPr>
              <p:spPr>
                <a:xfrm>
                  <a:off x="5059678" y="1144361"/>
                  <a:ext cx="2888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y</a:t>
                  </a:r>
                </a:p>
              </p:txBody>
            </p:sp>
            <p:sp>
              <p:nvSpPr>
                <p:cNvPr id="1194" name="TextBox 1193">
                  <a:extLst>
                    <a:ext uri="{FF2B5EF4-FFF2-40B4-BE49-F238E27FC236}">
                      <a16:creationId xmlns:a16="http://schemas.microsoft.com/office/drawing/2014/main" id="{B15A047E-4417-1A63-C078-7708D0570EC8}"/>
                    </a:ext>
                  </a:extLst>
                </p:cNvPr>
                <p:cNvSpPr txBox="1"/>
                <p:nvPr/>
              </p:nvSpPr>
              <p:spPr>
                <a:xfrm>
                  <a:off x="5046279" y="1917771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n</a:t>
                  </a:r>
                </a:p>
              </p:txBody>
            </p:sp>
            <p:sp>
              <p:nvSpPr>
                <p:cNvPr id="1195" name="TextBox 1194">
                  <a:extLst>
                    <a:ext uri="{FF2B5EF4-FFF2-40B4-BE49-F238E27FC236}">
                      <a16:creationId xmlns:a16="http://schemas.microsoft.com/office/drawing/2014/main" id="{86C12D9E-4ABF-0688-B809-CE3A9F6AEAF1}"/>
                    </a:ext>
                  </a:extLst>
                </p:cNvPr>
                <p:cNvSpPr txBox="1"/>
                <p:nvPr/>
              </p:nvSpPr>
              <p:spPr>
                <a:xfrm>
                  <a:off x="5049426" y="4570898"/>
                  <a:ext cx="2888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y</a:t>
                  </a:r>
                </a:p>
              </p:txBody>
            </p:sp>
            <p:sp>
              <p:nvSpPr>
                <p:cNvPr id="1196" name="TextBox 1195">
                  <a:extLst>
                    <a:ext uri="{FF2B5EF4-FFF2-40B4-BE49-F238E27FC236}">
                      <a16:creationId xmlns:a16="http://schemas.microsoft.com/office/drawing/2014/main" id="{81618C8E-E892-1B4F-90BC-45A7EC361CD1}"/>
                    </a:ext>
                  </a:extLst>
                </p:cNvPr>
                <p:cNvSpPr txBox="1"/>
                <p:nvPr/>
              </p:nvSpPr>
              <p:spPr>
                <a:xfrm>
                  <a:off x="5036027" y="5344308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n</a:t>
                  </a:r>
                </a:p>
              </p:txBody>
            </p:sp>
            <p:sp>
              <p:nvSpPr>
                <p:cNvPr id="1197" name="TextBox 1196">
                  <a:extLst>
                    <a:ext uri="{FF2B5EF4-FFF2-40B4-BE49-F238E27FC236}">
                      <a16:creationId xmlns:a16="http://schemas.microsoft.com/office/drawing/2014/main" id="{686064FB-DE64-DA09-34C2-9C7723264A76}"/>
                    </a:ext>
                  </a:extLst>
                </p:cNvPr>
                <p:cNvSpPr txBox="1"/>
                <p:nvPr/>
              </p:nvSpPr>
              <p:spPr>
                <a:xfrm>
                  <a:off x="6768489" y="1693112"/>
                  <a:ext cx="2888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y</a:t>
                  </a:r>
                </a:p>
              </p:txBody>
            </p:sp>
            <p:sp>
              <p:nvSpPr>
                <p:cNvPr id="1198" name="TextBox 1197">
                  <a:extLst>
                    <a:ext uri="{FF2B5EF4-FFF2-40B4-BE49-F238E27FC236}">
                      <a16:creationId xmlns:a16="http://schemas.microsoft.com/office/drawing/2014/main" id="{C6BA19C4-AD65-12E3-819B-AE1E46819BA5}"/>
                    </a:ext>
                  </a:extLst>
                </p:cNvPr>
                <p:cNvSpPr txBox="1"/>
                <p:nvPr/>
              </p:nvSpPr>
              <p:spPr>
                <a:xfrm>
                  <a:off x="6755090" y="2466522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n</a:t>
                  </a:r>
                </a:p>
              </p:txBody>
            </p:sp>
            <p:sp>
              <p:nvSpPr>
                <p:cNvPr id="1199" name="TextBox 1198">
                  <a:extLst>
                    <a:ext uri="{FF2B5EF4-FFF2-40B4-BE49-F238E27FC236}">
                      <a16:creationId xmlns:a16="http://schemas.microsoft.com/office/drawing/2014/main" id="{1306FC28-D1C6-B48E-3F82-3DC60BDAF242}"/>
                    </a:ext>
                  </a:extLst>
                </p:cNvPr>
                <p:cNvSpPr txBox="1"/>
                <p:nvPr/>
              </p:nvSpPr>
              <p:spPr>
                <a:xfrm>
                  <a:off x="6768489" y="4003868"/>
                  <a:ext cx="2888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y</a:t>
                  </a:r>
                </a:p>
              </p:txBody>
            </p:sp>
            <p:sp>
              <p:nvSpPr>
                <p:cNvPr id="1200" name="TextBox 1199">
                  <a:extLst>
                    <a:ext uri="{FF2B5EF4-FFF2-40B4-BE49-F238E27FC236}">
                      <a16:creationId xmlns:a16="http://schemas.microsoft.com/office/drawing/2014/main" id="{651F4D01-CE49-84AA-323B-D4628FAB6DDA}"/>
                    </a:ext>
                  </a:extLst>
                </p:cNvPr>
                <p:cNvSpPr txBox="1"/>
                <p:nvPr/>
              </p:nvSpPr>
              <p:spPr>
                <a:xfrm>
                  <a:off x="6755090" y="4777278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n</a:t>
                  </a:r>
                </a:p>
              </p:txBody>
            </p:sp>
            <p:sp>
              <p:nvSpPr>
                <p:cNvPr id="1201" name="TextBox 1200">
                  <a:extLst>
                    <a:ext uri="{FF2B5EF4-FFF2-40B4-BE49-F238E27FC236}">
                      <a16:creationId xmlns:a16="http://schemas.microsoft.com/office/drawing/2014/main" id="{C48B4D52-4A62-FA8C-3619-13E313E0A02D}"/>
                    </a:ext>
                  </a:extLst>
                </p:cNvPr>
                <p:cNvSpPr txBox="1"/>
                <p:nvPr/>
              </p:nvSpPr>
              <p:spPr>
                <a:xfrm>
                  <a:off x="10833027" y="2466522"/>
                  <a:ext cx="2888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y</a:t>
                  </a:r>
                </a:p>
              </p:txBody>
            </p:sp>
            <p:sp>
              <p:nvSpPr>
                <p:cNvPr id="1202" name="TextBox 1201">
                  <a:extLst>
                    <a:ext uri="{FF2B5EF4-FFF2-40B4-BE49-F238E27FC236}">
                      <a16:creationId xmlns:a16="http://schemas.microsoft.com/office/drawing/2014/main" id="{CA1DE122-6DF4-2F45-A812-88312DFA3977}"/>
                    </a:ext>
                  </a:extLst>
                </p:cNvPr>
                <p:cNvSpPr txBox="1"/>
                <p:nvPr/>
              </p:nvSpPr>
              <p:spPr>
                <a:xfrm>
                  <a:off x="10819628" y="4058074"/>
                  <a:ext cx="3113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n</a:t>
                  </a:r>
                </a:p>
              </p:txBody>
            </p:sp>
            <p:sp>
              <p:nvSpPr>
                <p:cNvPr id="1157" name="TextBox 1156">
                  <a:extLst>
                    <a:ext uri="{FF2B5EF4-FFF2-40B4-BE49-F238E27FC236}">
                      <a16:creationId xmlns:a16="http://schemas.microsoft.com/office/drawing/2014/main" id="{06162661-32BC-0E8B-3BB4-E696768564B1}"/>
                    </a:ext>
                  </a:extLst>
                </p:cNvPr>
                <p:cNvSpPr txBox="1"/>
                <p:nvPr/>
              </p:nvSpPr>
              <p:spPr>
                <a:xfrm>
                  <a:off x="452663" y="150483"/>
                  <a:ext cx="2207464" cy="52322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b="1" dirty="0"/>
                    <a:t>b. Screening</a:t>
                  </a:r>
                </a:p>
              </p:txBody>
            </p:sp>
          </p:grpSp>
          <p:cxnSp>
            <p:nvCxnSpPr>
              <p:cNvPr id="1210" name="Elbow Connector 1209">
                <a:extLst>
                  <a:ext uri="{FF2B5EF4-FFF2-40B4-BE49-F238E27FC236}">
                    <a16:creationId xmlns:a16="http://schemas.microsoft.com/office/drawing/2014/main" id="{A41EFFF8-8644-0FFB-D98C-AAD64EBA8738}"/>
                  </a:ext>
                </a:extLst>
              </p:cNvPr>
              <p:cNvCxnSpPr>
                <a:stCxn id="16" idx="2"/>
                <a:endCxn id="1158" idx="0"/>
              </p:cNvCxnSpPr>
              <p:nvPr/>
            </p:nvCxnSpPr>
            <p:spPr>
              <a:xfrm rot="5400000">
                <a:off x="-16161336" y="2263234"/>
                <a:ext cx="7254407" cy="3357339"/>
              </a:xfrm>
              <a:prstGeom prst="bentConnector3">
                <a:avLst>
                  <a:gd name="adj1" fmla="val 68011"/>
                </a:avLst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2" name="Elbow Connector 1211">
                <a:extLst>
                  <a:ext uri="{FF2B5EF4-FFF2-40B4-BE49-F238E27FC236}">
                    <a16:creationId xmlns:a16="http://schemas.microsoft.com/office/drawing/2014/main" id="{FE17F011-0C88-224E-86D5-D80445914A43}"/>
                  </a:ext>
                </a:extLst>
              </p:cNvPr>
              <p:cNvCxnSpPr>
                <a:cxnSpLocks/>
                <a:stCxn id="25" idx="2"/>
                <a:endCxn id="1158" idx="0"/>
              </p:cNvCxnSpPr>
              <p:nvPr/>
            </p:nvCxnSpPr>
            <p:spPr>
              <a:xfrm rot="5400000">
                <a:off x="-14489876" y="2536123"/>
                <a:ext cx="5310058" cy="4755911"/>
              </a:xfrm>
              <a:prstGeom prst="bentConnector3">
                <a:avLst>
                  <a:gd name="adj1" fmla="val 56344"/>
                </a:avLst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5" name="Elbow Connector 1214">
                <a:extLst>
                  <a:ext uri="{FF2B5EF4-FFF2-40B4-BE49-F238E27FC236}">
                    <a16:creationId xmlns:a16="http://schemas.microsoft.com/office/drawing/2014/main" id="{E655F0B4-9C70-4902-7904-5AA8E95F9E4E}"/>
                  </a:ext>
                </a:extLst>
              </p:cNvPr>
              <p:cNvCxnSpPr>
                <a:cxnSpLocks/>
                <a:stCxn id="30" idx="2"/>
                <a:endCxn id="1158" idx="0"/>
              </p:cNvCxnSpPr>
              <p:nvPr/>
            </p:nvCxnSpPr>
            <p:spPr>
              <a:xfrm rot="5400000">
                <a:off x="-12818414" y="2809010"/>
                <a:ext cx="3365708" cy="6154486"/>
              </a:xfrm>
              <a:prstGeom prst="bentConnector3">
                <a:avLst>
                  <a:gd name="adj1" fmla="val 31159"/>
                </a:avLst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3" name="Elbow Connector 1222">
                <a:extLst>
                  <a:ext uri="{FF2B5EF4-FFF2-40B4-BE49-F238E27FC236}">
                    <a16:creationId xmlns:a16="http://schemas.microsoft.com/office/drawing/2014/main" id="{916926D5-0CFF-9267-C0F7-A6A3A4690352}"/>
                  </a:ext>
                </a:extLst>
              </p:cNvPr>
              <p:cNvCxnSpPr>
                <a:cxnSpLocks/>
                <a:endCxn id="1158" idx="0"/>
              </p:cNvCxnSpPr>
              <p:nvPr/>
            </p:nvCxnSpPr>
            <p:spPr>
              <a:xfrm rot="5400000">
                <a:off x="-16317657" y="4769450"/>
                <a:ext cx="4904512" cy="694803"/>
              </a:xfrm>
              <a:prstGeom prst="bentConnector3">
                <a:avLst>
                  <a:gd name="adj1" fmla="val 52636"/>
                </a:avLst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8" name="Straight Arrow Connector 1247">
                <a:extLst>
                  <a:ext uri="{FF2B5EF4-FFF2-40B4-BE49-F238E27FC236}">
                    <a16:creationId xmlns:a16="http://schemas.microsoft.com/office/drawing/2014/main" id="{306D393D-B040-A8C5-A507-1D0F498D1831}"/>
                  </a:ext>
                </a:extLst>
              </p:cNvPr>
              <p:cNvCxnSpPr>
                <a:cxnSpLocks/>
                <a:stCxn id="1187" idx="0"/>
                <a:endCxn id="1106" idx="2"/>
              </p:cNvCxnSpPr>
              <p:nvPr/>
            </p:nvCxnSpPr>
            <p:spPr>
              <a:xfrm flipH="1" flipV="1">
                <a:off x="-4273129" y="1590186"/>
                <a:ext cx="2178" cy="445733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4" name="Elbow Connector 1253">
                <a:extLst>
                  <a:ext uri="{FF2B5EF4-FFF2-40B4-BE49-F238E27FC236}">
                    <a16:creationId xmlns:a16="http://schemas.microsoft.com/office/drawing/2014/main" id="{DE9B0226-BEDD-0163-6946-8B1F6EEECAAF}"/>
                  </a:ext>
                </a:extLst>
              </p:cNvPr>
              <p:cNvCxnSpPr>
                <a:cxnSpLocks/>
                <a:stCxn id="1188" idx="2"/>
                <a:endCxn id="4" idx="1"/>
              </p:cNvCxnSpPr>
              <p:nvPr/>
            </p:nvCxnSpPr>
            <p:spPr>
              <a:xfrm rot="5400000" flipH="1">
                <a:off x="-13238372" y="858800"/>
                <a:ext cx="7532881" cy="10401960"/>
              </a:xfrm>
              <a:prstGeom prst="bentConnector4">
                <a:avLst>
                  <a:gd name="adj1" fmla="val -11340"/>
                  <a:gd name="adj2" fmla="val 102536"/>
                </a:avLst>
              </a:prstGeom>
              <a:ln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" name="Elbow Connector 4">
              <a:extLst>
                <a:ext uri="{FF2B5EF4-FFF2-40B4-BE49-F238E27FC236}">
                  <a16:creationId xmlns:a16="http://schemas.microsoft.com/office/drawing/2014/main" id="{2F51573A-CBB4-E309-05F2-5B3F7677C899}"/>
                </a:ext>
              </a:extLst>
            </p:cNvPr>
            <p:cNvCxnSpPr>
              <a:cxnSpLocks/>
              <a:stCxn id="4" idx="3"/>
              <a:endCxn id="15" idx="1"/>
            </p:cNvCxnSpPr>
            <p:nvPr/>
          </p:nvCxnSpPr>
          <p:spPr>
            <a:xfrm flipV="1">
              <a:off x="3012103" y="-4383789"/>
              <a:ext cx="695275" cy="2766935"/>
            </a:xfrm>
            <a:prstGeom prst="bentConnector3">
              <a:avLst>
                <a:gd name="adj1" fmla="val 24949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02950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DDAF0-3664-B430-FFE0-2ECD74A54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1" name="Group 1130">
            <a:extLst>
              <a:ext uri="{FF2B5EF4-FFF2-40B4-BE49-F238E27FC236}">
                <a16:creationId xmlns:a16="http://schemas.microsoft.com/office/drawing/2014/main" id="{E32EACB2-97DA-EFF6-22DF-12F8C336C514}"/>
              </a:ext>
            </a:extLst>
          </p:cNvPr>
          <p:cNvGrpSpPr/>
          <p:nvPr/>
        </p:nvGrpSpPr>
        <p:grpSpPr>
          <a:xfrm>
            <a:off x="428342" y="51853"/>
            <a:ext cx="11554392" cy="6676493"/>
            <a:chOff x="428342" y="51853"/>
            <a:chExt cx="11554392" cy="6676493"/>
          </a:xfrm>
        </p:grpSpPr>
        <p:sp>
          <p:nvSpPr>
            <p:cNvPr id="1152" name="Rounded Rectangle 1151">
              <a:extLst>
                <a:ext uri="{FF2B5EF4-FFF2-40B4-BE49-F238E27FC236}">
                  <a16:creationId xmlns:a16="http://schemas.microsoft.com/office/drawing/2014/main" id="{79BE99B3-BFC0-F61B-8E84-33A6B528C17E}"/>
                </a:ext>
              </a:extLst>
            </p:cNvPr>
            <p:cNvSpPr/>
            <p:nvPr/>
          </p:nvSpPr>
          <p:spPr>
            <a:xfrm>
              <a:off x="428342" y="51853"/>
              <a:ext cx="11554392" cy="6676493"/>
            </a:xfrm>
            <a:prstGeom prst="roundRect">
              <a:avLst>
                <a:gd name="adj" fmla="val 5023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53" name="TextBox 1152">
              <a:extLst>
                <a:ext uri="{FF2B5EF4-FFF2-40B4-BE49-F238E27FC236}">
                  <a16:creationId xmlns:a16="http://schemas.microsoft.com/office/drawing/2014/main" id="{A9BDF799-C2BA-878E-ACBD-54A70D0187EA}"/>
                </a:ext>
              </a:extLst>
            </p:cNvPr>
            <p:cNvSpPr txBox="1"/>
            <p:nvPr/>
          </p:nvSpPr>
          <p:spPr>
            <a:xfrm>
              <a:off x="527819" y="150483"/>
              <a:ext cx="182370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Screening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6DEAE009-70CC-AB47-4E63-1F97EF2678D5}"/>
                </a:ext>
              </a:extLst>
            </p:cNvPr>
            <p:cNvSpPr/>
            <p:nvPr/>
          </p:nvSpPr>
          <p:spPr>
            <a:xfrm>
              <a:off x="579720" y="3105927"/>
              <a:ext cx="1223075" cy="563831"/>
            </a:xfrm>
            <a:prstGeom prst="roundRect">
              <a:avLst>
                <a:gd name="adj" fmla="val 22916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Eligible individual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149A0723-AA91-C6BD-7268-B29D9FF203B8}"/>
                </a:ext>
              </a:extLst>
            </p:cNvPr>
            <p:cNvSpPr/>
            <p:nvPr/>
          </p:nvSpPr>
          <p:spPr>
            <a:xfrm>
              <a:off x="3788680" y="1426277"/>
              <a:ext cx="1323286" cy="563831"/>
            </a:xfrm>
            <a:prstGeom prst="roundRect">
              <a:avLst>
                <a:gd name="adj" fmla="val 22916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PRS </a:t>
              </a:r>
            </a:p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&gt; decile 8?</a:t>
              </a:r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2403301C-8262-1596-45F5-61BAE4A360C4}"/>
                </a:ext>
              </a:extLst>
            </p:cNvPr>
            <p:cNvSpPr/>
            <p:nvPr/>
          </p:nvSpPr>
          <p:spPr>
            <a:xfrm>
              <a:off x="2105860" y="3105928"/>
              <a:ext cx="1223075" cy="563831"/>
            </a:xfrm>
            <a:prstGeom prst="roundRect">
              <a:avLst>
                <a:gd name="adj" fmla="val 22916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PSA </a:t>
              </a:r>
            </a:p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positive?</a:t>
              </a:r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29CEF5F7-037B-21B9-D3E3-88A3C1C8E8F2}"/>
                </a:ext>
              </a:extLst>
            </p:cNvPr>
            <p:cNvSpPr/>
            <p:nvPr/>
          </p:nvSpPr>
          <p:spPr>
            <a:xfrm>
              <a:off x="3788680" y="4867892"/>
              <a:ext cx="1323286" cy="563831"/>
            </a:xfrm>
            <a:prstGeom prst="roundRect">
              <a:avLst>
                <a:gd name="adj" fmla="val 22916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PRS </a:t>
              </a:r>
            </a:p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&gt; decile 8?</a:t>
              </a:r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39611935-4A17-141B-BCF8-AD6003FD0C02}"/>
                </a:ext>
              </a:extLst>
            </p:cNvPr>
            <p:cNvSpPr/>
            <p:nvPr/>
          </p:nvSpPr>
          <p:spPr>
            <a:xfrm>
              <a:off x="5431804" y="862446"/>
              <a:ext cx="1323286" cy="563831"/>
            </a:xfrm>
            <a:prstGeom prst="roundRect">
              <a:avLst>
                <a:gd name="adj" fmla="val 22916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Diagnosed</a:t>
              </a: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C9A1048D-78DE-88B4-5B67-B8172872BEB0}"/>
                </a:ext>
              </a:extLst>
            </p:cNvPr>
            <p:cNvSpPr/>
            <p:nvPr/>
          </p:nvSpPr>
          <p:spPr>
            <a:xfrm>
              <a:off x="5431804" y="1990108"/>
              <a:ext cx="1323286" cy="563831"/>
            </a:xfrm>
            <a:prstGeom prst="roundRect">
              <a:avLst>
                <a:gd name="adj" fmla="val 22916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Repeat PSA once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801B9546-5B51-7A74-ABF4-DE2DD23BC502}"/>
                </a:ext>
              </a:extLst>
            </p:cNvPr>
            <p:cNvSpPr/>
            <p:nvPr/>
          </p:nvSpPr>
          <p:spPr>
            <a:xfrm>
              <a:off x="5431804" y="4300864"/>
              <a:ext cx="1323286" cy="563831"/>
            </a:xfrm>
            <a:prstGeom prst="roundRect">
              <a:avLst>
                <a:gd name="adj" fmla="val 22916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Repeat PSA once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B3CCFB4A-5D60-211A-D3BA-194821258BF0}"/>
                </a:ext>
              </a:extLst>
            </p:cNvPr>
            <p:cNvSpPr/>
            <p:nvPr/>
          </p:nvSpPr>
          <p:spPr>
            <a:xfrm>
              <a:off x="5431804" y="5431723"/>
              <a:ext cx="1323286" cy="563831"/>
            </a:xfrm>
            <a:prstGeom prst="roundRect">
              <a:avLst>
                <a:gd name="adj" fmla="val 22916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Not Diagnosed</a:t>
              </a:r>
            </a:p>
          </p:txBody>
        </p:sp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9DCC7C9B-A7E7-8489-7BDF-C270F6D421CB}"/>
                </a:ext>
              </a:extLst>
            </p:cNvPr>
            <p:cNvSpPr/>
            <p:nvPr/>
          </p:nvSpPr>
          <p:spPr>
            <a:xfrm>
              <a:off x="7167341" y="1426277"/>
              <a:ext cx="1323286" cy="563831"/>
            </a:xfrm>
            <a:prstGeom prst="roundRect">
              <a:avLst>
                <a:gd name="adj" fmla="val 22916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Diagnosed</a:t>
              </a:r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F3BB959A-27C8-AFEE-D507-EE007466DDD8}"/>
                </a:ext>
              </a:extLst>
            </p:cNvPr>
            <p:cNvSpPr/>
            <p:nvPr/>
          </p:nvSpPr>
          <p:spPr>
            <a:xfrm>
              <a:off x="7167341" y="2553938"/>
              <a:ext cx="1323286" cy="563831"/>
            </a:xfrm>
            <a:prstGeom prst="roundRect">
              <a:avLst>
                <a:gd name="adj" fmla="val 22916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Not Diagnosed</a:t>
              </a:r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B1BEAACC-99C4-FFEB-43E7-3002044AB498}"/>
                </a:ext>
              </a:extLst>
            </p:cNvPr>
            <p:cNvSpPr/>
            <p:nvPr/>
          </p:nvSpPr>
          <p:spPr>
            <a:xfrm>
              <a:off x="7167341" y="3737033"/>
              <a:ext cx="1323286" cy="563831"/>
            </a:xfrm>
            <a:prstGeom prst="roundRect">
              <a:avLst>
                <a:gd name="adj" fmla="val 22916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Diagnosed</a:t>
              </a:r>
            </a:p>
          </p:txBody>
        </p:sp>
        <p:sp>
          <p:nvSpPr>
            <p:cNvPr id="43" name="Rounded Rectangle 42">
              <a:extLst>
                <a:ext uri="{FF2B5EF4-FFF2-40B4-BE49-F238E27FC236}">
                  <a16:creationId xmlns:a16="http://schemas.microsoft.com/office/drawing/2014/main" id="{62EACE85-2818-B01F-6571-261FD78AFEFD}"/>
                </a:ext>
              </a:extLst>
            </p:cNvPr>
            <p:cNvSpPr/>
            <p:nvPr/>
          </p:nvSpPr>
          <p:spPr>
            <a:xfrm>
              <a:off x="7167341" y="4864694"/>
              <a:ext cx="1323286" cy="563831"/>
            </a:xfrm>
            <a:prstGeom prst="roundRect">
              <a:avLst>
                <a:gd name="adj" fmla="val 22916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Not Diagnosed</a:t>
              </a: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417AB575-55A8-AF92-6E37-80A11A402897}"/>
                </a:ext>
              </a:extLst>
            </p:cNvPr>
            <p:cNvCxnSpPr>
              <a:cxnSpLocks/>
              <a:stCxn id="9" idx="3"/>
              <a:endCxn id="18" idx="1"/>
            </p:cNvCxnSpPr>
            <p:nvPr/>
          </p:nvCxnSpPr>
          <p:spPr>
            <a:xfrm>
              <a:off x="1802795" y="3387843"/>
              <a:ext cx="303065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3C474B47-8997-276A-F9E2-6EF1F8CFAAB9}"/>
                </a:ext>
              </a:extLst>
            </p:cNvPr>
            <p:cNvCxnSpPr>
              <a:cxnSpLocks/>
              <a:stCxn id="18" idx="3"/>
              <a:endCxn id="11" idx="1"/>
            </p:cNvCxnSpPr>
            <p:nvPr/>
          </p:nvCxnSpPr>
          <p:spPr>
            <a:xfrm flipV="1">
              <a:off x="3328935" y="1708193"/>
              <a:ext cx="459745" cy="167965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F694FB7C-F515-69BF-933C-545B1E4A3413}"/>
                </a:ext>
              </a:extLst>
            </p:cNvPr>
            <p:cNvCxnSpPr>
              <a:cxnSpLocks/>
              <a:stCxn id="18" idx="3"/>
              <a:endCxn id="19" idx="1"/>
            </p:cNvCxnSpPr>
            <p:nvPr/>
          </p:nvCxnSpPr>
          <p:spPr>
            <a:xfrm>
              <a:off x="3328935" y="3387844"/>
              <a:ext cx="459745" cy="176196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6003DD7F-A0B5-A7F2-8857-BFD2D64D1E04}"/>
                </a:ext>
              </a:extLst>
            </p:cNvPr>
            <p:cNvCxnSpPr>
              <a:cxnSpLocks/>
              <a:stCxn id="11" idx="3"/>
              <a:endCxn id="21" idx="1"/>
            </p:cNvCxnSpPr>
            <p:nvPr/>
          </p:nvCxnSpPr>
          <p:spPr>
            <a:xfrm flipV="1">
              <a:off x="5111966" y="1144362"/>
              <a:ext cx="319838" cy="56383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9DF5E9BE-EEE3-B3DF-476E-677F2898F183}"/>
                </a:ext>
              </a:extLst>
            </p:cNvPr>
            <p:cNvCxnSpPr>
              <a:cxnSpLocks/>
              <a:stCxn id="11" idx="3"/>
              <a:endCxn id="22" idx="1"/>
            </p:cNvCxnSpPr>
            <p:nvPr/>
          </p:nvCxnSpPr>
          <p:spPr>
            <a:xfrm>
              <a:off x="5111966" y="1708193"/>
              <a:ext cx="319838" cy="56383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6" name="Straight Arrow Connector 1025">
              <a:extLst>
                <a:ext uri="{FF2B5EF4-FFF2-40B4-BE49-F238E27FC236}">
                  <a16:creationId xmlns:a16="http://schemas.microsoft.com/office/drawing/2014/main" id="{1F0FF8CA-68A3-0E94-ECFA-D410A368A3E6}"/>
                </a:ext>
              </a:extLst>
            </p:cNvPr>
            <p:cNvCxnSpPr>
              <a:cxnSpLocks/>
              <a:stCxn id="19" idx="3"/>
              <a:endCxn id="36" idx="1"/>
            </p:cNvCxnSpPr>
            <p:nvPr/>
          </p:nvCxnSpPr>
          <p:spPr>
            <a:xfrm flipV="1">
              <a:off x="5111966" y="4582780"/>
              <a:ext cx="319838" cy="56702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Straight Arrow Connector 1031">
              <a:extLst>
                <a:ext uri="{FF2B5EF4-FFF2-40B4-BE49-F238E27FC236}">
                  <a16:creationId xmlns:a16="http://schemas.microsoft.com/office/drawing/2014/main" id="{B3ED7C0A-39E5-82C3-F5FB-180056B75B98}"/>
                </a:ext>
              </a:extLst>
            </p:cNvPr>
            <p:cNvCxnSpPr>
              <a:cxnSpLocks/>
              <a:stCxn id="19" idx="3"/>
              <a:endCxn id="38" idx="1"/>
            </p:cNvCxnSpPr>
            <p:nvPr/>
          </p:nvCxnSpPr>
          <p:spPr>
            <a:xfrm>
              <a:off x="5111966" y="5149808"/>
              <a:ext cx="319838" cy="56383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5" name="Straight Arrow Connector 1034">
              <a:extLst>
                <a:ext uri="{FF2B5EF4-FFF2-40B4-BE49-F238E27FC236}">
                  <a16:creationId xmlns:a16="http://schemas.microsoft.com/office/drawing/2014/main" id="{DDCC49CB-B150-C03A-395B-218F124159EC}"/>
                </a:ext>
              </a:extLst>
            </p:cNvPr>
            <p:cNvCxnSpPr>
              <a:cxnSpLocks/>
              <a:stCxn id="22" idx="3"/>
              <a:endCxn id="40" idx="1"/>
            </p:cNvCxnSpPr>
            <p:nvPr/>
          </p:nvCxnSpPr>
          <p:spPr>
            <a:xfrm flipV="1">
              <a:off x="6755090" y="1708193"/>
              <a:ext cx="412251" cy="56383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1" name="Straight Arrow Connector 1040">
              <a:extLst>
                <a:ext uri="{FF2B5EF4-FFF2-40B4-BE49-F238E27FC236}">
                  <a16:creationId xmlns:a16="http://schemas.microsoft.com/office/drawing/2014/main" id="{8A96BEE3-1BB5-8A59-C386-ABAB02F20B02}"/>
                </a:ext>
              </a:extLst>
            </p:cNvPr>
            <p:cNvCxnSpPr>
              <a:cxnSpLocks/>
              <a:stCxn id="22" idx="3"/>
              <a:endCxn id="41" idx="1"/>
            </p:cNvCxnSpPr>
            <p:nvPr/>
          </p:nvCxnSpPr>
          <p:spPr>
            <a:xfrm>
              <a:off x="6755090" y="2272024"/>
              <a:ext cx="412251" cy="5638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7" name="Straight Arrow Connector 1046">
              <a:extLst>
                <a:ext uri="{FF2B5EF4-FFF2-40B4-BE49-F238E27FC236}">
                  <a16:creationId xmlns:a16="http://schemas.microsoft.com/office/drawing/2014/main" id="{01B76963-0F6B-054D-F367-97EDE66966BE}"/>
                </a:ext>
              </a:extLst>
            </p:cNvPr>
            <p:cNvCxnSpPr>
              <a:cxnSpLocks/>
              <a:stCxn id="36" idx="3"/>
              <a:endCxn id="42" idx="1"/>
            </p:cNvCxnSpPr>
            <p:nvPr/>
          </p:nvCxnSpPr>
          <p:spPr>
            <a:xfrm flipV="1">
              <a:off x="6755090" y="4018949"/>
              <a:ext cx="412251" cy="56383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3" name="Straight Arrow Connector 1052">
              <a:extLst>
                <a:ext uri="{FF2B5EF4-FFF2-40B4-BE49-F238E27FC236}">
                  <a16:creationId xmlns:a16="http://schemas.microsoft.com/office/drawing/2014/main" id="{C370E245-7959-2CF1-E665-007DC63A5DB6}"/>
                </a:ext>
              </a:extLst>
            </p:cNvPr>
            <p:cNvCxnSpPr>
              <a:cxnSpLocks/>
              <a:stCxn id="36" idx="3"/>
              <a:endCxn id="43" idx="1"/>
            </p:cNvCxnSpPr>
            <p:nvPr/>
          </p:nvCxnSpPr>
          <p:spPr>
            <a:xfrm>
              <a:off x="6755090" y="4582780"/>
              <a:ext cx="412251" cy="5638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0" name="Rounded Rectangle 1059">
              <a:extLst>
                <a:ext uri="{FF2B5EF4-FFF2-40B4-BE49-F238E27FC236}">
                  <a16:creationId xmlns:a16="http://schemas.microsoft.com/office/drawing/2014/main" id="{94EA5C3E-2F25-1145-1F3E-91AEE1800394}"/>
                </a:ext>
              </a:extLst>
            </p:cNvPr>
            <p:cNvSpPr/>
            <p:nvPr/>
          </p:nvSpPr>
          <p:spPr>
            <a:xfrm>
              <a:off x="8863603" y="3151986"/>
              <a:ext cx="1413153" cy="563831"/>
            </a:xfrm>
            <a:prstGeom prst="roundRect">
              <a:avLst>
                <a:gd name="adj" fmla="val 22916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MRI/biopsy</a:t>
              </a:r>
            </a:p>
          </p:txBody>
        </p:sp>
        <p:cxnSp>
          <p:nvCxnSpPr>
            <p:cNvPr id="1069" name="Elbow Connector 1068">
              <a:extLst>
                <a:ext uri="{FF2B5EF4-FFF2-40B4-BE49-F238E27FC236}">
                  <a16:creationId xmlns:a16="http://schemas.microsoft.com/office/drawing/2014/main" id="{2DCBF706-BA98-841F-3C72-D916DBCE93B9}"/>
                </a:ext>
              </a:extLst>
            </p:cNvPr>
            <p:cNvCxnSpPr>
              <a:cxnSpLocks/>
              <a:stCxn id="21" idx="3"/>
              <a:endCxn id="1060" idx="0"/>
            </p:cNvCxnSpPr>
            <p:nvPr/>
          </p:nvCxnSpPr>
          <p:spPr>
            <a:xfrm>
              <a:off x="6755090" y="1144362"/>
              <a:ext cx="2815090" cy="2007624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0" name="Elbow Connector 1069">
              <a:extLst>
                <a:ext uri="{FF2B5EF4-FFF2-40B4-BE49-F238E27FC236}">
                  <a16:creationId xmlns:a16="http://schemas.microsoft.com/office/drawing/2014/main" id="{A0C13CAF-39C4-FF61-50EF-9E304F491EB4}"/>
                </a:ext>
              </a:extLst>
            </p:cNvPr>
            <p:cNvCxnSpPr>
              <a:cxnSpLocks/>
              <a:stCxn id="40" idx="3"/>
              <a:endCxn id="1060" idx="0"/>
            </p:cNvCxnSpPr>
            <p:nvPr/>
          </p:nvCxnSpPr>
          <p:spPr>
            <a:xfrm>
              <a:off x="8490627" y="1708193"/>
              <a:ext cx="1079553" cy="1443793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3" name="Elbow Connector 1072">
              <a:extLst>
                <a:ext uri="{FF2B5EF4-FFF2-40B4-BE49-F238E27FC236}">
                  <a16:creationId xmlns:a16="http://schemas.microsoft.com/office/drawing/2014/main" id="{77D300D5-617B-2BE3-BB4A-7F331B4EBDC0}"/>
                </a:ext>
              </a:extLst>
            </p:cNvPr>
            <p:cNvCxnSpPr>
              <a:cxnSpLocks/>
              <a:stCxn id="42" idx="3"/>
              <a:endCxn id="1060" idx="2"/>
            </p:cNvCxnSpPr>
            <p:nvPr/>
          </p:nvCxnSpPr>
          <p:spPr>
            <a:xfrm flipV="1">
              <a:off x="8490627" y="3715817"/>
              <a:ext cx="1079553" cy="303132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79" name="Rounded Rectangle 1078">
              <a:extLst>
                <a:ext uri="{FF2B5EF4-FFF2-40B4-BE49-F238E27FC236}">
                  <a16:creationId xmlns:a16="http://schemas.microsoft.com/office/drawing/2014/main" id="{BF148B6A-BE9C-6DE8-723D-2A7917C050CC}"/>
                </a:ext>
              </a:extLst>
            </p:cNvPr>
            <p:cNvSpPr/>
            <p:nvPr/>
          </p:nvSpPr>
          <p:spPr>
            <a:xfrm>
              <a:off x="10464112" y="3151986"/>
              <a:ext cx="1413153" cy="563831"/>
            </a:xfrm>
            <a:prstGeom prst="roundRect">
              <a:avLst>
                <a:gd name="adj" fmla="val 22916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False</a:t>
              </a:r>
            </a:p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Positive?</a:t>
              </a:r>
            </a:p>
          </p:txBody>
        </p:sp>
        <p:cxnSp>
          <p:nvCxnSpPr>
            <p:cNvPr id="1080" name="Straight Arrow Connector 1079">
              <a:extLst>
                <a:ext uri="{FF2B5EF4-FFF2-40B4-BE49-F238E27FC236}">
                  <a16:creationId xmlns:a16="http://schemas.microsoft.com/office/drawing/2014/main" id="{52A9C17F-F700-2159-F7E8-C0FDECDBDA92}"/>
                </a:ext>
              </a:extLst>
            </p:cNvPr>
            <p:cNvCxnSpPr>
              <a:cxnSpLocks/>
              <a:stCxn id="1060" idx="3"/>
              <a:endCxn id="1079" idx="1"/>
            </p:cNvCxnSpPr>
            <p:nvPr/>
          </p:nvCxnSpPr>
          <p:spPr>
            <a:xfrm>
              <a:off x="10276756" y="3433902"/>
              <a:ext cx="18735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85" name="Rounded Rectangle 1084">
              <a:extLst>
                <a:ext uri="{FF2B5EF4-FFF2-40B4-BE49-F238E27FC236}">
                  <a16:creationId xmlns:a16="http://schemas.microsoft.com/office/drawing/2014/main" id="{40DC5F1C-FD78-06B1-86B7-72E4D01A47E7}"/>
                </a:ext>
              </a:extLst>
            </p:cNvPr>
            <p:cNvSpPr/>
            <p:nvPr/>
          </p:nvSpPr>
          <p:spPr>
            <a:xfrm>
              <a:off x="10464111" y="1584343"/>
              <a:ext cx="1413153" cy="563831"/>
            </a:xfrm>
            <a:prstGeom prst="roundRect">
              <a:avLst>
                <a:gd name="adj" fmla="val 22916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Treatment</a:t>
              </a:r>
            </a:p>
          </p:txBody>
        </p:sp>
        <p:sp>
          <p:nvSpPr>
            <p:cNvPr id="1086" name="Rounded Rectangle 1085">
              <a:extLst>
                <a:ext uri="{FF2B5EF4-FFF2-40B4-BE49-F238E27FC236}">
                  <a16:creationId xmlns:a16="http://schemas.microsoft.com/office/drawing/2014/main" id="{30921AB3-9591-33F0-8D10-F57FB224C9A5}"/>
                </a:ext>
              </a:extLst>
            </p:cNvPr>
            <p:cNvSpPr/>
            <p:nvPr/>
          </p:nvSpPr>
          <p:spPr>
            <a:xfrm>
              <a:off x="10464111" y="4799209"/>
              <a:ext cx="1413153" cy="563831"/>
            </a:xfrm>
            <a:prstGeom prst="roundRect">
              <a:avLst>
                <a:gd name="adj" fmla="val 22916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Back to normal</a:t>
              </a:r>
            </a:p>
          </p:txBody>
        </p:sp>
        <p:cxnSp>
          <p:nvCxnSpPr>
            <p:cNvPr id="1088" name="Straight Arrow Connector 1087">
              <a:extLst>
                <a:ext uri="{FF2B5EF4-FFF2-40B4-BE49-F238E27FC236}">
                  <a16:creationId xmlns:a16="http://schemas.microsoft.com/office/drawing/2014/main" id="{5CB2BDAF-BF7F-7C24-28C4-384F6A9C7E4E}"/>
                </a:ext>
              </a:extLst>
            </p:cNvPr>
            <p:cNvCxnSpPr>
              <a:cxnSpLocks/>
              <a:stCxn id="1079" idx="0"/>
              <a:endCxn id="1085" idx="2"/>
            </p:cNvCxnSpPr>
            <p:nvPr/>
          </p:nvCxnSpPr>
          <p:spPr>
            <a:xfrm flipH="1" flipV="1">
              <a:off x="11170688" y="2148174"/>
              <a:ext cx="1" cy="100381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2" name="Straight Arrow Connector 1091">
              <a:extLst>
                <a:ext uri="{FF2B5EF4-FFF2-40B4-BE49-F238E27FC236}">
                  <a16:creationId xmlns:a16="http://schemas.microsoft.com/office/drawing/2014/main" id="{69F90FB0-3558-F5E9-0D6C-04A79A23C05A}"/>
                </a:ext>
              </a:extLst>
            </p:cNvPr>
            <p:cNvCxnSpPr>
              <a:cxnSpLocks/>
              <a:stCxn id="1079" idx="2"/>
              <a:endCxn id="1086" idx="0"/>
            </p:cNvCxnSpPr>
            <p:nvPr/>
          </p:nvCxnSpPr>
          <p:spPr>
            <a:xfrm flipH="1">
              <a:off x="11170688" y="3715817"/>
              <a:ext cx="1" cy="108339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14" name="TextBox 1113">
              <a:extLst>
                <a:ext uri="{FF2B5EF4-FFF2-40B4-BE49-F238E27FC236}">
                  <a16:creationId xmlns:a16="http://schemas.microsoft.com/office/drawing/2014/main" id="{71060435-B518-4B7E-3746-459971143568}"/>
                </a:ext>
              </a:extLst>
            </p:cNvPr>
            <p:cNvSpPr txBox="1"/>
            <p:nvPr/>
          </p:nvSpPr>
          <p:spPr>
            <a:xfrm>
              <a:off x="3269945" y="2280748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1118" name="TextBox 1117">
              <a:extLst>
                <a:ext uri="{FF2B5EF4-FFF2-40B4-BE49-F238E27FC236}">
                  <a16:creationId xmlns:a16="http://schemas.microsoft.com/office/drawing/2014/main" id="{4BFA3C07-2F6F-44B3-89E7-1CC73F160EEA}"/>
                </a:ext>
              </a:extLst>
            </p:cNvPr>
            <p:cNvSpPr txBox="1"/>
            <p:nvPr/>
          </p:nvSpPr>
          <p:spPr>
            <a:xfrm>
              <a:off x="3269945" y="4116198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</a:t>
              </a:r>
            </a:p>
          </p:txBody>
        </p:sp>
        <p:sp>
          <p:nvSpPr>
            <p:cNvPr id="1120" name="TextBox 1119">
              <a:extLst>
                <a:ext uri="{FF2B5EF4-FFF2-40B4-BE49-F238E27FC236}">
                  <a16:creationId xmlns:a16="http://schemas.microsoft.com/office/drawing/2014/main" id="{4833628F-7A0A-B505-6585-475B87D144D6}"/>
                </a:ext>
              </a:extLst>
            </p:cNvPr>
            <p:cNvSpPr txBox="1"/>
            <p:nvPr/>
          </p:nvSpPr>
          <p:spPr>
            <a:xfrm>
              <a:off x="5059678" y="1144361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1121" name="TextBox 1120">
              <a:extLst>
                <a:ext uri="{FF2B5EF4-FFF2-40B4-BE49-F238E27FC236}">
                  <a16:creationId xmlns:a16="http://schemas.microsoft.com/office/drawing/2014/main" id="{7B05FBCE-7D5D-A546-EFD4-A6C754E50481}"/>
                </a:ext>
              </a:extLst>
            </p:cNvPr>
            <p:cNvSpPr txBox="1"/>
            <p:nvPr/>
          </p:nvSpPr>
          <p:spPr>
            <a:xfrm>
              <a:off x="5046279" y="1917771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</a:t>
              </a:r>
            </a:p>
          </p:txBody>
        </p:sp>
        <p:sp>
          <p:nvSpPr>
            <p:cNvPr id="1122" name="TextBox 1121">
              <a:extLst>
                <a:ext uri="{FF2B5EF4-FFF2-40B4-BE49-F238E27FC236}">
                  <a16:creationId xmlns:a16="http://schemas.microsoft.com/office/drawing/2014/main" id="{221CB997-C6DF-055A-6A41-4704190935F2}"/>
                </a:ext>
              </a:extLst>
            </p:cNvPr>
            <p:cNvSpPr txBox="1"/>
            <p:nvPr/>
          </p:nvSpPr>
          <p:spPr>
            <a:xfrm>
              <a:off x="5049426" y="4570898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1123" name="TextBox 1122">
              <a:extLst>
                <a:ext uri="{FF2B5EF4-FFF2-40B4-BE49-F238E27FC236}">
                  <a16:creationId xmlns:a16="http://schemas.microsoft.com/office/drawing/2014/main" id="{64A6E42F-42E7-8E75-C3A5-AF50BD1B8A75}"/>
                </a:ext>
              </a:extLst>
            </p:cNvPr>
            <p:cNvSpPr txBox="1"/>
            <p:nvPr/>
          </p:nvSpPr>
          <p:spPr>
            <a:xfrm>
              <a:off x="5036027" y="5344308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</a:t>
              </a:r>
            </a:p>
          </p:txBody>
        </p:sp>
        <p:sp>
          <p:nvSpPr>
            <p:cNvPr id="1124" name="TextBox 1123">
              <a:extLst>
                <a:ext uri="{FF2B5EF4-FFF2-40B4-BE49-F238E27FC236}">
                  <a16:creationId xmlns:a16="http://schemas.microsoft.com/office/drawing/2014/main" id="{328BD43A-128F-C8A0-37F0-17DFC0BBEECA}"/>
                </a:ext>
              </a:extLst>
            </p:cNvPr>
            <p:cNvSpPr txBox="1"/>
            <p:nvPr/>
          </p:nvSpPr>
          <p:spPr>
            <a:xfrm>
              <a:off x="6768489" y="1693112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1125" name="TextBox 1124">
              <a:extLst>
                <a:ext uri="{FF2B5EF4-FFF2-40B4-BE49-F238E27FC236}">
                  <a16:creationId xmlns:a16="http://schemas.microsoft.com/office/drawing/2014/main" id="{FAC88A37-7BF7-E278-A4D4-57A15FBB0069}"/>
                </a:ext>
              </a:extLst>
            </p:cNvPr>
            <p:cNvSpPr txBox="1"/>
            <p:nvPr/>
          </p:nvSpPr>
          <p:spPr>
            <a:xfrm>
              <a:off x="6755090" y="2466522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</a:t>
              </a:r>
            </a:p>
          </p:txBody>
        </p:sp>
        <p:sp>
          <p:nvSpPr>
            <p:cNvPr id="1126" name="TextBox 1125">
              <a:extLst>
                <a:ext uri="{FF2B5EF4-FFF2-40B4-BE49-F238E27FC236}">
                  <a16:creationId xmlns:a16="http://schemas.microsoft.com/office/drawing/2014/main" id="{A463194D-E224-C2DA-1DA0-E5F6B8ABBCBE}"/>
                </a:ext>
              </a:extLst>
            </p:cNvPr>
            <p:cNvSpPr txBox="1"/>
            <p:nvPr/>
          </p:nvSpPr>
          <p:spPr>
            <a:xfrm>
              <a:off x="6768489" y="4003868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1127" name="TextBox 1126">
              <a:extLst>
                <a:ext uri="{FF2B5EF4-FFF2-40B4-BE49-F238E27FC236}">
                  <a16:creationId xmlns:a16="http://schemas.microsoft.com/office/drawing/2014/main" id="{D6C39765-1ADA-BD93-D435-EE9961A2E574}"/>
                </a:ext>
              </a:extLst>
            </p:cNvPr>
            <p:cNvSpPr txBox="1"/>
            <p:nvPr/>
          </p:nvSpPr>
          <p:spPr>
            <a:xfrm>
              <a:off x="6755090" y="4777278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</a:t>
              </a:r>
            </a:p>
          </p:txBody>
        </p:sp>
        <p:sp>
          <p:nvSpPr>
            <p:cNvPr id="1128" name="TextBox 1127">
              <a:extLst>
                <a:ext uri="{FF2B5EF4-FFF2-40B4-BE49-F238E27FC236}">
                  <a16:creationId xmlns:a16="http://schemas.microsoft.com/office/drawing/2014/main" id="{30C91623-6ACD-F38F-057B-CAE10A583CB0}"/>
                </a:ext>
              </a:extLst>
            </p:cNvPr>
            <p:cNvSpPr txBox="1"/>
            <p:nvPr/>
          </p:nvSpPr>
          <p:spPr>
            <a:xfrm>
              <a:off x="10870605" y="2466522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1129" name="TextBox 1128">
              <a:extLst>
                <a:ext uri="{FF2B5EF4-FFF2-40B4-BE49-F238E27FC236}">
                  <a16:creationId xmlns:a16="http://schemas.microsoft.com/office/drawing/2014/main" id="{8F5C653C-45E3-1BAF-ADFA-212D3B740A59}"/>
                </a:ext>
              </a:extLst>
            </p:cNvPr>
            <p:cNvSpPr txBox="1"/>
            <p:nvPr/>
          </p:nvSpPr>
          <p:spPr>
            <a:xfrm>
              <a:off x="10857206" y="4058074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0082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C536D31-D224-9EB9-AC79-16490177FCCC}"/>
              </a:ext>
            </a:extLst>
          </p:cNvPr>
          <p:cNvGrpSpPr/>
          <p:nvPr/>
        </p:nvGrpSpPr>
        <p:grpSpPr>
          <a:xfrm>
            <a:off x="2539049" y="1316821"/>
            <a:ext cx="8338336" cy="3695154"/>
            <a:chOff x="606881" y="1379622"/>
            <a:chExt cx="10672701" cy="4729633"/>
          </a:xfrm>
        </p:grpSpPr>
        <p:pic>
          <p:nvPicPr>
            <p:cNvPr id="7" name="Picture 6" descr="A graph of different colored lines&#10;&#10;AI-generated content may be incorrect.">
              <a:extLst>
                <a:ext uri="{FF2B5EF4-FFF2-40B4-BE49-F238E27FC236}">
                  <a16:creationId xmlns:a16="http://schemas.microsoft.com/office/drawing/2014/main" id="{A10BDA37-34E6-6FBA-C991-849AE6333B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6881" y="1379622"/>
              <a:ext cx="5916219" cy="4729633"/>
            </a:xfrm>
            <a:prstGeom prst="rect">
              <a:avLst/>
            </a:prstGeom>
          </p:spPr>
        </p:pic>
        <p:pic>
          <p:nvPicPr>
            <p:cNvPr id="5" name="Picture 4" descr="A graph of age-related events&#10;&#10;AI-generated content may be incorrect.">
              <a:extLst>
                <a:ext uri="{FF2B5EF4-FFF2-40B4-BE49-F238E27FC236}">
                  <a16:creationId xmlns:a16="http://schemas.microsoft.com/office/drawing/2014/main" id="{FA5E2F83-0E51-41F2-80A1-B78988858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63363" y="1379622"/>
              <a:ext cx="5916219" cy="47296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78317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59AB9-D41E-DD5E-2E49-19D38004A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013385E-C070-DC86-9C10-20EA98250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186" y="401161"/>
            <a:ext cx="5915717" cy="5308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514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2716</TotalTime>
  <Words>554</Words>
  <Application>Microsoft Macintosh PowerPoint</Application>
  <PresentationFormat>Widescreen</PresentationFormat>
  <Paragraphs>162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 Yichen</dc:creator>
  <cp:lastModifiedBy>He Yichen</cp:lastModifiedBy>
  <cp:revision>41</cp:revision>
  <dcterms:created xsi:type="dcterms:W3CDTF">2026-04-14T05:33:56Z</dcterms:created>
  <dcterms:modified xsi:type="dcterms:W3CDTF">2026-08-28T08:22:39Z</dcterms:modified>
</cp:coreProperties>
</file>